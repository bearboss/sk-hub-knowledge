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5964"/>
    <a:srgbClr val="05CFD9"/>
    <a:srgbClr val="1A1A1A"/>
    <a:srgbClr val="20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7" autoAdjust="0"/>
    <p:restoredTop sz="86483" autoAdjust="0"/>
  </p:normalViewPr>
  <p:slideViewPr>
    <p:cSldViewPr snapToGrid="0" showGuides="1">
      <p:cViewPr varScale="1">
        <p:scale>
          <a:sx n="75" d="100"/>
          <a:sy n="75" d="100"/>
        </p:scale>
        <p:origin x="58" y="557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6350" y="0"/>
            <a:ext cx="12192000" cy="6858000"/>
            <a:chOff x="0" y="0"/>
            <a:chExt cx="12192000" cy="6858000"/>
          </a:xfrm>
        </p:grpSpPr>
        <p:sp>
          <p:nvSpPr>
            <p:cNvPr id="3" name="任意多边形: 形状 2"/>
            <p:cNvSpPr/>
            <p:nvPr/>
          </p:nvSpPr>
          <p:spPr>
            <a:xfrm flipH="1"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 t="-1" b="-13122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 flipH="1"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37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60399" y="844550"/>
              <a:ext cx="690564" cy="184150"/>
              <a:chOff x="5750718" y="3336925"/>
              <a:chExt cx="690563" cy="184150"/>
            </a:xfrm>
          </p:grpSpPr>
          <p:sp>
            <p:nvSpPr>
              <p:cNvPr id="10" name="任意多边形: 形状 9"/>
              <p:cNvSpPr>
                <a:spLocks/>
              </p:cNvSpPr>
              <p:nvPr/>
            </p:nvSpPr>
            <p:spPr>
              <a:xfrm>
                <a:off x="6257131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1" name="任意多边形: 形状 10"/>
              <p:cNvSpPr>
                <a:spLocks/>
              </p:cNvSpPr>
              <p:nvPr/>
            </p:nvSpPr>
            <p:spPr>
              <a:xfrm>
                <a:off x="6003924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2" name="任意多边形: 形状 11"/>
              <p:cNvSpPr>
                <a:spLocks/>
              </p:cNvSpPr>
              <p:nvPr/>
            </p:nvSpPr>
            <p:spPr>
              <a:xfrm>
                <a:off x="5750718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1612900" y="1130302"/>
            <a:ext cx="8953500" cy="1874156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3548063" y="3189514"/>
            <a:ext cx="5083175" cy="66402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en-US" sz="20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202906" y="4577103"/>
            <a:ext cx="3773488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202906" y="4226908"/>
            <a:ext cx="3773488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grpSp>
          <p:nvGrpSpPr>
            <p:cNvPr id="24" name="组合 23"/>
            <p:cNvGrpSpPr/>
            <p:nvPr/>
          </p:nvGrpSpPr>
          <p:grpSpPr>
            <a:xfrm>
              <a:off x="9178870" y="5968353"/>
              <a:ext cx="3013130" cy="889647"/>
              <a:chOff x="9178870" y="5968353"/>
              <a:chExt cx="3013130" cy="889647"/>
            </a:xfrm>
          </p:grpSpPr>
          <p:sp>
            <p:nvSpPr>
              <p:cNvPr id="19" name="任意多边形: 形状 18"/>
              <p:cNvSpPr/>
              <p:nvPr/>
            </p:nvSpPr>
            <p:spPr>
              <a:xfrm>
                <a:off x="9178870" y="6409690"/>
                <a:ext cx="3013130" cy="448310"/>
              </a:xfrm>
              <a:custGeom>
                <a:avLst/>
                <a:gdLst>
                  <a:gd name="connsiteX0" fmla="*/ 224155 w 3013130"/>
                  <a:gd name="connsiteY0" fmla="*/ 0 h 448310"/>
                  <a:gd name="connsiteX1" fmla="*/ 3013130 w 3013130"/>
                  <a:gd name="connsiteY1" fmla="*/ 0 h 448310"/>
                  <a:gd name="connsiteX2" fmla="*/ 3013130 w 3013130"/>
                  <a:gd name="connsiteY2" fmla="*/ 448310 h 448310"/>
                  <a:gd name="connsiteX3" fmla="*/ 0 w 3013130"/>
                  <a:gd name="connsiteY3" fmla="*/ 448310 h 448310"/>
                  <a:gd name="connsiteX4" fmla="*/ 0 w 3013130"/>
                  <a:gd name="connsiteY4" fmla="*/ 224155 h 448310"/>
                  <a:gd name="connsiteX5" fmla="*/ 224155 w 3013130"/>
                  <a:gd name="connsiteY5" fmla="*/ 0 h 448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13130" h="448310">
                    <a:moveTo>
                      <a:pt x="224155" y="0"/>
                    </a:moveTo>
                    <a:lnTo>
                      <a:pt x="3013130" y="0"/>
                    </a:lnTo>
                    <a:lnTo>
                      <a:pt x="3013130" y="448310"/>
                    </a:lnTo>
                    <a:lnTo>
                      <a:pt x="0" y="448310"/>
                    </a:lnTo>
                    <a:lnTo>
                      <a:pt x="0" y="224155"/>
                    </a:lnTo>
                    <a:cubicBezTo>
                      <a:pt x="0" y="100358"/>
                      <a:pt x="100358" y="0"/>
                      <a:pt x="224155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alpha val="20000"/>
                    </a:schemeClr>
                  </a:gs>
                  <a:gs pos="100000">
                    <a:schemeClr val="accent1">
                      <a:alpha val="50000"/>
                    </a:schemeClr>
                  </a:gs>
                </a:gsLst>
                <a:lin ang="0" scaled="1"/>
                <a:tileRect/>
              </a:gradFill>
              <a:ln w="2193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10991718" y="6134100"/>
                <a:ext cx="1200282" cy="163470"/>
              </a:xfrm>
              <a:custGeom>
                <a:avLst/>
                <a:gdLst>
                  <a:gd name="connsiteX0" fmla="*/ 81735 w 1200282"/>
                  <a:gd name="connsiteY0" fmla="*/ 0 h 163470"/>
                  <a:gd name="connsiteX1" fmla="*/ 1200282 w 1200282"/>
                  <a:gd name="connsiteY1" fmla="*/ 0 h 163470"/>
                  <a:gd name="connsiteX2" fmla="*/ 1200282 w 1200282"/>
                  <a:gd name="connsiteY2" fmla="*/ 163470 h 163470"/>
                  <a:gd name="connsiteX3" fmla="*/ 0 w 1200282"/>
                  <a:gd name="connsiteY3" fmla="*/ 163470 h 163470"/>
                  <a:gd name="connsiteX4" fmla="*/ 0 w 1200282"/>
                  <a:gd name="connsiteY4" fmla="*/ 81735 h 163470"/>
                  <a:gd name="connsiteX5" fmla="*/ 81735 w 1200282"/>
                  <a:gd name="connsiteY5" fmla="*/ 0 h 163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0282" h="163470">
                    <a:moveTo>
                      <a:pt x="81735" y="0"/>
                    </a:moveTo>
                    <a:lnTo>
                      <a:pt x="1200282" y="0"/>
                    </a:lnTo>
                    <a:lnTo>
                      <a:pt x="1200282" y="163470"/>
                    </a:lnTo>
                    <a:lnTo>
                      <a:pt x="0" y="163470"/>
                    </a:lnTo>
                    <a:lnTo>
                      <a:pt x="0" y="81735"/>
                    </a:lnTo>
                    <a:cubicBezTo>
                      <a:pt x="0" y="36594"/>
                      <a:pt x="36594" y="0"/>
                      <a:pt x="8173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0000"/>
                    </a:schemeClr>
                  </a:gs>
                </a:gsLst>
                <a:lin ang="3000000" scaled="0"/>
              </a:gradFill>
              <a:ln w="2193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lvl="0"/>
                <a:endParaRPr lang="zh-CN" altLang="en-US" dirty="0"/>
              </a:p>
            </p:txBody>
          </p:sp>
          <p:sp>
            <p:nvSpPr>
              <p:cNvPr id="20" name="矩形: 对角圆角 19"/>
              <p:cNvSpPr/>
              <p:nvPr/>
            </p:nvSpPr>
            <p:spPr>
              <a:xfrm>
                <a:off x="10190030" y="5968353"/>
                <a:ext cx="2001970" cy="65736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0">
                    <a:schemeClr val="accent1">
                      <a:alpha val="42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3000000" scaled="0"/>
              </a:gradFill>
              <a:ln w="2193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lvl="0"/>
                <a:endParaRPr lang="zh-CN" altLang="en-US" dirty="0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0" y="-1"/>
              <a:ext cx="2882900" cy="929988"/>
              <a:chOff x="0" y="-1"/>
              <a:chExt cx="2882900" cy="929988"/>
            </a:xfrm>
          </p:grpSpPr>
          <p:sp>
            <p:nvSpPr>
              <p:cNvPr id="8" name="任意多边形: 形状 7"/>
              <p:cNvSpPr/>
              <p:nvPr/>
            </p:nvSpPr>
            <p:spPr>
              <a:xfrm>
                <a:off x="0" y="-1"/>
                <a:ext cx="2882900" cy="615474"/>
              </a:xfrm>
              <a:custGeom>
                <a:avLst/>
                <a:gdLst>
                  <a:gd name="connsiteX0" fmla="*/ 0 w 2882900"/>
                  <a:gd name="connsiteY0" fmla="*/ 0 h 615474"/>
                  <a:gd name="connsiteX1" fmla="*/ 2882900 w 2882900"/>
                  <a:gd name="connsiteY1" fmla="*/ 0 h 615474"/>
                  <a:gd name="connsiteX2" fmla="*/ 2882900 w 2882900"/>
                  <a:gd name="connsiteY2" fmla="*/ 307737 h 615474"/>
                  <a:gd name="connsiteX3" fmla="*/ 2575163 w 2882900"/>
                  <a:gd name="connsiteY3" fmla="*/ 615474 h 615474"/>
                  <a:gd name="connsiteX4" fmla="*/ 0 w 2882900"/>
                  <a:gd name="connsiteY4" fmla="*/ 615473 h 615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82900" h="615474">
                    <a:moveTo>
                      <a:pt x="0" y="0"/>
                    </a:moveTo>
                    <a:lnTo>
                      <a:pt x="2882900" y="0"/>
                    </a:lnTo>
                    <a:lnTo>
                      <a:pt x="2882900" y="307737"/>
                    </a:lnTo>
                    <a:cubicBezTo>
                      <a:pt x="2882900" y="477695"/>
                      <a:pt x="2745121" y="615474"/>
                      <a:pt x="2575163" y="615474"/>
                    </a:cubicBezTo>
                    <a:lnTo>
                      <a:pt x="0" y="615473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0000"/>
                    </a:schemeClr>
                  </a:gs>
                </a:gsLst>
                <a:lin ang="0" scaled="1"/>
                <a:tileRect/>
              </a:gradFill>
              <a:ln w="2193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0" y="655667"/>
                <a:ext cx="603381" cy="274320"/>
              </a:xfrm>
              <a:custGeom>
                <a:avLst/>
                <a:gdLst>
                  <a:gd name="connsiteX0" fmla="*/ 0 w 603381"/>
                  <a:gd name="connsiteY0" fmla="*/ 0 h 274320"/>
                  <a:gd name="connsiteX1" fmla="*/ 603381 w 603381"/>
                  <a:gd name="connsiteY1" fmla="*/ 0 h 274320"/>
                  <a:gd name="connsiteX2" fmla="*/ 603381 w 603381"/>
                  <a:gd name="connsiteY2" fmla="*/ 137160 h 274320"/>
                  <a:gd name="connsiteX3" fmla="*/ 466221 w 603381"/>
                  <a:gd name="connsiteY3" fmla="*/ 274320 h 274320"/>
                  <a:gd name="connsiteX4" fmla="*/ 0 w 603381"/>
                  <a:gd name="connsiteY4" fmla="*/ 27432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3381" h="274320">
                    <a:moveTo>
                      <a:pt x="0" y="0"/>
                    </a:moveTo>
                    <a:lnTo>
                      <a:pt x="603381" y="0"/>
                    </a:lnTo>
                    <a:lnTo>
                      <a:pt x="603381" y="137160"/>
                    </a:lnTo>
                    <a:cubicBezTo>
                      <a:pt x="603381" y="212911"/>
                      <a:pt x="541972" y="274320"/>
                      <a:pt x="466221" y="274320"/>
                    </a:cubicBezTo>
                    <a:lnTo>
                      <a:pt x="0" y="27432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0000"/>
                    </a:schemeClr>
                  </a:gs>
                </a:gsLst>
                <a:lin ang="3000000" scaled="0"/>
              </a:gradFill>
              <a:ln w="2193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11" name="矩形: 对角圆角 10"/>
              <p:cNvSpPr/>
              <p:nvPr/>
            </p:nvSpPr>
            <p:spPr>
              <a:xfrm>
                <a:off x="660400" y="676136"/>
                <a:ext cx="1618911" cy="108824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0000"/>
                    </a:schemeClr>
                  </a:gs>
                </a:gsLst>
                <a:lin ang="3000000" scaled="0"/>
              </a:gradFill>
              <a:ln w="2193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lvl="0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446233"/>
            <a:ext cx="1911688" cy="1296056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2942678" y="1446234"/>
            <a:ext cx="8576222" cy="4186204"/>
          </a:xfrm>
        </p:spPr>
        <p:txBody>
          <a:bodyPr numCol="2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直接连接符 6"/>
          <p:cNvCxnSpPr>
            <a:cxnSpLocks/>
          </p:cNvCxnSpPr>
          <p:nvPr/>
        </p:nvCxnSpPr>
        <p:spPr>
          <a:xfrm>
            <a:off x="2757383" y="1446233"/>
            <a:ext cx="0" cy="4186204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2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任意多边形: 形状 9"/>
          <p:cNvSpPr>
            <a:spLocks noChangeAspect="1"/>
          </p:cNvSpPr>
          <p:nvPr/>
        </p:nvSpPr>
        <p:spPr bwMode="auto">
          <a:xfrm>
            <a:off x="1611070" y="4588223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2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6350" y="0"/>
            <a:ext cx="12192000" cy="6858000"/>
            <a:chOff x="0" y="0"/>
            <a:chExt cx="12192000" cy="6858000"/>
          </a:xfrm>
        </p:grpSpPr>
        <p:sp>
          <p:nvSpPr>
            <p:cNvPr id="3" name="任意多边形: 形状 2"/>
            <p:cNvSpPr/>
            <p:nvPr/>
          </p:nvSpPr>
          <p:spPr>
            <a:xfrm flipH="1"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 t="-1" b="-13122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 flipH="1"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13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660399" y="844550"/>
              <a:ext cx="690564" cy="184150"/>
              <a:chOff x="5750718" y="3336925"/>
              <a:chExt cx="690563" cy="184150"/>
            </a:xfrm>
          </p:grpSpPr>
          <p:sp>
            <p:nvSpPr>
              <p:cNvPr id="10" name="任意多边形: 形状 9"/>
              <p:cNvSpPr>
                <a:spLocks/>
              </p:cNvSpPr>
              <p:nvPr/>
            </p:nvSpPr>
            <p:spPr>
              <a:xfrm>
                <a:off x="6257131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1" name="任意多边形: 形状 10"/>
              <p:cNvSpPr>
                <a:spLocks/>
              </p:cNvSpPr>
              <p:nvPr/>
            </p:nvSpPr>
            <p:spPr>
              <a:xfrm>
                <a:off x="6003924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2" name="任意多边形: 形状 11"/>
              <p:cNvSpPr>
                <a:spLocks/>
              </p:cNvSpPr>
              <p:nvPr/>
            </p:nvSpPr>
            <p:spPr>
              <a:xfrm>
                <a:off x="5750718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156444" y="1287147"/>
            <a:ext cx="5866413" cy="15621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3200"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3156444" y="2861100"/>
            <a:ext cx="5866413" cy="219794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2026/5/17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iSlide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6350" y="0"/>
            <a:ext cx="12192000" cy="6858000"/>
            <a:chOff x="0" y="0"/>
            <a:chExt cx="12192000" cy="6858000"/>
          </a:xfrm>
        </p:grpSpPr>
        <p:sp>
          <p:nvSpPr>
            <p:cNvPr id="6" name="任意多边形: 形状 5"/>
            <p:cNvSpPr/>
            <p:nvPr/>
          </p:nvSpPr>
          <p:spPr>
            <a:xfrm flipH="1"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 t="-1" b="-13122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 flipH="1"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37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660399" y="844550"/>
              <a:ext cx="690564" cy="184150"/>
              <a:chOff x="5750718" y="3336925"/>
              <a:chExt cx="690563" cy="184150"/>
            </a:xfrm>
          </p:grpSpPr>
          <p:sp>
            <p:nvSpPr>
              <p:cNvPr id="16" name="任意多边形: 形状 15"/>
              <p:cNvSpPr>
                <a:spLocks/>
              </p:cNvSpPr>
              <p:nvPr/>
            </p:nvSpPr>
            <p:spPr>
              <a:xfrm>
                <a:off x="6257131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9" name="任意多边形: 形状 18"/>
              <p:cNvSpPr>
                <a:spLocks/>
              </p:cNvSpPr>
              <p:nvPr/>
            </p:nvSpPr>
            <p:spPr>
              <a:xfrm>
                <a:off x="6003924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任意多边形: 形状 20"/>
              <p:cNvSpPr>
                <a:spLocks/>
              </p:cNvSpPr>
              <p:nvPr/>
            </p:nvSpPr>
            <p:spPr>
              <a:xfrm>
                <a:off x="5750718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262993" y="1092201"/>
            <a:ext cx="5653314" cy="2520642"/>
          </a:xfrm>
          <a:prstGeom prst="rect">
            <a:avLst/>
          </a:prstGeom>
        </p:spPr>
        <p:txBody>
          <a:bodyPr wrap="square" anchor="ctr">
            <a:normAutofit/>
          </a:bodyPr>
          <a:lstStyle>
            <a:lvl1pPr algn="ctr"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911600" y="3925495"/>
            <a:ext cx="435610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911600" y="4216987"/>
            <a:ext cx="435610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 Master">
    <p:bg>
      <p:bgPr>
        <a:gradFill>
          <a:gsLst>
            <a:gs pos="0">
              <a:schemeClr val="accent2">
                <a:lumMod val="50000"/>
              </a:schemeClr>
            </a:gs>
            <a:gs pos="100000">
              <a:schemeClr val="accent4">
                <a:lumMod val="5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组合 9"/>
          <p:cNvGrpSpPr/>
          <p:nvPr/>
        </p:nvGrpSpPr>
        <p:grpSpPr>
          <a:xfrm>
            <a:off x="84667" y="0"/>
            <a:ext cx="11993034" cy="6858000"/>
            <a:chOff x="84667" y="0"/>
            <a:chExt cx="11993034" cy="6858000"/>
          </a:xfrm>
        </p:grpSpPr>
        <p:grpSp>
          <p:nvGrpSpPr>
            <p:cNvPr id="12" name="组合 11"/>
            <p:cNvGrpSpPr/>
            <p:nvPr/>
          </p:nvGrpSpPr>
          <p:grpSpPr>
            <a:xfrm>
              <a:off x="84667" y="0"/>
              <a:ext cx="11371386" cy="6858000"/>
              <a:chOff x="0" y="0"/>
              <a:chExt cx="11371386" cy="6858000"/>
            </a:xfrm>
          </p:grpSpPr>
          <p:sp>
            <p:nvSpPr>
              <p:cNvPr id="14" name="任意多边形: 形状 13"/>
              <p:cNvSpPr/>
              <p:nvPr/>
            </p:nvSpPr>
            <p:spPr>
              <a:xfrm>
                <a:off x="11003738" y="0"/>
                <a:ext cx="367648" cy="893498"/>
              </a:xfrm>
              <a:custGeom>
                <a:avLst/>
                <a:gdLst>
                  <a:gd name="connsiteX0" fmla="*/ 0 w 367648"/>
                  <a:gd name="connsiteY0" fmla="*/ 0 h 893498"/>
                  <a:gd name="connsiteX1" fmla="*/ 367648 w 367648"/>
                  <a:gd name="connsiteY1" fmla="*/ 0 h 893498"/>
                  <a:gd name="connsiteX2" fmla="*/ 367647 w 367648"/>
                  <a:gd name="connsiteY2" fmla="*/ 709674 h 893498"/>
                  <a:gd name="connsiteX3" fmla="*/ 183823 w 367648"/>
                  <a:gd name="connsiteY3" fmla="*/ 893498 h 893498"/>
                  <a:gd name="connsiteX4" fmla="*/ 183824 w 367648"/>
                  <a:gd name="connsiteY4" fmla="*/ 893497 h 893498"/>
                  <a:gd name="connsiteX5" fmla="*/ 0 w 367648"/>
                  <a:gd name="connsiteY5" fmla="*/ 709673 h 89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7648" h="893498">
                    <a:moveTo>
                      <a:pt x="0" y="0"/>
                    </a:moveTo>
                    <a:lnTo>
                      <a:pt x="367648" y="0"/>
                    </a:lnTo>
                    <a:lnTo>
                      <a:pt x="367647" y="709674"/>
                    </a:lnTo>
                    <a:cubicBezTo>
                      <a:pt x="367647" y="811197"/>
                      <a:pt x="285346" y="893498"/>
                      <a:pt x="183823" y="893498"/>
                    </a:cubicBezTo>
                    <a:lnTo>
                      <a:pt x="183824" y="893497"/>
                    </a:lnTo>
                    <a:cubicBezTo>
                      <a:pt x="82301" y="893497"/>
                      <a:pt x="0" y="811196"/>
                      <a:pt x="0" y="70967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 flipV="1">
                <a:off x="423332" y="5628640"/>
                <a:ext cx="474134" cy="1229360"/>
              </a:xfrm>
              <a:custGeom>
                <a:avLst/>
                <a:gdLst>
                  <a:gd name="connsiteX0" fmla="*/ 237067 w 474134"/>
                  <a:gd name="connsiteY0" fmla="*/ 1229360 h 1229360"/>
                  <a:gd name="connsiteX1" fmla="*/ 474134 w 474134"/>
                  <a:gd name="connsiteY1" fmla="*/ 992293 h 1229360"/>
                  <a:gd name="connsiteX2" fmla="*/ 474134 w 474134"/>
                  <a:gd name="connsiteY2" fmla="*/ 0 h 1229360"/>
                  <a:gd name="connsiteX3" fmla="*/ 0 w 474134"/>
                  <a:gd name="connsiteY3" fmla="*/ 0 h 1229360"/>
                  <a:gd name="connsiteX4" fmla="*/ 0 w 474134"/>
                  <a:gd name="connsiteY4" fmla="*/ 992293 h 1229360"/>
                  <a:gd name="connsiteX5" fmla="*/ 237067 w 474134"/>
                  <a:gd name="connsiteY5" fmla="*/ 1229360 h 1229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4134" h="1229360">
                    <a:moveTo>
                      <a:pt x="237067" y="1229360"/>
                    </a:moveTo>
                    <a:cubicBezTo>
                      <a:pt x="367995" y="1229360"/>
                      <a:pt x="474134" y="1123221"/>
                      <a:pt x="474134" y="992293"/>
                    </a:cubicBezTo>
                    <a:lnTo>
                      <a:pt x="474134" y="0"/>
                    </a:lnTo>
                    <a:lnTo>
                      <a:pt x="0" y="0"/>
                    </a:lnTo>
                    <a:lnTo>
                      <a:pt x="0" y="992293"/>
                    </a:lnTo>
                    <a:cubicBezTo>
                      <a:pt x="0" y="1123221"/>
                      <a:pt x="106139" y="1229360"/>
                      <a:pt x="237067" y="122936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 flipV="1">
                <a:off x="0" y="6178972"/>
                <a:ext cx="367648" cy="679028"/>
              </a:xfrm>
              <a:custGeom>
                <a:avLst/>
                <a:gdLst>
                  <a:gd name="connsiteX0" fmla="*/ 183823 w 367648"/>
                  <a:gd name="connsiteY0" fmla="*/ 679028 h 679028"/>
                  <a:gd name="connsiteX1" fmla="*/ 367647 w 367648"/>
                  <a:gd name="connsiteY1" fmla="*/ 495204 h 679028"/>
                  <a:gd name="connsiteX2" fmla="*/ 367648 w 367648"/>
                  <a:gd name="connsiteY2" fmla="*/ 0 h 679028"/>
                  <a:gd name="connsiteX3" fmla="*/ 0 w 367648"/>
                  <a:gd name="connsiteY3" fmla="*/ 0 h 679028"/>
                  <a:gd name="connsiteX4" fmla="*/ 0 w 367648"/>
                  <a:gd name="connsiteY4" fmla="*/ 495203 h 679028"/>
                  <a:gd name="connsiteX5" fmla="*/ 183824 w 367648"/>
                  <a:gd name="connsiteY5" fmla="*/ 679027 h 679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7648" h="679028">
                    <a:moveTo>
                      <a:pt x="183823" y="679028"/>
                    </a:moveTo>
                    <a:cubicBezTo>
                      <a:pt x="285346" y="679028"/>
                      <a:pt x="367647" y="596727"/>
                      <a:pt x="367647" y="495204"/>
                    </a:cubicBezTo>
                    <a:lnTo>
                      <a:pt x="367648" y="0"/>
                    </a:lnTo>
                    <a:lnTo>
                      <a:pt x="0" y="0"/>
                    </a:lnTo>
                    <a:lnTo>
                      <a:pt x="0" y="495203"/>
                    </a:lnTo>
                    <a:cubicBezTo>
                      <a:pt x="0" y="596726"/>
                      <a:pt x="82301" y="679027"/>
                      <a:pt x="183824" y="67902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3" name="任意多边形: 形状 12"/>
            <p:cNvSpPr/>
            <p:nvPr/>
          </p:nvSpPr>
          <p:spPr>
            <a:xfrm>
              <a:off x="11603567" y="1"/>
              <a:ext cx="474134" cy="1359693"/>
            </a:xfrm>
            <a:custGeom>
              <a:avLst/>
              <a:gdLst>
                <a:gd name="connsiteX0" fmla="*/ 6998 w 474134"/>
                <a:gd name="connsiteY0" fmla="*/ 0 h 1359693"/>
                <a:gd name="connsiteX1" fmla="*/ 467136 w 474134"/>
                <a:gd name="connsiteY1" fmla="*/ 0 h 1359693"/>
                <a:gd name="connsiteX2" fmla="*/ 474134 w 474134"/>
                <a:gd name="connsiteY2" fmla="*/ 34660 h 1359693"/>
                <a:gd name="connsiteX3" fmla="*/ 474134 w 474134"/>
                <a:gd name="connsiteY3" fmla="*/ 1122626 h 1359693"/>
                <a:gd name="connsiteX4" fmla="*/ 237067 w 474134"/>
                <a:gd name="connsiteY4" fmla="*/ 1359693 h 1359693"/>
                <a:gd name="connsiteX5" fmla="*/ 0 w 474134"/>
                <a:gd name="connsiteY5" fmla="*/ 1122626 h 1359693"/>
                <a:gd name="connsiteX6" fmla="*/ 0 w 474134"/>
                <a:gd name="connsiteY6" fmla="*/ 34660 h 1359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4134" h="1359693">
                  <a:moveTo>
                    <a:pt x="6998" y="0"/>
                  </a:moveTo>
                  <a:lnTo>
                    <a:pt x="467136" y="0"/>
                  </a:lnTo>
                  <a:lnTo>
                    <a:pt x="474134" y="34660"/>
                  </a:lnTo>
                  <a:lnTo>
                    <a:pt x="474134" y="1122626"/>
                  </a:lnTo>
                  <a:cubicBezTo>
                    <a:pt x="474134" y="1253554"/>
                    <a:pt x="367995" y="1359693"/>
                    <a:pt x="237067" y="1359693"/>
                  </a:cubicBezTo>
                  <a:cubicBezTo>
                    <a:pt x="106139" y="1359693"/>
                    <a:pt x="0" y="1253554"/>
                    <a:pt x="0" y="1122626"/>
                  </a:cubicBezTo>
                  <a:lnTo>
                    <a:pt x="0" y="3466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8fdc325f-6311-4fe9-8ec4-6621f7c80576.source.6.zh-Hans.pptx">
            <a:extLst>
              <a:ext uri="{FF2B5EF4-FFF2-40B4-BE49-F238E27FC236}">
                <a16:creationId xmlns:a16="http://schemas.microsoft.com/office/drawing/2014/main" id="{E3EEABDA-D2E5-EEC2-C462-00DBD155F687}"/>
              </a:ext>
            </a:extLst>
          </p:cNvPr>
          <p:cNvGrpSpPr/>
          <p:nvPr/>
        </p:nvGrpSpPr>
        <p:grpSpPr>
          <a:xfrm>
            <a:off x="0" y="1130300"/>
            <a:ext cx="11607800" cy="5731933"/>
            <a:chOff x="0" y="1130300"/>
            <a:chExt cx="11607800" cy="5731933"/>
          </a:xfrm>
        </p:grpSpPr>
        <p:sp>
          <p:nvSpPr>
            <p:cNvPr id="12" name="C">
              <a:extLst>
                <a:ext uri="{FF2B5EF4-FFF2-40B4-BE49-F238E27FC236}">
                  <a16:creationId xmlns:a16="http://schemas.microsoft.com/office/drawing/2014/main" id="{C88DDE6A-B85C-7AB4-6F6B-A1291F674A9E}"/>
                </a:ext>
              </a:extLst>
            </p:cNvPr>
            <p:cNvSpPr/>
            <p:nvPr/>
          </p:nvSpPr>
          <p:spPr>
            <a:xfrm>
              <a:off x="1706879" y="3313647"/>
              <a:ext cx="9900921" cy="1432560"/>
            </a:xfrm>
            <a:prstGeom prst="rect">
              <a:avLst/>
            </a:prstGeom>
            <a:noFill/>
            <a:ln w="12700">
              <a:gradFill flip="none" rotWithShape="1">
                <a:gsLst>
                  <a:gs pos="25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0800000" scaled="1"/>
                <a:tileRect/>
              </a:gradFill>
              <a:round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" name="u">
              <a:extLst>
                <a:ext uri="{FF2B5EF4-FFF2-40B4-BE49-F238E27FC236}">
                  <a16:creationId xmlns:a16="http://schemas.microsoft.com/office/drawing/2014/main" id="{00AB894B-594F-9B28-036A-E7EEA50FB4C2}"/>
                </a:ext>
              </a:extLst>
            </p:cNvPr>
            <p:cNvSpPr/>
            <p:nvPr/>
          </p:nvSpPr>
          <p:spPr>
            <a:xfrm>
              <a:off x="2606042" y="1606550"/>
              <a:ext cx="958848" cy="5251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40" tIns="45720" rIns="91440" bIns="45720" anchor="ctr" anchorCtr="0">
              <a:normAutofit/>
            </a:bodyPr>
            <a:lstStyle/>
            <a:p>
              <a:endParaRPr lang="zh-CN" altLang="en-US" sz="24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3" name="PictureMisc1">
              <a:extLst>
                <a:ext uri="{FF2B5EF4-FFF2-40B4-BE49-F238E27FC236}">
                  <a16:creationId xmlns:a16="http://schemas.microsoft.com/office/drawing/2014/main" id="{6DDA905F-BB5E-35D7-FA00-14E21E663E43}"/>
                </a:ext>
              </a:extLst>
            </p:cNvPr>
            <p:cNvSpPr/>
            <p:nvPr/>
          </p:nvSpPr>
          <p:spPr>
            <a:xfrm>
              <a:off x="0" y="1130300"/>
              <a:ext cx="3337560" cy="5731933"/>
            </a:xfrm>
            <a:prstGeom prst="round1Rect">
              <a:avLst>
                <a:gd name="adj" fmla="val 0"/>
              </a:avLst>
            </a:prstGeom>
            <a:blipFill>
              <a:blip r:embed="rId3"/>
              <a:srcRect/>
              <a:stretch>
                <a:fillRect l="-103940" r="-10394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  <p:sp>
          <p:nvSpPr>
            <p:cNvPr id="4" name="Title">
              <a:extLst>
                <a:ext uri="{FF2B5EF4-FFF2-40B4-BE49-F238E27FC236}">
                  <a16:creationId xmlns:a16="http://schemas.microsoft.com/office/drawing/2014/main" id="{6FD4115A-65B6-64DE-D905-92FF4FE413F7}"/>
                </a:ext>
              </a:extLst>
            </p:cNvPr>
            <p:cNvSpPr txBox="1">
              <a:spLocks/>
            </p:cNvSpPr>
            <p:nvPr/>
          </p:nvSpPr>
          <p:spPr>
            <a:xfrm>
              <a:off x="3841750" y="1130300"/>
              <a:ext cx="7677150" cy="628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40" tIns="45720" rIns="91440" bIns="45720" anchor="ctr" anchorCtr="0">
              <a:normAutofit fontScale="92500" lnSpcReduction="20000"/>
            </a:bodyPr>
            <a:lstStyle>
              <a:defPPr>
                <a:defRPr lang="zh-CN"/>
              </a:defPPr>
              <a:lvl1pPr>
                <a:defRPr sz="2400" b="1">
                  <a:solidFill>
                    <a:srgbClr val="FFFFFF"/>
                  </a:solidFill>
                  <a:cs typeface="+mn-ea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sym typeface="+mn-lt"/>
                </a:rPr>
                <a:t>生产环境平均响应时间降低至≤120ms，P99延迟压降至≤350ms，全年系统可用率达99.99%</a:t>
              </a:r>
              <a:endParaRPr lang="en-US" dirty="0"/>
            </a:p>
          </p:txBody>
        </p: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05EA2708-719C-2D2A-8001-A6F699A6BA57}"/>
                </a:ext>
              </a:extLst>
            </p:cNvPr>
            <p:cNvGrpSpPr/>
            <p:nvPr/>
          </p:nvGrpSpPr>
          <p:grpSpPr>
            <a:xfrm>
              <a:off x="3841750" y="1925754"/>
              <a:ext cx="3708400" cy="1320366"/>
              <a:chOff x="3841750" y="1925754"/>
              <a:chExt cx="3708400" cy="1320366"/>
            </a:xfrm>
          </p:grpSpPr>
          <p:sp>
            <p:nvSpPr>
              <p:cNvPr id="13" name="Bullet1">
                <a:extLst>
                  <a:ext uri="{FF2B5EF4-FFF2-40B4-BE49-F238E27FC236}">
                    <a16:creationId xmlns:a16="http://schemas.microsoft.com/office/drawing/2014/main" id="{7F6339BC-2F5B-004D-62DD-23F3CC2DCF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1750" y="1925754"/>
                <a:ext cx="3708400" cy="3994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响应时间优化技术路径</a:t>
                </a:r>
                <a:endParaRPr lang="en-US" dirty="0"/>
              </a:p>
            </p:txBody>
          </p:sp>
          <p:sp>
            <p:nvSpPr>
              <p:cNvPr id="14" name="Text1">
                <a:extLst>
                  <a:ext uri="{FF2B5EF4-FFF2-40B4-BE49-F238E27FC236}">
                    <a16:creationId xmlns:a16="http://schemas.microsoft.com/office/drawing/2014/main" id="{B34630A7-BBBF-079F-0C16-6FD346E4E2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1750" y="2325244"/>
                <a:ext cx="3708400" cy="9208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lnSpcReduction="1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通过JVM调优、异步化改造与缓存策略升级，系统平均响应时间将从当前180ms降至≤120ms，重点优化高频核心接口的执行链路，确保用户操作流畅性与业务吞吐能力同步提升。</a:t>
                </a:r>
                <a:endParaRPr lang="en-US" dirty="0"/>
              </a:p>
            </p:txBody>
          </p:sp>
        </p:grp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7FAD6F47-AF7A-0ACC-9345-6B3810420255}"/>
                </a:ext>
              </a:extLst>
            </p:cNvPr>
            <p:cNvGrpSpPr/>
            <p:nvPr/>
          </p:nvGrpSpPr>
          <p:grpSpPr>
            <a:xfrm>
              <a:off x="3841750" y="3369744"/>
              <a:ext cx="3708400" cy="1320366"/>
              <a:chOff x="3841750" y="3369744"/>
              <a:chExt cx="3708400" cy="1320366"/>
            </a:xfrm>
          </p:grpSpPr>
          <p:sp>
            <p:nvSpPr>
              <p:cNvPr id="17" name="Bullet2">
                <a:extLst>
                  <a:ext uri="{FF2B5EF4-FFF2-40B4-BE49-F238E27FC236}">
                    <a16:creationId xmlns:a16="http://schemas.microsoft.com/office/drawing/2014/main" id="{0DAD9053-5B1C-DF39-5070-ED518EE16A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1750" y="3369744"/>
                <a:ext cx="3708400" cy="3994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P99延迟压降专项治理</a:t>
                </a:r>
                <a:endParaRPr lang="en-US" dirty="0"/>
              </a:p>
            </p:txBody>
          </p:sp>
          <p:sp>
            <p:nvSpPr>
              <p:cNvPr id="18" name="Text2">
                <a:extLst>
                  <a:ext uri="{FF2B5EF4-FFF2-40B4-BE49-F238E27FC236}">
                    <a16:creationId xmlns:a16="http://schemas.microsoft.com/office/drawing/2014/main" id="{9D103A98-C4E2-FE29-5062-9FEED080D5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1750" y="3769234"/>
                <a:ext cx="3708400" cy="9208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lnSpcReduction="1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针对长尾请求开展全链路诊断，识别慢SQL、线程阻塞与第三方依赖瓶颈，结合熔断降级、请求限流与资源隔离机制，将P99延迟稳定控制在≤350ms以内，显著改善极端场景下的用户体验。</a:t>
                </a:r>
                <a:endParaRPr lang="en-US" dirty="0"/>
              </a:p>
            </p:txBody>
          </p:sp>
        </p:grp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26524A58-AB46-C999-D3DF-97F8F4F82A73}"/>
                </a:ext>
              </a:extLst>
            </p:cNvPr>
            <p:cNvGrpSpPr/>
            <p:nvPr/>
          </p:nvGrpSpPr>
          <p:grpSpPr>
            <a:xfrm>
              <a:off x="3841750" y="4813734"/>
              <a:ext cx="3708400" cy="1320366"/>
              <a:chOff x="3841750" y="4813734"/>
              <a:chExt cx="3708400" cy="1320366"/>
            </a:xfrm>
          </p:grpSpPr>
          <p:sp>
            <p:nvSpPr>
              <p:cNvPr id="20" name="Bullet3">
                <a:extLst>
                  <a:ext uri="{FF2B5EF4-FFF2-40B4-BE49-F238E27FC236}">
                    <a16:creationId xmlns:a16="http://schemas.microsoft.com/office/drawing/2014/main" id="{849694B4-220C-740B-9B71-E052DD4242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1750" y="4813734"/>
                <a:ext cx="3708400" cy="3994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高可用架构加固方案</a:t>
                </a:r>
                <a:endParaRPr lang="en-US" dirty="0"/>
              </a:p>
            </p:txBody>
          </p:sp>
          <p:sp>
            <p:nvSpPr>
              <p:cNvPr id="21" name="Text3">
                <a:extLst>
                  <a:ext uri="{FF2B5EF4-FFF2-40B4-BE49-F238E27FC236}">
                    <a16:creationId xmlns:a16="http://schemas.microsoft.com/office/drawing/2014/main" id="{4A43BFCF-E58E-A525-011C-7BEC214F82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1750" y="5213224"/>
                <a:ext cx="3708400" cy="9208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lnSpcReduction="1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引入多活部署模式与智能流量调度，完善服务注册发现、健康检查与自动故障转移机制，消除单点故障风险，支撑全年系统可用率达成99.99%（即年停机时间≤52.6分钟）的严苛目标。</a:t>
                </a:r>
                <a:endParaRPr lang="en-US" dirty="0"/>
              </a:p>
            </p:txBody>
          </p:sp>
        </p:grp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5CA3DF25-D834-4B6A-10C7-5783F3EE477E}"/>
                </a:ext>
              </a:extLst>
            </p:cNvPr>
            <p:cNvGrpSpPr/>
            <p:nvPr/>
          </p:nvGrpSpPr>
          <p:grpSpPr>
            <a:xfrm>
              <a:off x="7810500" y="1925754"/>
              <a:ext cx="3708400" cy="1320366"/>
              <a:chOff x="7810500" y="1925754"/>
              <a:chExt cx="3708400" cy="1320366"/>
            </a:xfrm>
          </p:grpSpPr>
          <p:sp>
            <p:nvSpPr>
              <p:cNvPr id="26" name="Bullet4">
                <a:extLst>
                  <a:ext uri="{FF2B5EF4-FFF2-40B4-BE49-F238E27FC236}">
                    <a16:creationId xmlns:a16="http://schemas.microsoft.com/office/drawing/2014/main" id="{CAFD6D50-B56D-8CBE-F90C-8C545BD7D9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10500" y="1925754"/>
                <a:ext cx="3708400" cy="3994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全链路监控与根因分析体系</a:t>
                </a:r>
                <a:endParaRPr lang="en-US" dirty="0"/>
              </a:p>
            </p:txBody>
          </p:sp>
          <p:sp>
            <p:nvSpPr>
              <p:cNvPr id="27" name="Text4">
                <a:extLst>
                  <a:ext uri="{FF2B5EF4-FFF2-40B4-BE49-F238E27FC236}">
                    <a16:creationId xmlns:a16="http://schemas.microsoft.com/office/drawing/2014/main" id="{24026A35-E5EC-FA02-C12A-D6C0B5C6CF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10500" y="2325244"/>
                <a:ext cx="3708400" cy="9208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lnSpcReduction="1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构建覆盖应用、中间件、数据库及基础设施的立体化可观测平台，集成APM与日志追踪能力，实现性能问题秒级发现、分钟级定位与闭环处理，大幅提升稳定性运维效率。</a:t>
                </a:r>
                <a:endParaRPr lang="en-US" dirty="0"/>
              </a:p>
            </p:txBody>
          </p:sp>
        </p:grp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FA2FE14B-6531-75E4-6155-0DFEE1F35F74}"/>
                </a:ext>
              </a:extLst>
            </p:cNvPr>
            <p:cNvGrpSpPr/>
            <p:nvPr/>
          </p:nvGrpSpPr>
          <p:grpSpPr>
            <a:xfrm>
              <a:off x="7810500" y="3369744"/>
              <a:ext cx="3708400" cy="1320366"/>
              <a:chOff x="7810500" y="3369744"/>
              <a:chExt cx="3708400" cy="1320366"/>
            </a:xfrm>
          </p:grpSpPr>
          <p:sp>
            <p:nvSpPr>
              <p:cNvPr id="22" name="Bullet5">
                <a:extLst>
                  <a:ext uri="{FF2B5EF4-FFF2-40B4-BE49-F238E27FC236}">
                    <a16:creationId xmlns:a16="http://schemas.microsoft.com/office/drawing/2014/main" id="{E310718B-E0E9-F6C0-5242-1322788433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10500" y="3369744"/>
                <a:ext cx="3708400" cy="3994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容量规划与弹性伸缩机制</a:t>
                </a:r>
                <a:endParaRPr lang="en-US" dirty="0"/>
              </a:p>
            </p:txBody>
          </p:sp>
          <p:sp>
            <p:nvSpPr>
              <p:cNvPr id="25" name="Text5">
                <a:extLst>
                  <a:ext uri="{FF2B5EF4-FFF2-40B4-BE49-F238E27FC236}">
                    <a16:creationId xmlns:a16="http://schemas.microsoft.com/office/drawing/2014/main" id="{46F7B1F8-E55C-AA74-81EF-207B4A9DEF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10500" y="3769234"/>
                <a:ext cx="3708400" cy="9208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lnSpcReduction="1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基于历史流量模型与业务增长预测，建立动态容量评估模型，联动Kubernetes HPA与云资源API，实现CPU、内存及QPS驱动的自动扩缩容，保障大促与突发流量下的系统稳态运行。</a:t>
                </a:r>
                <a:endParaRPr lang="en-US" dirty="0"/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DC6AE4CF-334A-5DD9-8EAA-03246BB7D2D7}"/>
                </a:ext>
              </a:extLst>
            </p:cNvPr>
            <p:cNvGrpSpPr/>
            <p:nvPr/>
          </p:nvGrpSpPr>
          <p:grpSpPr>
            <a:xfrm>
              <a:off x="7810500" y="4813734"/>
              <a:ext cx="3708400" cy="1320366"/>
              <a:chOff x="7810500" y="4813734"/>
              <a:chExt cx="3708400" cy="1320366"/>
            </a:xfrm>
          </p:grpSpPr>
          <p:sp>
            <p:nvSpPr>
              <p:cNvPr id="16" name="Bullet6">
                <a:extLst>
                  <a:ext uri="{FF2B5EF4-FFF2-40B4-BE49-F238E27FC236}">
                    <a16:creationId xmlns:a16="http://schemas.microsoft.com/office/drawing/2014/main" id="{1F90E31B-49A5-DB96-97C7-F72DA2D09A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10500" y="4813734"/>
                <a:ext cx="3708400" cy="3994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稳定性文化与长效机制建设</a:t>
                </a:r>
                <a:endParaRPr lang="en-US" dirty="0"/>
              </a:p>
            </p:txBody>
          </p:sp>
          <p:sp>
            <p:nvSpPr>
              <p:cNvPr id="19" name="Text6">
                <a:extLst>
                  <a:ext uri="{FF2B5EF4-FFF2-40B4-BE49-F238E27FC236}">
                    <a16:creationId xmlns:a16="http://schemas.microsoft.com/office/drawing/2014/main" id="{E57A84D6-219F-FF2D-9D4D-03DC28593A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10500" y="5213224"/>
                <a:ext cx="3708400" cy="9208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lnSpcReduction="10000"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推行混沌工程常态化演练、上线前性能准入评审及SLO驱动的故障复盘机制，推动研发、测试与运维协同共建稳定性责任体系，将性能与稳定性指标深度融入各环节质量门禁。</a:t>
                </a:r>
                <a:endParaRPr 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系统性能与稳定性提升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GC" val="{&quot;Label&quot;:&quot;1&quot;,&quot;ContentProducer&quot;:&quot;\u6210\u90fd\u827e\u65af\u83b1\u5fb7\u7f51\u7edc\u79d1\u6280\u6709\u9650\u516c\u53f8&quot;,&quot;ProduceID&quot;:&quot;310912e67e3264f5c14ebbfd45d660b5&quot;,&quot;ReservedCode1&quot;:&quot;b8ec1b6e78df0ddb554da3e92d701b64bfd1c1eff7e3af7d4b57b57aa4937aed&quot;,&quot;ContentPropagator&quot;:&quot;\u6210\u90fd\u827e\u65af\u83b1\u5fb7\u7f51\u7edc\u79d1\u6280\u6709\u9650\u516c\u53f8&quot;,&quot;PropagateID&quot;:&quot;310912e67e3264f5c14ebbfd45d660b5&quot;,&quot;ReservedCode2&quot;:&quot;b8ec1b6e78df0ddb554da3e92d701b64bfd1c1eff7e3af7d4b57b57aa4937aed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8fdc325f-6311-4fe9-8ec4-6621f7c80576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ED3EB"/>
      </a:accent1>
      <a:accent2>
        <a:srgbClr val="2590FF"/>
      </a:accent2>
      <a:accent3>
        <a:srgbClr val="0BB5FB"/>
      </a:accent3>
      <a:accent4>
        <a:srgbClr val="4D3CFD"/>
      </a:accent4>
      <a:accent5>
        <a:srgbClr val="F8B613"/>
      </a:accent5>
      <a:accent6>
        <a:srgbClr val="D9D9D9"/>
      </a:accent6>
      <a:hlink>
        <a:srgbClr val="F84D4D"/>
      </a:hlink>
      <a:folHlink>
        <a:srgbClr val="BFBFBF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283</TotalTime>
  <Words>358</Words>
  <Application>Microsoft Office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Designed by iSlide</vt:lpstr>
      <vt:lpstr>系统性能与稳定性提升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iSlide</dc:creator>
  <cp:lastModifiedBy>qq472488056@outlook.com</cp:lastModifiedBy>
  <cp:revision>8</cp:revision>
  <cp:lastPrinted>2025-03-03T16:00:00Z</cp:lastPrinted>
  <dcterms:created xsi:type="dcterms:W3CDTF">2025-03-03T16:00:00Z</dcterms:created>
  <dcterms:modified xsi:type="dcterms:W3CDTF">2026-05-16T16:22:44Z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dc5d6ea6-6469-48ce-951b-19e727565f4e</vt:lpwstr>
  </property>
</Properties>
</file>