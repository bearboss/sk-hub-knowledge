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5" r:id="rId3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964"/>
    <a:srgbClr val="05CFD9"/>
    <a:srgbClr val="1A1A1A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86483" autoAdjust="0"/>
  </p:normalViewPr>
  <p:slideViewPr>
    <p:cSldViewPr snapToGrid="0" showGuides="1">
      <p:cViewPr varScale="1">
        <p:scale>
          <a:sx n="75" d="100"/>
          <a:sy n="75" d="100"/>
        </p:scale>
        <p:origin x="58" y="557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0" name="任意多边形: 形状 9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1612900" y="1130302"/>
            <a:ext cx="8953500" cy="187415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3548063" y="3189514"/>
            <a:ext cx="5083175" cy="6640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906" y="4577103"/>
            <a:ext cx="37734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202906" y="4226908"/>
            <a:ext cx="37734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4" name="组合 23"/>
            <p:cNvGrpSpPr/>
            <p:nvPr/>
          </p:nvGrpSpPr>
          <p:grpSpPr>
            <a:xfrm>
              <a:off x="9178870" y="5968353"/>
              <a:ext cx="3013130" cy="889647"/>
              <a:chOff x="9178870" y="5968353"/>
              <a:chExt cx="3013130" cy="889647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9178870" y="6409690"/>
                <a:ext cx="3013130" cy="448310"/>
              </a:xfrm>
              <a:custGeom>
                <a:avLst/>
                <a:gdLst>
                  <a:gd name="connsiteX0" fmla="*/ 224155 w 3013130"/>
                  <a:gd name="connsiteY0" fmla="*/ 0 h 448310"/>
                  <a:gd name="connsiteX1" fmla="*/ 3013130 w 3013130"/>
                  <a:gd name="connsiteY1" fmla="*/ 0 h 448310"/>
                  <a:gd name="connsiteX2" fmla="*/ 3013130 w 3013130"/>
                  <a:gd name="connsiteY2" fmla="*/ 448310 h 448310"/>
                  <a:gd name="connsiteX3" fmla="*/ 0 w 3013130"/>
                  <a:gd name="connsiteY3" fmla="*/ 448310 h 448310"/>
                  <a:gd name="connsiteX4" fmla="*/ 0 w 3013130"/>
                  <a:gd name="connsiteY4" fmla="*/ 224155 h 448310"/>
                  <a:gd name="connsiteX5" fmla="*/ 224155 w 3013130"/>
                  <a:gd name="connsiteY5" fmla="*/ 0 h 44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13130" h="448310">
                    <a:moveTo>
                      <a:pt x="224155" y="0"/>
                    </a:moveTo>
                    <a:lnTo>
                      <a:pt x="3013130" y="0"/>
                    </a:lnTo>
                    <a:lnTo>
                      <a:pt x="3013130" y="448310"/>
                    </a:lnTo>
                    <a:lnTo>
                      <a:pt x="0" y="448310"/>
                    </a:lnTo>
                    <a:lnTo>
                      <a:pt x="0" y="224155"/>
                    </a:lnTo>
                    <a:cubicBezTo>
                      <a:pt x="0" y="100358"/>
                      <a:pt x="100358" y="0"/>
                      <a:pt x="22415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  <a:tileRect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10991718" y="6134100"/>
                <a:ext cx="1200282" cy="163470"/>
              </a:xfrm>
              <a:custGeom>
                <a:avLst/>
                <a:gdLst>
                  <a:gd name="connsiteX0" fmla="*/ 81735 w 1200282"/>
                  <a:gd name="connsiteY0" fmla="*/ 0 h 163470"/>
                  <a:gd name="connsiteX1" fmla="*/ 1200282 w 1200282"/>
                  <a:gd name="connsiteY1" fmla="*/ 0 h 163470"/>
                  <a:gd name="connsiteX2" fmla="*/ 1200282 w 1200282"/>
                  <a:gd name="connsiteY2" fmla="*/ 163470 h 163470"/>
                  <a:gd name="connsiteX3" fmla="*/ 0 w 1200282"/>
                  <a:gd name="connsiteY3" fmla="*/ 163470 h 163470"/>
                  <a:gd name="connsiteX4" fmla="*/ 0 w 1200282"/>
                  <a:gd name="connsiteY4" fmla="*/ 81735 h 163470"/>
                  <a:gd name="connsiteX5" fmla="*/ 81735 w 1200282"/>
                  <a:gd name="connsiteY5" fmla="*/ 0 h 16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0282" h="163470">
                    <a:moveTo>
                      <a:pt x="81735" y="0"/>
                    </a:moveTo>
                    <a:lnTo>
                      <a:pt x="1200282" y="0"/>
                    </a:lnTo>
                    <a:lnTo>
                      <a:pt x="1200282" y="163470"/>
                    </a:lnTo>
                    <a:lnTo>
                      <a:pt x="0" y="163470"/>
                    </a:lnTo>
                    <a:lnTo>
                      <a:pt x="0" y="81735"/>
                    </a:lnTo>
                    <a:cubicBezTo>
                      <a:pt x="0" y="36594"/>
                      <a:pt x="36594" y="0"/>
                      <a:pt x="8173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 dirty="0"/>
              </a:p>
            </p:txBody>
          </p:sp>
          <p:sp>
            <p:nvSpPr>
              <p:cNvPr id="20" name="矩形: 对角圆角 19"/>
              <p:cNvSpPr/>
              <p:nvPr/>
            </p:nvSpPr>
            <p:spPr>
              <a:xfrm>
                <a:off x="10190030" y="5968353"/>
                <a:ext cx="2001970" cy="65736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chemeClr val="accent1">
                      <a:alpha val="42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 dirty="0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0" y="-1"/>
              <a:ext cx="2882900" cy="929988"/>
              <a:chOff x="0" y="-1"/>
              <a:chExt cx="2882900" cy="929988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0" y="-1"/>
                <a:ext cx="2882900" cy="615474"/>
              </a:xfrm>
              <a:custGeom>
                <a:avLst/>
                <a:gdLst>
                  <a:gd name="connsiteX0" fmla="*/ 0 w 2882900"/>
                  <a:gd name="connsiteY0" fmla="*/ 0 h 615474"/>
                  <a:gd name="connsiteX1" fmla="*/ 2882900 w 2882900"/>
                  <a:gd name="connsiteY1" fmla="*/ 0 h 615474"/>
                  <a:gd name="connsiteX2" fmla="*/ 2882900 w 2882900"/>
                  <a:gd name="connsiteY2" fmla="*/ 307737 h 615474"/>
                  <a:gd name="connsiteX3" fmla="*/ 2575163 w 2882900"/>
                  <a:gd name="connsiteY3" fmla="*/ 615474 h 615474"/>
                  <a:gd name="connsiteX4" fmla="*/ 0 w 2882900"/>
                  <a:gd name="connsiteY4" fmla="*/ 615473 h 615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82900" h="615474">
                    <a:moveTo>
                      <a:pt x="0" y="0"/>
                    </a:moveTo>
                    <a:lnTo>
                      <a:pt x="2882900" y="0"/>
                    </a:lnTo>
                    <a:lnTo>
                      <a:pt x="2882900" y="307737"/>
                    </a:lnTo>
                    <a:cubicBezTo>
                      <a:pt x="2882900" y="477695"/>
                      <a:pt x="2745121" y="615474"/>
                      <a:pt x="2575163" y="615474"/>
                    </a:cubicBezTo>
                    <a:lnTo>
                      <a:pt x="0" y="615473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0" scaled="1"/>
                <a:tileRect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0" y="655667"/>
                <a:ext cx="603381" cy="274320"/>
              </a:xfrm>
              <a:custGeom>
                <a:avLst/>
                <a:gdLst>
                  <a:gd name="connsiteX0" fmla="*/ 0 w 603381"/>
                  <a:gd name="connsiteY0" fmla="*/ 0 h 274320"/>
                  <a:gd name="connsiteX1" fmla="*/ 603381 w 603381"/>
                  <a:gd name="connsiteY1" fmla="*/ 0 h 274320"/>
                  <a:gd name="connsiteX2" fmla="*/ 603381 w 603381"/>
                  <a:gd name="connsiteY2" fmla="*/ 137160 h 274320"/>
                  <a:gd name="connsiteX3" fmla="*/ 466221 w 603381"/>
                  <a:gd name="connsiteY3" fmla="*/ 274320 h 274320"/>
                  <a:gd name="connsiteX4" fmla="*/ 0 w 603381"/>
                  <a:gd name="connsiteY4" fmla="*/ 27432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381" h="274320">
                    <a:moveTo>
                      <a:pt x="0" y="0"/>
                    </a:moveTo>
                    <a:lnTo>
                      <a:pt x="603381" y="0"/>
                    </a:lnTo>
                    <a:lnTo>
                      <a:pt x="603381" y="137160"/>
                    </a:lnTo>
                    <a:cubicBezTo>
                      <a:pt x="603381" y="212911"/>
                      <a:pt x="541972" y="274320"/>
                      <a:pt x="466221" y="274320"/>
                    </a:cubicBezTo>
                    <a:lnTo>
                      <a:pt x="0" y="27432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矩形: 对角圆角 10"/>
              <p:cNvSpPr/>
              <p:nvPr/>
            </p:nvSpPr>
            <p:spPr>
              <a:xfrm>
                <a:off x="660400" y="676136"/>
                <a:ext cx="1618911" cy="108824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3000000" scaled="0"/>
              </a:gradFill>
              <a:ln w="2193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lvl="0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446233"/>
            <a:ext cx="1911688" cy="1296056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42678" y="1446234"/>
            <a:ext cx="8576222" cy="4186204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任意多边形: 形状 9"/>
          <p:cNvSpPr>
            <a:spLocks noChangeAspect="1"/>
          </p:cNvSpPr>
          <p:nvPr/>
        </p:nvSpPr>
        <p:spPr bwMode="auto">
          <a:xfrm>
            <a:off x="1611070" y="4588223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3" name="任意多边形: 形状 2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13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0" name="任意多边形: 形状 9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1" name="任意多边形: 形状 10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156444" y="1287147"/>
            <a:ext cx="5866413" cy="15621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3156444" y="2861100"/>
            <a:ext cx="5866413" cy="219794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2026/5/17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6350" y="0"/>
            <a:ext cx="12192000" cy="6858000"/>
            <a:chOff x="0" y="0"/>
            <a:chExt cx="12192000" cy="6858000"/>
          </a:xfrm>
        </p:grpSpPr>
        <p:sp>
          <p:nvSpPr>
            <p:cNvPr id="6" name="任意多边形: 形状 5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 t="-1" b="-131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flipH="1"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37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60399" y="844550"/>
              <a:ext cx="690564" cy="184150"/>
              <a:chOff x="5750718" y="3336925"/>
              <a:chExt cx="690563" cy="184150"/>
            </a:xfrm>
          </p:grpSpPr>
          <p:sp>
            <p:nvSpPr>
              <p:cNvPr id="16" name="任意多边形: 形状 15"/>
              <p:cNvSpPr>
                <a:spLocks/>
              </p:cNvSpPr>
              <p:nvPr/>
            </p:nvSpPr>
            <p:spPr>
              <a:xfrm>
                <a:off x="6257131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任意多边形: 形状 18"/>
              <p:cNvSpPr>
                <a:spLocks/>
              </p:cNvSpPr>
              <p:nvPr/>
            </p:nvSpPr>
            <p:spPr>
              <a:xfrm>
                <a:off x="6003924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任意多边形: 形状 20"/>
              <p:cNvSpPr>
                <a:spLocks/>
              </p:cNvSpPr>
              <p:nvPr/>
            </p:nvSpPr>
            <p:spPr>
              <a:xfrm>
                <a:off x="5750718" y="3336925"/>
                <a:ext cx="184150" cy="184150"/>
              </a:xfrm>
              <a:custGeom>
                <a:avLst/>
                <a:gdLst>
                  <a:gd name="connsiteX0" fmla="*/ 500514 w 577516"/>
                  <a:gd name="connsiteY0" fmla="*/ 0 h 154004"/>
                  <a:gd name="connsiteX1" fmla="*/ 577516 w 577516"/>
                  <a:gd name="connsiteY1" fmla="*/ 77002 h 154004"/>
                  <a:gd name="connsiteX2" fmla="*/ 500514 w 577516"/>
                  <a:gd name="connsiteY2" fmla="*/ 154004 h 154004"/>
                  <a:gd name="connsiteX3" fmla="*/ 423512 w 577516"/>
                  <a:gd name="connsiteY3" fmla="*/ 77002 h 154004"/>
                  <a:gd name="connsiteX4" fmla="*/ 500514 w 577516"/>
                  <a:gd name="connsiteY4" fmla="*/ 0 h 154004"/>
                  <a:gd name="connsiteX5" fmla="*/ 288758 w 577516"/>
                  <a:gd name="connsiteY5" fmla="*/ 0 h 154004"/>
                  <a:gd name="connsiteX6" fmla="*/ 365760 w 577516"/>
                  <a:gd name="connsiteY6" fmla="*/ 77002 h 154004"/>
                  <a:gd name="connsiteX7" fmla="*/ 288758 w 577516"/>
                  <a:gd name="connsiteY7" fmla="*/ 154004 h 154004"/>
                  <a:gd name="connsiteX8" fmla="*/ 211756 w 577516"/>
                  <a:gd name="connsiteY8" fmla="*/ 77002 h 154004"/>
                  <a:gd name="connsiteX9" fmla="*/ 288758 w 577516"/>
                  <a:gd name="connsiteY9" fmla="*/ 0 h 154004"/>
                  <a:gd name="connsiteX10" fmla="*/ 77002 w 577516"/>
                  <a:gd name="connsiteY10" fmla="*/ 0 h 154004"/>
                  <a:gd name="connsiteX11" fmla="*/ 154004 w 577516"/>
                  <a:gd name="connsiteY11" fmla="*/ 77002 h 154004"/>
                  <a:gd name="connsiteX12" fmla="*/ 77002 w 577516"/>
                  <a:gd name="connsiteY12" fmla="*/ 154004 h 154004"/>
                  <a:gd name="connsiteX13" fmla="*/ 0 w 577516"/>
                  <a:gd name="connsiteY13" fmla="*/ 77002 h 154004"/>
                  <a:gd name="connsiteX14" fmla="*/ 77002 w 577516"/>
                  <a:gd name="connsiteY14" fmla="*/ 0 h 15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4004" h="154004">
                    <a:moveTo>
                      <a:pt x="77002" y="0"/>
                    </a:moveTo>
                    <a:cubicBezTo>
                      <a:pt x="119529" y="0"/>
                      <a:pt x="154004" y="34475"/>
                      <a:pt x="154004" y="77002"/>
                    </a:cubicBezTo>
                    <a:cubicBezTo>
                      <a:pt x="154004" y="119529"/>
                      <a:pt x="119529" y="154004"/>
                      <a:pt x="77002" y="154004"/>
                    </a:cubicBezTo>
                    <a:cubicBezTo>
                      <a:pt x="34475" y="154004"/>
                      <a:pt x="0" y="119529"/>
                      <a:pt x="0" y="77002"/>
                    </a:cubicBezTo>
                    <a:cubicBezTo>
                      <a:pt x="0" y="34475"/>
                      <a:pt x="34475" y="0"/>
                      <a:pt x="77002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262993" y="1092201"/>
            <a:ext cx="5653314" cy="2520642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911600" y="3925495"/>
            <a:ext cx="43561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911600" y="4216987"/>
            <a:ext cx="43561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gradFill>
          <a:gsLst>
            <a:gs pos="0">
              <a:schemeClr val="accent2">
                <a:lumMod val="50000"/>
              </a:schemeClr>
            </a:gs>
            <a:gs pos="100000">
              <a:schemeClr val="accent4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4667" y="0"/>
            <a:ext cx="11993034" cy="6858000"/>
            <a:chOff x="84667" y="0"/>
            <a:chExt cx="11993034" cy="6858000"/>
          </a:xfrm>
        </p:grpSpPr>
        <p:grpSp>
          <p:nvGrpSpPr>
            <p:cNvPr id="12" name="组合 11"/>
            <p:cNvGrpSpPr/>
            <p:nvPr/>
          </p:nvGrpSpPr>
          <p:grpSpPr>
            <a:xfrm>
              <a:off x="84667" y="0"/>
              <a:ext cx="11371386" cy="6858000"/>
              <a:chOff x="0" y="0"/>
              <a:chExt cx="11371386" cy="6858000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11003738" y="0"/>
                <a:ext cx="367648" cy="893498"/>
              </a:xfrm>
              <a:custGeom>
                <a:avLst/>
                <a:gdLst>
                  <a:gd name="connsiteX0" fmla="*/ 0 w 367648"/>
                  <a:gd name="connsiteY0" fmla="*/ 0 h 893498"/>
                  <a:gd name="connsiteX1" fmla="*/ 367648 w 367648"/>
                  <a:gd name="connsiteY1" fmla="*/ 0 h 893498"/>
                  <a:gd name="connsiteX2" fmla="*/ 367647 w 367648"/>
                  <a:gd name="connsiteY2" fmla="*/ 709674 h 893498"/>
                  <a:gd name="connsiteX3" fmla="*/ 183823 w 367648"/>
                  <a:gd name="connsiteY3" fmla="*/ 893498 h 893498"/>
                  <a:gd name="connsiteX4" fmla="*/ 183824 w 367648"/>
                  <a:gd name="connsiteY4" fmla="*/ 893497 h 893498"/>
                  <a:gd name="connsiteX5" fmla="*/ 0 w 367648"/>
                  <a:gd name="connsiteY5" fmla="*/ 709673 h 893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648" h="893498">
                    <a:moveTo>
                      <a:pt x="0" y="0"/>
                    </a:moveTo>
                    <a:lnTo>
                      <a:pt x="367648" y="0"/>
                    </a:lnTo>
                    <a:lnTo>
                      <a:pt x="367647" y="709674"/>
                    </a:lnTo>
                    <a:cubicBezTo>
                      <a:pt x="367647" y="811197"/>
                      <a:pt x="285346" y="893498"/>
                      <a:pt x="183823" y="893498"/>
                    </a:cubicBezTo>
                    <a:lnTo>
                      <a:pt x="183824" y="893497"/>
                    </a:lnTo>
                    <a:cubicBezTo>
                      <a:pt x="82301" y="893497"/>
                      <a:pt x="0" y="811196"/>
                      <a:pt x="0" y="70967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 flipV="1">
                <a:off x="423332" y="5628640"/>
                <a:ext cx="474134" cy="1229360"/>
              </a:xfrm>
              <a:custGeom>
                <a:avLst/>
                <a:gdLst>
                  <a:gd name="connsiteX0" fmla="*/ 237067 w 474134"/>
                  <a:gd name="connsiteY0" fmla="*/ 1229360 h 1229360"/>
                  <a:gd name="connsiteX1" fmla="*/ 474134 w 474134"/>
                  <a:gd name="connsiteY1" fmla="*/ 992293 h 1229360"/>
                  <a:gd name="connsiteX2" fmla="*/ 474134 w 474134"/>
                  <a:gd name="connsiteY2" fmla="*/ 0 h 1229360"/>
                  <a:gd name="connsiteX3" fmla="*/ 0 w 474134"/>
                  <a:gd name="connsiteY3" fmla="*/ 0 h 1229360"/>
                  <a:gd name="connsiteX4" fmla="*/ 0 w 474134"/>
                  <a:gd name="connsiteY4" fmla="*/ 992293 h 1229360"/>
                  <a:gd name="connsiteX5" fmla="*/ 237067 w 474134"/>
                  <a:gd name="connsiteY5" fmla="*/ 1229360 h 1229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4134" h="1229360">
                    <a:moveTo>
                      <a:pt x="237067" y="1229360"/>
                    </a:moveTo>
                    <a:cubicBezTo>
                      <a:pt x="367995" y="1229360"/>
                      <a:pt x="474134" y="1123221"/>
                      <a:pt x="474134" y="992293"/>
                    </a:cubicBezTo>
                    <a:lnTo>
                      <a:pt x="474134" y="0"/>
                    </a:lnTo>
                    <a:lnTo>
                      <a:pt x="0" y="0"/>
                    </a:lnTo>
                    <a:lnTo>
                      <a:pt x="0" y="992293"/>
                    </a:lnTo>
                    <a:cubicBezTo>
                      <a:pt x="0" y="1123221"/>
                      <a:pt x="106139" y="1229360"/>
                      <a:pt x="237067" y="122936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 flipV="1">
                <a:off x="0" y="6178972"/>
                <a:ext cx="367648" cy="679028"/>
              </a:xfrm>
              <a:custGeom>
                <a:avLst/>
                <a:gdLst>
                  <a:gd name="connsiteX0" fmla="*/ 183823 w 367648"/>
                  <a:gd name="connsiteY0" fmla="*/ 679028 h 679028"/>
                  <a:gd name="connsiteX1" fmla="*/ 367647 w 367648"/>
                  <a:gd name="connsiteY1" fmla="*/ 495204 h 679028"/>
                  <a:gd name="connsiteX2" fmla="*/ 367648 w 367648"/>
                  <a:gd name="connsiteY2" fmla="*/ 0 h 679028"/>
                  <a:gd name="connsiteX3" fmla="*/ 0 w 367648"/>
                  <a:gd name="connsiteY3" fmla="*/ 0 h 679028"/>
                  <a:gd name="connsiteX4" fmla="*/ 0 w 367648"/>
                  <a:gd name="connsiteY4" fmla="*/ 495203 h 679028"/>
                  <a:gd name="connsiteX5" fmla="*/ 183824 w 367648"/>
                  <a:gd name="connsiteY5" fmla="*/ 679027 h 679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7648" h="679028">
                    <a:moveTo>
                      <a:pt x="183823" y="679028"/>
                    </a:moveTo>
                    <a:cubicBezTo>
                      <a:pt x="285346" y="679028"/>
                      <a:pt x="367647" y="596727"/>
                      <a:pt x="367647" y="495204"/>
                    </a:cubicBezTo>
                    <a:lnTo>
                      <a:pt x="367648" y="0"/>
                    </a:lnTo>
                    <a:lnTo>
                      <a:pt x="0" y="0"/>
                    </a:lnTo>
                    <a:lnTo>
                      <a:pt x="0" y="495203"/>
                    </a:lnTo>
                    <a:cubicBezTo>
                      <a:pt x="0" y="596726"/>
                      <a:pt x="82301" y="679027"/>
                      <a:pt x="183824" y="67902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: 形状 12"/>
            <p:cNvSpPr/>
            <p:nvPr/>
          </p:nvSpPr>
          <p:spPr>
            <a:xfrm>
              <a:off x="11603567" y="1"/>
              <a:ext cx="474134" cy="1359693"/>
            </a:xfrm>
            <a:custGeom>
              <a:avLst/>
              <a:gdLst>
                <a:gd name="connsiteX0" fmla="*/ 6998 w 474134"/>
                <a:gd name="connsiteY0" fmla="*/ 0 h 1359693"/>
                <a:gd name="connsiteX1" fmla="*/ 467136 w 474134"/>
                <a:gd name="connsiteY1" fmla="*/ 0 h 1359693"/>
                <a:gd name="connsiteX2" fmla="*/ 474134 w 474134"/>
                <a:gd name="connsiteY2" fmla="*/ 34660 h 1359693"/>
                <a:gd name="connsiteX3" fmla="*/ 474134 w 474134"/>
                <a:gd name="connsiteY3" fmla="*/ 1122626 h 1359693"/>
                <a:gd name="connsiteX4" fmla="*/ 237067 w 474134"/>
                <a:gd name="connsiteY4" fmla="*/ 1359693 h 1359693"/>
                <a:gd name="connsiteX5" fmla="*/ 0 w 474134"/>
                <a:gd name="connsiteY5" fmla="*/ 1122626 h 1359693"/>
                <a:gd name="connsiteX6" fmla="*/ 0 w 474134"/>
                <a:gd name="connsiteY6" fmla="*/ 34660 h 135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134" h="1359693">
                  <a:moveTo>
                    <a:pt x="6998" y="0"/>
                  </a:moveTo>
                  <a:lnTo>
                    <a:pt x="467136" y="0"/>
                  </a:lnTo>
                  <a:lnTo>
                    <a:pt x="474134" y="34660"/>
                  </a:lnTo>
                  <a:lnTo>
                    <a:pt x="474134" y="1122626"/>
                  </a:lnTo>
                  <a:cubicBezTo>
                    <a:pt x="474134" y="1253554"/>
                    <a:pt x="367995" y="1359693"/>
                    <a:pt x="237067" y="1359693"/>
                  </a:cubicBezTo>
                  <a:cubicBezTo>
                    <a:pt x="106139" y="1359693"/>
                    <a:pt x="0" y="1253554"/>
                    <a:pt x="0" y="1122626"/>
                  </a:cubicBezTo>
                  <a:lnTo>
                    <a:pt x="0" y="346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ce55178a-7818-4688-b00a-d2401c1fbd42.source.5.zh-Hans.pptx">
            <a:extLst>
              <a:ext uri="{FF2B5EF4-FFF2-40B4-BE49-F238E27FC236}">
                <a16:creationId xmlns:a16="http://schemas.microsoft.com/office/drawing/2014/main" id="{3283FCD1-5E0A-71D2-ADB3-22D664220B53}"/>
              </a:ext>
            </a:extLst>
          </p:cNvPr>
          <p:cNvGrpSpPr/>
          <p:nvPr/>
        </p:nvGrpSpPr>
        <p:grpSpPr>
          <a:xfrm>
            <a:off x="660399" y="1130300"/>
            <a:ext cx="11531600" cy="5003801"/>
            <a:chOff x="660399" y="1130300"/>
            <a:chExt cx="11531600" cy="5003801"/>
          </a:xfrm>
        </p:grpSpPr>
        <p:sp>
          <p:nvSpPr>
            <p:cNvPr id="82" name="Co">
              <a:extLst>
                <a:ext uri="{FF2B5EF4-FFF2-40B4-BE49-F238E27FC236}">
                  <a16:creationId xmlns:a16="http://schemas.microsoft.com/office/drawing/2014/main" id="{F497F594-B8EA-5CCC-F33A-3AB459FBF703}"/>
                </a:ext>
              </a:extLst>
            </p:cNvPr>
            <p:cNvSpPr>
              <a:spLocks/>
            </p:cNvSpPr>
            <p:nvPr/>
          </p:nvSpPr>
          <p:spPr>
            <a:xfrm>
              <a:off x="660400" y="1460501"/>
              <a:ext cx="10858500" cy="46736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 altLang="zh-CN" dirty="0">
                <a:cs typeface="+mn-ea"/>
                <a:sym typeface="+mn-lt"/>
              </a:endParaRPr>
            </a:p>
          </p:txBody>
        </p:sp>
        <p:sp>
          <p:nvSpPr>
            <p:cNvPr id="5" name="PictureMisc1">
              <a:extLst>
                <a:ext uri="{FF2B5EF4-FFF2-40B4-BE49-F238E27FC236}">
                  <a16:creationId xmlns:a16="http://schemas.microsoft.com/office/drawing/2014/main" id="{F1CE3F10-4A6E-36BF-6862-EBB777B37028}"/>
                </a:ext>
              </a:extLst>
            </p:cNvPr>
            <p:cNvSpPr>
              <a:spLocks/>
            </p:cNvSpPr>
            <p:nvPr/>
          </p:nvSpPr>
          <p:spPr>
            <a:xfrm>
              <a:off x="8930640" y="1130300"/>
              <a:ext cx="3261359" cy="5003800"/>
            </a:xfrm>
            <a:custGeom>
              <a:avLst/>
              <a:gdLst>
                <a:gd name="connsiteX0" fmla="*/ 0 w 12192000"/>
                <a:gd name="connsiteY0" fmla="*/ 0 h 1729640"/>
                <a:gd name="connsiteX1" fmla="*/ 12192000 w 12192000"/>
                <a:gd name="connsiteY1" fmla="*/ 0 h 1729640"/>
                <a:gd name="connsiteX2" fmla="*/ 12192000 w 12192000"/>
                <a:gd name="connsiteY2" fmla="*/ 1729640 h 1729640"/>
                <a:gd name="connsiteX3" fmla="*/ 0 w 12192000"/>
                <a:gd name="connsiteY3" fmla="*/ 1729640 h 1729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1729640">
                  <a:moveTo>
                    <a:pt x="0" y="0"/>
                  </a:moveTo>
                  <a:lnTo>
                    <a:pt x="12192000" y="0"/>
                  </a:lnTo>
                  <a:lnTo>
                    <a:pt x="12192000" y="1729640"/>
                  </a:lnTo>
                  <a:lnTo>
                    <a:pt x="0" y="1729640"/>
                  </a:lnTo>
                  <a:close/>
                </a:path>
              </a:pathLst>
            </a:custGeom>
            <a:blipFill dpi="0" rotWithShape="0">
              <a:blip r:embed="rId3"/>
              <a:srcRect/>
              <a:stretch>
                <a:fillRect l="-87525" r="-8752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7" name="Title">
              <a:extLst>
                <a:ext uri="{FF2B5EF4-FFF2-40B4-BE49-F238E27FC236}">
                  <a16:creationId xmlns:a16="http://schemas.microsoft.com/office/drawing/2014/main" id="{DED38218-93C8-7C58-1C1F-B6CCFF856412}"/>
                </a:ext>
              </a:extLst>
            </p:cNvPr>
            <p:cNvSpPr txBox="1">
              <a:spLocks/>
            </p:cNvSpPr>
            <p:nvPr/>
          </p:nvSpPr>
          <p:spPr>
            <a:xfrm>
              <a:off x="660399" y="5577840"/>
              <a:ext cx="10858500" cy="556260"/>
            </a:xfrm>
            <a:prstGeom prst="rect">
              <a:avLst/>
            </a:prstGeom>
            <a:solidFill>
              <a:schemeClr val="accent1">
                <a:lumMod val="75000"/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/>
              <a:r>
                <a:rPr lang="zh-CN" altLang="en-US" sz="2400" dirty="0">
                  <a:latin typeface="+mn-lt"/>
                  <a:ea typeface="+mn-ea"/>
                  <a:cs typeface="+mn-ea"/>
                  <a:sym typeface="+mn-lt"/>
                </a:rPr>
                <a:t>加速AI嵌入核心业务流程，推动30%重复性工作由智能体承接，构建人机协同新范式</a:t>
              </a:r>
              <a:endParaRPr lang="en-US" dirty="0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65138E5-6154-296A-4154-3E18E8A70E71}"/>
                </a:ext>
              </a:extLst>
            </p:cNvPr>
            <p:cNvGrpSpPr/>
            <p:nvPr/>
          </p:nvGrpSpPr>
          <p:grpSpPr>
            <a:xfrm>
              <a:off x="794332" y="1581151"/>
              <a:ext cx="3917315" cy="1191538"/>
              <a:chOff x="794332" y="1581151"/>
              <a:chExt cx="3917315" cy="1191538"/>
            </a:xfrm>
          </p:grpSpPr>
          <p:sp>
            <p:nvSpPr>
              <p:cNvPr id="8" name="Text1">
                <a:extLst>
                  <a:ext uri="{FF2B5EF4-FFF2-40B4-BE49-F238E27FC236}">
                    <a16:creationId xmlns:a16="http://schemas.microsoft.com/office/drawing/2014/main" id="{84BE9A32-1793-18BE-94D3-BF5430051F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1963574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企业将分阶段在研发、生产、营销、客服等核心环节部署AI能力，通过API集成与低代码平台实现无缝对接，确保智能技术深度融入现有工作流并提升整体运行效率。</a:t>
                </a:r>
                <a:endParaRPr lang="en-US" dirty="0"/>
              </a:p>
            </p:txBody>
          </p:sp>
          <p:sp>
            <p:nvSpPr>
              <p:cNvPr id="9" name="Bullet1">
                <a:extLst>
                  <a:ext uri="{FF2B5EF4-FFF2-40B4-BE49-F238E27FC236}">
                    <a16:creationId xmlns:a16="http://schemas.microsoft.com/office/drawing/2014/main" id="{438E5121-372E-D0E1-1BD9-2C69C73AC4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1581151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AI嵌入业务流程的系统化部署</a:t>
                </a:r>
                <a:endParaRPr lang="en-US" dirty="0"/>
              </a:p>
            </p:txBody>
          </p:sp>
          <p:sp>
            <p:nvSpPr>
              <p:cNvPr id="10" name="Number1">
                <a:extLst>
                  <a:ext uri="{FF2B5EF4-FFF2-40B4-BE49-F238E27FC236}">
                    <a16:creationId xmlns:a16="http://schemas.microsoft.com/office/drawing/2014/main" id="{EC040151-3900-8007-D65A-D03CF1922A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4332" y="1581151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1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D07EC927-CC27-1D06-0EAC-C7A75B2A0CE1}"/>
                </a:ext>
              </a:extLst>
            </p:cNvPr>
            <p:cNvGrpSpPr/>
            <p:nvPr/>
          </p:nvGrpSpPr>
          <p:grpSpPr>
            <a:xfrm>
              <a:off x="794332" y="2923403"/>
              <a:ext cx="3917315" cy="1191538"/>
              <a:chOff x="794332" y="2923403"/>
              <a:chExt cx="3917315" cy="1191538"/>
            </a:xfrm>
          </p:grpSpPr>
          <p:sp>
            <p:nvSpPr>
              <p:cNvPr id="11" name="Text2">
                <a:extLst>
                  <a:ext uri="{FF2B5EF4-FFF2-40B4-BE49-F238E27FC236}">
                    <a16:creationId xmlns:a16="http://schemas.microsoft.com/office/drawing/2014/main" id="{5DFB4F13-3E49-6A6D-A240-483C12F282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3305826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聚焦文档处理、数据录入、工单分派、基础报表生成等高频率低复杂度工作，训练垂直领域智能体完成标准化操作，目标覆盖30%以上重复性人力投入，释放员工专注高价值活动。</a:t>
                </a:r>
                <a:endParaRPr lang="en-US" dirty="0"/>
              </a:p>
            </p:txBody>
          </p:sp>
          <p:sp>
            <p:nvSpPr>
              <p:cNvPr id="12" name="Bullet2">
                <a:extLst>
                  <a:ext uri="{FF2B5EF4-FFF2-40B4-BE49-F238E27FC236}">
                    <a16:creationId xmlns:a16="http://schemas.microsoft.com/office/drawing/2014/main" id="{E84400EF-F717-548A-DF76-515FAFE621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8" y="2923403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智能体规模化承接重复性任务</a:t>
                </a:r>
                <a:endParaRPr lang="en-US" dirty="0"/>
              </a:p>
            </p:txBody>
          </p:sp>
          <p:sp>
            <p:nvSpPr>
              <p:cNvPr id="13" name="Number2">
                <a:extLst>
                  <a:ext uri="{FF2B5EF4-FFF2-40B4-BE49-F238E27FC236}">
                    <a16:creationId xmlns:a16="http://schemas.microsoft.com/office/drawing/2014/main" id="{8F817CA7-2665-9402-1977-ABDA96DF0B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4332" y="2923403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2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3CEA3D5-0B77-7252-B6F2-E73C18A98056}"/>
                </a:ext>
              </a:extLst>
            </p:cNvPr>
            <p:cNvGrpSpPr/>
            <p:nvPr/>
          </p:nvGrpSpPr>
          <p:grpSpPr>
            <a:xfrm>
              <a:off x="794332" y="4265654"/>
              <a:ext cx="8002375" cy="1191537"/>
              <a:chOff x="794332" y="4265654"/>
              <a:chExt cx="8002375" cy="1191537"/>
            </a:xfrm>
          </p:grpSpPr>
          <p:sp>
            <p:nvSpPr>
              <p:cNvPr id="14" name="Text3">
                <a:extLst>
                  <a:ext uri="{FF2B5EF4-FFF2-40B4-BE49-F238E27FC236}">
                    <a16:creationId xmlns:a16="http://schemas.microsoft.com/office/drawing/2014/main" id="{03DCFA07-E418-5F6B-8E44-021115F0C4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7" y="4648078"/>
                <a:ext cx="7665800" cy="809113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建立明确的任务分配规则、责任界定框架及交互反馈闭环，制定人机协作SOP与绩效评估体系，推动员工从执行者转型为智能体训练师、策略审核者与异常决策者。</a:t>
                </a:r>
                <a:endParaRPr lang="en-US" dirty="0"/>
              </a:p>
            </p:txBody>
          </p:sp>
          <p:sp>
            <p:nvSpPr>
              <p:cNvPr id="15" name="Bullet3">
                <a:extLst>
                  <a:ext uri="{FF2B5EF4-FFF2-40B4-BE49-F238E27FC236}">
                    <a16:creationId xmlns:a16="http://schemas.microsoft.com/office/drawing/2014/main" id="{08C851C4-CEB0-BF6A-D65E-F38DAE1CF2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07" y="4265654"/>
                <a:ext cx="7665800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人机协同机制的设计与落地</a:t>
                </a:r>
                <a:endParaRPr lang="en-US" dirty="0"/>
              </a:p>
            </p:txBody>
          </p:sp>
          <p:sp>
            <p:nvSpPr>
              <p:cNvPr id="16" name="Number3">
                <a:extLst>
                  <a:ext uri="{FF2B5EF4-FFF2-40B4-BE49-F238E27FC236}">
                    <a16:creationId xmlns:a16="http://schemas.microsoft.com/office/drawing/2014/main" id="{92010DF9-8BC4-03EE-8490-DE9883405D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4332" y="4265654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3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34E824C-FC0F-09D6-20AD-ECF9169E4162}"/>
                </a:ext>
              </a:extLst>
            </p:cNvPr>
            <p:cNvGrpSpPr/>
            <p:nvPr/>
          </p:nvGrpSpPr>
          <p:grpSpPr>
            <a:xfrm>
              <a:off x="4879393" y="1581151"/>
              <a:ext cx="3917315" cy="1191538"/>
              <a:chOff x="4879393" y="1581151"/>
              <a:chExt cx="3917315" cy="1191538"/>
            </a:xfrm>
          </p:grpSpPr>
          <p:sp>
            <p:nvSpPr>
              <p:cNvPr id="35" name="Text4">
                <a:extLst>
                  <a:ext uri="{FF2B5EF4-FFF2-40B4-BE49-F238E27FC236}">
                    <a16:creationId xmlns:a16="http://schemas.microsoft.com/office/drawing/2014/main" id="{2EEDC364-F180-3C9F-E468-4EEF8CE3B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1963574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构建统一的数据资产目录与质量管控机制，强化隐私计算、模型可解释性与审计追踪能力，确保AI应用符合合规要求，夯实人机协同长期稳定运行的技术与制度根基。</a:t>
                </a:r>
                <a:endParaRPr lang="en-US" dirty="0"/>
              </a:p>
            </p:txBody>
          </p:sp>
          <p:sp>
            <p:nvSpPr>
              <p:cNvPr id="36" name="Bullet4">
                <a:extLst>
                  <a:ext uri="{FF2B5EF4-FFF2-40B4-BE49-F238E27FC236}">
                    <a16:creationId xmlns:a16="http://schemas.microsoft.com/office/drawing/2014/main" id="{D09321C5-A99B-11D1-F1DF-843B39D560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1581151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数据治理与AI可信基础建设</a:t>
                </a:r>
                <a:endParaRPr lang="en-US" dirty="0"/>
              </a:p>
            </p:txBody>
          </p:sp>
          <p:sp>
            <p:nvSpPr>
              <p:cNvPr id="37" name="Number4">
                <a:extLst>
                  <a:ext uri="{FF2B5EF4-FFF2-40B4-BE49-F238E27FC236}">
                    <a16:creationId xmlns:a16="http://schemas.microsoft.com/office/drawing/2014/main" id="{9F275A48-2C6E-3975-C4B1-FB1FA79AF8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9393" y="1581151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4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1CDAC32-A199-FAFC-76CF-4BC0D3C061AC}"/>
                </a:ext>
              </a:extLst>
            </p:cNvPr>
            <p:cNvGrpSpPr/>
            <p:nvPr/>
          </p:nvGrpSpPr>
          <p:grpSpPr>
            <a:xfrm>
              <a:off x="4879393" y="2923403"/>
              <a:ext cx="3917315" cy="1191538"/>
              <a:chOff x="4879393" y="2923403"/>
              <a:chExt cx="3917315" cy="1191538"/>
            </a:xfrm>
          </p:grpSpPr>
          <p:sp>
            <p:nvSpPr>
              <p:cNvPr id="38" name="Text5">
                <a:extLst>
                  <a:ext uri="{FF2B5EF4-FFF2-40B4-BE49-F238E27FC236}">
                    <a16:creationId xmlns:a16="http://schemas.microsoft.com/office/drawing/2014/main" id="{02B67B98-7EFB-FD1D-4889-D3BF4593F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3305826"/>
                <a:ext cx="3580739" cy="809115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开展面向全员的AI认知培训与岗位专属技能重塑计划，设立AI赋能中心支持业务部门快速试点创新，培育兼具业务理解力与技术协同力的复合型人才队伍。</a:t>
                </a:r>
                <a:endParaRPr lang="en-US" dirty="0"/>
              </a:p>
            </p:txBody>
          </p:sp>
          <p:sp>
            <p:nvSpPr>
              <p:cNvPr id="39" name="Bullet5">
                <a:extLst>
                  <a:ext uri="{FF2B5EF4-FFF2-40B4-BE49-F238E27FC236}">
                    <a16:creationId xmlns:a16="http://schemas.microsoft.com/office/drawing/2014/main" id="{FF8F5C23-5637-5C61-4AB6-6AB9D5479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5969" y="2923403"/>
                <a:ext cx="3580739" cy="382422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组织能力适配与数字素养升级</a:t>
                </a:r>
                <a:endParaRPr lang="en-US" dirty="0"/>
              </a:p>
            </p:txBody>
          </p:sp>
          <p:sp>
            <p:nvSpPr>
              <p:cNvPr id="40" name="Number5">
                <a:extLst>
                  <a:ext uri="{FF2B5EF4-FFF2-40B4-BE49-F238E27FC236}">
                    <a16:creationId xmlns:a16="http://schemas.microsoft.com/office/drawing/2014/main" id="{DA77F5A8-C58D-FAC8-EA91-8CB1A6D5CE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9393" y="2923403"/>
                <a:ext cx="336579" cy="3824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5</a:t>
                </a:r>
                <a:endParaRPr lang="zh-CN" altLang="en-US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技术融合趋势深化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b18c1cd9-4111-4602-a7b6-62b1bf6d8ec0.source.6.zh-Hans.pptx">
            <a:extLst>
              <a:ext uri="{FF2B5EF4-FFF2-40B4-BE49-F238E27FC236}">
                <a16:creationId xmlns:a16="http://schemas.microsoft.com/office/drawing/2014/main" id="{35A0753B-00C1-3ABD-4F72-A4E9E9CF9BD8}"/>
              </a:ext>
            </a:extLst>
          </p:cNvPr>
          <p:cNvGrpSpPr/>
          <p:nvPr/>
        </p:nvGrpSpPr>
        <p:grpSpPr>
          <a:xfrm>
            <a:off x="0" y="1130300"/>
            <a:ext cx="11518900" cy="5003800"/>
            <a:chOff x="0" y="1130300"/>
            <a:chExt cx="11518900" cy="5003800"/>
          </a:xfrm>
        </p:grpSpPr>
        <p:sp>
          <p:nvSpPr>
            <p:cNvPr id="27" name="PictureMisc1">
              <a:extLst>
                <a:ext uri="{FF2B5EF4-FFF2-40B4-BE49-F238E27FC236}">
                  <a16:creationId xmlns:a16="http://schemas.microsoft.com/office/drawing/2014/main" id="{BE51DDEB-4647-B4C3-A810-CE4C92109BCC}"/>
                </a:ext>
              </a:extLst>
            </p:cNvPr>
            <p:cNvSpPr>
              <a:spLocks/>
            </p:cNvSpPr>
            <p:nvPr/>
          </p:nvSpPr>
          <p:spPr>
            <a:xfrm>
              <a:off x="0" y="1804675"/>
              <a:ext cx="3656269" cy="4122185"/>
            </a:xfrm>
            <a:custGeom>
              <a:avLst/>
              <a:gdLst>
                <a:gd name="connsiteX0" fmla="*/ 0 w 3656269"/>
                <a:gd name="connsiteY0" fmla="*/ 0 h 4122185"/>
                <a:gd name="connsiteX1" fmla="*/ 3656269 w 3656269"/>
                <a:gd name="connsiteY1" fmla="*/ 0 h 4122185"/>
                <a:gd name="connsiteX2" fmla="*/ 2347312 w 3656269"/>
                <a:gd name="connsiteY2" fmla="*/ 4122185 h 4122185"/>
                <a:gd name="connsiteX3" fmla="*/ 0 w 3656269"/>
                <a:gd name="connsiteY3" fmla="*/ 4122185 h 412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6269" h="4122185">
                  <a:moveTo>
                    <a:pt x="0" y="0"/>
                  </a:moveTo>
                  <a:lnTo>
                    <a:pt x="3656269" y="0"/>
                  </a:lnTo>
                  <a:lnTo>
                    <a:pt x="2347312" y="4122185"/>
                  </a:lnTo>
                  <a:lnTo>
                    <a:pt x="0" y="4122185"/>
                  </a:lnTo>
                  <a:close/>
                </a:path>
              </a:pathLst>
            </a:custGeom>
            <a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>
                        <a14:imgEffect>
                          <a14:brightnessContrast bright="5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52203" r="-522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4" name="S">
              <a:extLst>
                <a:ext uri="{FF2B5EF4-FFF2-40B4-BE49-F238E27FC236}">
                  <a16:creationId xmlns:a16="http://schemas.microsoft.com/office/drawing/2014/main" id="{961FD3C5-9610-72D0-4AA0-DE97913050CD}"/>
                </a:ext>
              </a:extLst>
            </p:cNvPr>
            <p:cNvCxnSpPr>
              <a:cxnSpLocks/>
            </p:cNvCxnSpPr>
            <p:nvPr/>
          </p:nvCxnSpPr>
          <p:spPr>
            <a:xfrm>
              <a:off x="2536257" y="5928570"/>
              <a:ext cx="8827887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">
              <a:extLst>
                <a:ext uri="{FF2B5EF4-FFF2-40B4-BE49-F238E27FC236}">
                  <a16:creationId xmlns:a16="http://schemas.microsoft.com/office/drawing/2014/main" id="{8CC6A43C-EED5-4174-EE47-4CFD487C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6445" y="5931990"/>
              <a:ext cx="74046" cy="20211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">
              <a:extLst>
                <a:ext uri="{FF2B5EF4-FFF2-40B4-BE49-F238E27FC236}">
                  <a16:creationId xmlns:a16="http://schemas.microsoft.com/office/drawing/2014/main" id="{92B83C63-F07C-D83F-C223-D3922F4C5A2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131494"/>
              <a:ext cx="246644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17">
              <a:extLst>
                <a:ext uri="{FF2B5EF4-FFF2-40B4-BE49-F238E27FC236}">
                  <a16:creationId xmlns:a16="http://schemas.microsoft.com/office/drawing/2014/main" id="{20513EB9-A89C-5C88-ACAF-D256F6686FCB}"/>
                </a:ext>
              </a:extLst>
            </p:cNvPr>
            <p:cNvSpPr/>
            <p:nvPr/>
          </p:nvSpPr>
          <p:spPr>
            <a:xfrm>
              <a:off x="11364144" y="5851192"/>
              <a:ext cx="154756" cy="1547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lang="en-US" sz="1200" dirty="0">
                <a:solidFill>
                  <a:srgbClr val="3F3F3F"/>
                </a:solidFill>
                <a:cs typeface="+mn-ea"/>
                <a:sym typeface="+mn-lt"/>
              </a:endParaRPr>
            </a:p>
          </p:txBody>
        </p:sp>
        <p:sp>
          <p:nvSpPr>
            <p:cNvPr id="25" name="Title">
              <a:extLst>
                <a:ext uri="{FF2B5EF4-FFF2-40B4-BE49-F238E27FC236}">
                  <a16:creationId xmlns:a16="http://schemas.microsoft.com/office/drawing/2014/main" id="{54D7EAA0-01ED-331B-83B5-9A9FE2D076D1}"/>
                </a:ext>
              </a:extLst>
            </p:cNvPr>
            <p:cNvSpPr txBox="1">
              <a:spLocks/>
            </p:cNvSpPr>
            <p:nvPr/>
          </p:nvSpPr>
          <p:spPr>
            <a:xfrm>
              <a:off x="660400" y="1130300"/>
              <a:ext cx="10858500" cy="583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 fontScale="85000" lnSpcReduction="20000"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b="1">
                  <a:solidFill>
                    <a:srgbClr val="FFFFFF"/>
                  </a:solidFill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2400" dirty="0">
                  <a:solidFill>
                    <a:schemeClr val="tx1"/>
                  </a:solidFill>
                  <a:sym typeface="+mn-lt"/>
                </a:rPr>
                <a:t>完成3项核心系统升级（含数据中台V2.0上线）、交付5个标准化解决方案包、取得2项行业认证资质</a:t>
              </a:r>
              <a:endParaRPr lang="en-US" dirty="0"/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25EBE44D-2A0C-ABDF-20D1-C2E2519FF5DE}"/>
                </a:ext>
              </a:extLst>
            </p:cNvPr>
            <p:cNvGrpSpPr/>
            <p:nvPr/>
          </p:nvGrpSpPr>
          <p:grpSpPr>
            <a:xfrm>
              <a:off x="4081037" y="1804675"/>
              <a:ext cx="3506548" cy="1224248"/>
              <a:chOff x="4081037" y="1804675"/>
              <a:chExt cx="3506548" cy="1224248"/>
            </a:xfrm>
          </p:grpSpPr>
          <p:sp>
            <p:nvSpPr>
              <p:cNvPr id="33" name="Text1">
                <a:extLst>
                  <a:ext uri="{FF2B5EF4-FFF2-40B4-BE49-F238E27FC236}">
                    <a16:creationId xmlns:a16="http://schemas.microsoft.com/office/drawing/2014/main" id="{07AA9A12-3C43-0311-588A-8135A4C32C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1037" y="2192706"/>
                <a:ext cx="3506548" cy="83621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数据中台V2.0升级聚焦实时计算能力增强与多源数据融合治理，完成API服务标准化封装及低代码数据开发平台部署，支撑业务部门自助分析响应时效提升至分钟级。</a:t>
                </a:r>
                <a:endParaRPr lang="en-US" dirty="0"/>
              </a:p>
            </p:txBody>
          </p:sp>
          <p:sp>
            <p:nvSpPr>
              <p:cNvPr id="34" name="Bullet1">
                <a:extLst>
                  <a:ext uri="{FF2B5EF4-FFF2-40B4-BE49-F238E27FC236}">
                    <a16:creationId xmlns:a16="http://schemas.microsoft.com/office/drawing/2014/main" id="{AA5FDDF3-1DB6-2767-CECA-7765B93BC2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1037" y="1804675"/>
                <a:ext cx="3506548" cy="3880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数据中台V2.0系统升级实施</a:t>
                </a:r>
                <a:endParaRPr lang="en-US" dirty="0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DB54AC1A-BB1E-9D5E-EFB3-A4C53B655295}"/>
                </a:ext>
              </a:extLst>
            </p:cNvPr>
            <p:cNvGrpSpPr/>
            <p:nvPr/>
          </p:nvGrpSpPr>
          <p:grpSpPr>
            <a:xfrm>
              <a:off x="3658028" y="3209294"/>
              <a:ext cx="3506548" cy="1224248"/>
              <a:chOff x="3658028" y="3209294"/>
              <a:chExt cx="3506548" cy="1224248"/>
            </a:xfrm>
          </p:grpSpPr>
          <p:sp>
            <p:nvSpPr>
              <p:cNvPr id="42" name="Text2">
                <a:extLst>
                  <a:ext uri="{FF2B5EF4-FFF2-40B4-BE49-F238E27FC236}">
                    <a16:creationId xmlns:a16="http://schemas.microsoft.com/office/drawing/2014/main" id="{9A7C1A7C-9582-AA3E-EB87-CEFAECE553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8028" y="3597325"/>
                <a:ext cx="3506548" cy="83621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针对现有ERP与CRM系统开展云原生化重构，实现微服务拆分与容器化部署，保障高并发场景下系统可用性达99.95%，并兼容未来三年业务扩展所需的弹性伸缩能力。</a:t>
                </a:r>
                <a:endParaRPr lang="en-US" dirty="0"/>
              </a:p>
            </p:txBody>
          </p:sp>
          <p:sp>
            <p:nvSpPr>
              <p:cNvPr id="43" name="Bullet2">
                <a:extLst>
                  <a:ext uri="{FF2B5EF4-FFF2-40B4-BE49-F238E27FC236}">
                    <a16:creationId xmlns:a16="http://schemas.microsoft.com/office/drawing/2014/main" id="{CD4952E7-0BEF-11A9-5606-ACA470E1B1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8028" y="3209294"/>
                <a:ext cx="3506548" cy="3880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核心业务系统双模架构改造</a:t>
                </a:r>
                <a:endParaRPr lang="en-US" dirty="0"/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BFB6B4C-7AC6-BA53-B66D-164D2918B089}"/>
                </a:ext>
              </a:extLst>
            </p:cNvPr>
            <p:cNvGrpSpPr/>
            <p:nvPr/>
          </p:nvGrpSpPr>
          <p:grpSpPr>
            <a:xfrm>
              <a:off x="3235018" y="4613914"/>
              <a:ext cx="3506548" cy="1224248"/>
              <a:chOff x="3235018" y="4613914"/>
              <a:chExt cx="3506548" cy="1224248"/>
            </a:xfrm>
          </p:grpSpPr>
          <p:sp>
            <p:nvSpPr>
              <p:cNvPr id="45" name="Text3">
                <a:extLst>
                  <a:ext uri="{FF2B5EF4-FFF2-40B4-BE49-F238E27FC236}">
                    <a16:creationId xmlns:a16="http://schemas.microsoft.com/office/drawing/2014/main" id="{B9C16F18-17E7-404E-EEC7-FF9D360E2F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5018" y="5001945"/>
                <a:ext cx="3506548" cy="83621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基于机器学习算法构建新一代风控模型，集成外部征信、行为埋点与交易流数据，实现毫秒级风险识别与动态策略调整，覆盖信贷审批、反欺诈与合规审计三大核心场景。</a:t>
                </a:r>
                <a:endParaRPr lang="en-US" dirty="0"/>
              </a:p>
            </p:txBody>
          </p:sp>
          <p:sp>
            <p:nvSpPr>
              <p:cNvPr id="46" name="Bullet3">
                <a:extLst>
                  <a:ext uri="{FF2B5EF4-FFF2-40B4-BE49-F238E27FC236}">
                    <a16:creationId xmlns:a16="http://schemas.microsoft.com/office/drawing/2014/main" id="{0F8A84ED-7791-2702-A306-511F3B8A5C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5018" y="4613914"/>
                <a:ext cx="3506548" cy="3880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智能风控引擎V3.0上线运行</a:t>
                </a:r>
                <a:endParaRPr lang="en-US" dirty="0"/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AD0486DA-1F34-B14F-5F50-6788157E0762}"/>
                </a:ext>
              </a:extLst>
            </p:cNvPr>
            <p:cNvGrpSpPr/>
            <p:nvPr/>
          </p:nvGrpSpPr>
          <p:grpSpPr>
            <a:xfrm>
              <a:off x="8012352" y="1804675"/>
              <a:ext cx="3506548" cy="1224248"/>
              <a:chOff x="8012352" y="1804675"/>
              <a:chExt cx="3506548" cy="1224248"/>
            </a:xfrm>
          </p:grpSpPr>
          <p:sp>
            <p:nvSpPr>
              <p:cNvPr id="37" name="Text4">
                <a:extLst>
                  <a:ext uri="{FF2B5EF4-FFF2-40B4-BE49-F238E27FC236}">
                    <a16:creationId xmlns:a16="http://schemas.microsoft.com/office/drawing/2014/main" id="{30B3CBA5-096B-408F-2979-D01463ED03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12352" y="2192706"/>
                <a:ext cx="3506548" cy="83621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围绕政务、金融、制造、教育、医疗五大行业，完成5套可即插即用的解决方案包开发，每套包含需求蓝图、配置模板、实施手册与培训课件，支持客户平均交付周期缩短40%。</a:t>
                </a:r>
                <a:endParaRPr lang="en-US" dirty="0"/>
              </a:p>
            </p:txBody>
          </p:sp>
          <p:sp>
            <p:nvSpPr>
              <p:cNvPr id="38" name="Bullet4">
                <a:extLst>
                  <a:ext uri="{FF2B5EF4-FFF2-40B4-BE49-F238E27FC236}">
                    <a16:creationId xmlns:a16="http://schemas.microsoft.com/office/drawing/2014/main" id="{39486D98-A6DB-7E51-79D5-902191B631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12352" y="1804675"/>
                <a:ext cx="3506548" cy="3880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标准化解决方案包交付体系</a:t>
                </a:r>
                <a:endParaRPr lang="en-US" dirty="0"/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BF20E788-C6EC-382F-53D6-68DA5DD94A5C}"/>
                </a:ext>
              </a:extLst>
            </p:cNvPr>
            <p:cNvGrpSpPr/>
            <p:nvPr/>
          </p:nvGrpSpPr>
          <p:grpSpPr>
            <a:xfrm>
              <a:off x="7589343" y="3209294"/>
              <a:ext cx="3506548" cy="1224248"/>
              <a:chOff x="7589343" y="3209294"/>
              <a:chExt cx="3506548" cy="1224248"/>
            </a:xfrm>
          </p:grpSpPr>
          <p:sp>
            <p:nvSpPr>
              <p:cNvPr id="35" name="Text5">
                <a:extLst>
                  <a:ext uri="{FF2B5EF4-FFF2-40B4-BE49-F238E27FC236}">
                    <a16:creationId xmlns:a16="http://schemas.microsoft.com/office/drawing/2014/main" id="{81D6BE34-837F-2244-CE07-F95E7345CB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89343" y="3597325"/>
                <a:ext cx="3506548" cy="83621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建立“基础包+区域模块+客户定制项”三级组装模式，预置200+参数化配置项与15类地域政策规则引擎，确保解决方案在不同省市落地时满足监管合规与业务习惯双重要求。</a:t>
                </a:r>
                <a:endParaRPr lang="en-US" dirty="0"/>
              </a:p>
            </p:txBody>
          </p:sp>
          <p:sp>
            <p:nvSpPr>
              <p:cNvPr id="36" name="Bullet5">
                <a:extLst>
                  <a:ext uri="{FF2B5EF4-FFF2-40B4-BE49-F238E27FC236}">
                    <a16:creationId xmlns:a16="http://schemas.microsoft.com/office/drawing/2014/main" id="{5A3FD9C2-8768-ECB1-EF85-E73EB6C2F5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89343" y="3209294"/>
                <a:ext cx="3506548" cy="3880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解决方案包本地化适配机制</a:t>
                </a:r>
                <a:endParaRPr lang="en-US" dirty="0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139F505E-7D26-FB0F-CC34-39C7E6EC191D}"/>
                </a:ext>
              </a:extLst>
            </p:cNvPr>
            <p:cNvGrpSpPr/>
            <p:nvPr/>
          </p:nvGrpSpPr>
          <p:grpSpPr>
            <a:xfrm>
              <a:off x="7166333" y="4613914"/>
              <a:ext cx="3506548" cy="1224248"/>
              <a:chOff x="7166333" y="4613914"/>
              <a:chExt cx="3506548" cy="1224248"/>
            </a:xfrm>
          </p:grpSpPr>
          <p:sp>
            <p:nvSpPr>
              <p:cNvPr id="31" name="Text6">
                <a:extLst>
                  <a:ext uri="{FF2B5EF4-FFF2-40B4-BE49-F238E27FC236}">
                    <a16:creationId xmlns:a16="http://schemas.microsoft.com/office/drawing/2014/main" id="{E7EC6A85-2F41-2AD2-FB32-56F32EDC54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6333" y="5001945"/>
                <a:ext cx="3506548" cy="83621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同步推进ISO/IEC 27001信息安全管理体系与DCMM（数据管理能力成熟度）三级认证，完成全部文档体系建设、内审整改及现场评审，认证成果已嵌入售前方案与客户信任背书体系。</a:t>
                </a:r>
                <a:endParaRPr lang="en-US" dirty="0"/>
              </a:p>
            </p:txBody>
          </p:sp>
          <p:sp>
            <p:nvSpPr>
              <p:cNvPr id="32" name="Bullet6">
                <a:extLst>
                  <a:ext uri="{FF2B5EF4-FFF2-40B4-BE49-F238E27FC236}">
                    <a16:creationId xmlns:a16="http://schemas.microsoft.com/office/drawing/2014/main" id="{0ED73C2F-6883-2FA2-8DF2-794620D7C6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6333" y="4613914"/>
                <a:ext cx="3506548" cy="3880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600" b="1" dirty="0">
                    <a:cs typeface="+mn-ea"/>
                    <a:sym typeface="+mn-lt"/>
                  </a:rPr>
                  <a:t>行业认证资质获取与应用落地</a:t>
                </a:r>
                <a:endParaRPr 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关键交付物清单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GC" val="{&quot;Label&quot;:&quot;1&quot;,&quot;ContentProducer&quot;:&quot;\u6210\u90fd\u827e\u65af\u83b1\u5fb7\u7f51\u7edc\u79d1\u6280\u6709\u9650\u516c\u53f8&quot;,&quot;ProduceID&quot;:&quot;310912e67e3264f5c14ebbfd45d660b5&quot;,&quot;ReservedCode1&quot;:&quot;b8ec1b6e78df0ddb554da3e92d701b64bfd1c1eff7e3af7d4b57b57aa4937aed&quot;,&quot;ContentPropagator&quot;:&quot;\u6210\u90fd\u827e\u65af\u83b1\u5fb7\u7f51\u7edc\u79d1\u6280\u6709\u9650\u516c\u53f8&quot;,&quot;PropagateID&quot;:&quot;310912e67e3264f5c14ebbfd45d660b5&quot;,&quot;ReservedCode2&quot;:&quot;b8ec1b6e78df0ddb554da3e92d701b64bfd1c1eff7e3af7d4b57b57aa4937aed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ce55178a-7818-4688-b00a-d2401c1fbd4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b18c1cd9-4111-4602-a7b6-62b1bf6d8ec0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ED3EB"/>
      </a:accent1>
      <a:accent2>
        <a:srgbClr val="2590FF"/>
      </a:accent2>
      <a:accent3>
        <a:srgbClr val="0BB5FB"/>
      </a:accent3>
      <a:accent4>
        <a:srgbClr val="4D3CFD"/>
      </a:accent4>
      <a:accent5>
        <a:srgbClr val="F8B613"/>
      </a:accent5>
      <a:accent6>
        <a:srgbClr val="D9D9D9"/>
      </a:accent6>
      <a:hlink>
        <a:srgbClr val="F84D4D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283</TotalTime>
  <Words>652</Words>
  <Application>Microsoft Office PowerPoint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Designed by iSlide</vt:lpstr>
      <vt:lpstr>技术融合趋势深化</vt:lpstr>
      <vt:lpstr>关键交付物清单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qq472488056@outlook.com</cp:lastModifiedBy>
  <cp:revision>7</cp:revision>
  <cp:lastPrinted>2025-03-03T16:00:00Z</cp:lastPrinted>
  <dcterms:created xsi:type="dcterms:W3CDTF">2025-03-03T16:00:00Z</dcterms:created>
  <dcterms:modified xsi:type="dcterms:W3CDTF">2026-05-16T16:03:35Z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dc5d6ea6-6469-48ce-951b-19e727565f4e</vt:lpwstr>
  </property>
</Properties>
</file>