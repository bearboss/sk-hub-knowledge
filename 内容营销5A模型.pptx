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notesSlides/notesSlide1.xml" Type="http://schemas.openxmlformats.org/officeDocument/2006/relationships/notesSlide"/><Relationship Id="rId2" Target="viewProps.xml" Type="http://schemas.openxmlformats.org/officeDocument/2006/relationships/viewProps"/><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大家好，今天我们来学习一个非常经典的营销模型——内容营销5A模型。这个模型清晰地描绘了用户从接触品牌到最终成为品牌拥护者的完整路径。</a:t>
            </a:r>
          </a:p>
          <a:p>
            <a:pPr algn="l" marL="0" indent="0">
              <a:lnSpc>
                <a:spcPct val="100000"/>
              </a:lnSpc>
            </a:pPr>
            <a:r>
              <a:rPr lang="en-US" b="false" i="false" strike="noStrike" u="none" sz="1400">
                <a:solidFill>
                  <a:srgbClr val="000000"/>
                </a:solidFill>
              </a:rPr>
              <a:t>整个过程分为五个阶段：Aware（了解）、Appeal（吸引）、Ask（问询）、Act（行动）和Advocate（拥护）。</a:t>
            </a:r>
          </a:p>
          <a:p>
            <a:pPr algn="l" marL="0" indent="0">
              <a:lnSpc>
                <a:spcPct val="100000"/>
              </a:lnSpc>
            </a:pPr>
            <a:r>
              <a:rPr lang="en-US" b="false" i="false" strike="noStrike" u="none" sz="1400">
                <a:solidFill>
                  <a:srgbClr val="000000"/>
                </a:solidFill>
              </a:rPr>
              <a:t>在第一个阶段“了解”，我们的核心目标是扩大品牌触达面，通过广泛曝光让用户首次接触到我们。</a:t>
            </a:r>
          </a:p>
          <a:p>
            <a:pPr algn="l" marL="0" indent="0">
              <a:lnSpc>
                <a:spcPct val="100000"/>
              </a:lnSpc>
            </a:pPr>
            <a:r>
              <a:rPr lang="en-US" b="false" i="false" strike="noStrike" u="none" sz="1400">
                <a:solidFill>
                  <a:srgbClr val="000000"/>
                </a:solidFill>
              </a:rPr>
              <a:t>进入“吸引”阶段，我们需要通过有深度、有故事性的内容激发用户的兴趣和互动。</a:t>
            </a:r>
          </a:p>
          <a:p>
            <a:pPr algn="l" marL="0" indent="0">
              <a:lnSpc>
                <a:spcPct val="100000"/>
              </a:lnSpc>
            </a:pPr>
            <a:r>
              <a:rPr lang="en-US" b="false" i="false" strike="noStrike" u="none" sz="1400">
                <a:solidFill>
                  <a:srgbClr val="000000"/>
                </a:solidFill>
              </a:rPr>
              <a:t>当用户开始“问询”，主动搜索更多信息时，我们要提供权威的解答和深度内容，帮助他们建立信任。</a:t>
            </a:r>
          </a:p>
          <a:p>
            <a:pPr algn="l" marL="0" indent="0">
              <a:lnSpc>
                <a:spcPct val="100000"/>
              </a:lnSpc>
            </a:pPr>
            <a:r>
              <a:rPr lang="en-US" b="false" i="false" strike="noStrike" u="none" sz="1400">
                <a:solidFill>
                  <a:srgbClr val="000000"/>
                </a:solidFill>
              </a:rPr>
              <a:t>接下来是关键的“行动”阶段，通过促销刺激和优化的购买体验，促成用户完成转化。</a:t>
            </a:r>
          </a:p>
          <a:p>
            <a:pPr algn="l" marL="0" indent="0">
              <a:lnSpc>
                <a:spcPct val="100000"/>
              </a:lnSpc>
            </a:pPr>
            <a:r>
              <a:rPr lang="en-US" b="false" i="false" strike="noStrike" u="none" sz="1400">
                <a:solidFill>
                  <a:srgbClr val="000000"/>
                </a:solidFill>
              </a:rPr>
              <a:t>最后，在“拥护”阶段，我们通过会员体系和口碑营销，将用户转化为品牌的忠实粉丝，让他们自发地进行传播和推荐。</a:t>
            </a:r>
          </a:p>
          <a:p>
            <a:pPr algn="l" marL="0" indent="0">
              <a:lnSpc>
                <a:spcPct val="100000"/>
              </a:lnSpc>
            </a:pPr>
            <a:r>
              <a:rPr lang="en-US" b="false" i="false" strike="noStrike" u="none" sz="1400">
                <a:solidFill>
                  <a:srgbClr val="000000"/>
                </a:solidFill>
              </a:rPr>
              <a:t>这个模型的每一步都对应着不同的内容策略和关键指标，为我们制定和评估内容营销活动提供了清晰的框架。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238.内容营销5A模型</a:t>
            </a:r>
            <a:endParaRPr lang="en-US" sz="1100"/>
          </a:p>
        </p:txBody>
      </p:sp>
      <p:sp>
        <p:nvSpPr>
          <p:cNvPr name="AutoShape 3" id="3"/>
          <p:cNvSpPr/>
          <p:nvPr/>
        </p:nvSpPr>
        <p:spPr>
          <a:xfrm rot="0" flipH="false" flipV="false">
            <a:off x="762000" y="1143000"/>
            <a:ext cx="1905000" cy="381000"/>
          </a:xfrm>
          <a:prstGeom prst="roundRect">
            <a:avLst>
              <a:gd name="adj" fmla="val 0"/>
            </a:avLst>
          </a:prstGeom>
          <a:solidFill>
            <a:srgbClr val="2C528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Aware</a:t>
            </a:r>
            <a:endParaRPr lang="en-US" sz="1100"/>
          </a:p>
        </p:txBody>
      </p:sp>
      <p:sp>
        <p:nvSpPr>
          <p:cNvPr name="AutoShape 4" id="4"/>
          <p:cNvSpPr/>
          <p:nvPr/>
        </p:nvSpPr>
        <p:spPr>
          <a:xfrm rot="0" flipH="false" flipV="false">
            <a:off x="2768600" y="1206500"/>
            <a:ext cx="254000" cy="254000"/>
          </a:xfrm>
          <a:prstGeom prst="rightArrow">
            <a:avLst/>
          </a:prstGeom>
          <a:solidFill>
            <a:srgbClr val="4299E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3124200" y="1143000"/>
            <a:ext cx="1905000" cy="381000"/>
          </a:xfrm>
          <a:prstGeom prst="roundRect">
            <a:avLst>
              <a:gd name="adj" fmla="val 0"/>
            </a:avLst>
          </a:prstGeom>
          <a:solidFill>
            <a:srgbClr val="4299E1">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Appeal</a:t>
            </a:r>
            <a:endParaRPr lang="en-US" sz="1100"/>
          </a:p>
        </p:txBody>
      </p:sp>
      <p:sp>
        <p:nvSpPr>
          <p:cNvPr name="AutoShape 6" id="6"/>
          <p:cNvSpPr/>
          <p:nvPr/>
        </p:nvSpPr>
        <p:spPr>
          <a:xfrm rot="0" flipH="false" flipV="false">
            <a:off x="5130800" y="1206500"/>
            <a:ext cx="254000" cy="254000"/>
          </a:xfrm>
          <a:prstGeom prst="rightArrow">
            <a:avLst/>
          </a:prstGeom>
          <a:solidFill>
            <a:srgbClr val="4299E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486400" y="1143000"/>
            <a:ext cx="1905000" cy="381000"/>
          </a:xfrm>
          <a:prstGeom prst="roundRect">
            <a:avLst>
              <a:gd name="adj" fmla="val 0"/>
            </a:avLst>
          </a:prstGeom>
          <a:solidFill>
            <a:srgbClr val="4299E1">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Ask</a:t>
            </a:r>
            <a:endParaRPr lang="en-US" sz="1100"/>
          </a:p>
        </p:txBody>
      </p:sp>
      <p:sp>
        <p:nvSpPr>
          <p:cNvPr name="AutoShape 8" id="8"/>
          <p:cNvSpPr/>
          <p:nvPr/>
        </p:nvSpPr>
        <p:spPr>
          <a:xfrm rot="0" flipH="false" flipV="false">
            <a:off x="7493000" y="1206500"/>
            <a:ext cx="254000" cy="254000"/>
          </a:xfrm>
          <a:prstGeom prst="rightArrow">
            <a:avLst/>
          </a:prstGeom>
          <a:solidFill>
            <a:srgbClr val="4299E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848600" y="1143000"/>
            <a:ext cx="1397000" cy="381000"/>
          </a:xfrm>
          <a:prstGeom prst="roundRect">
            <a:avLst>
              <a:gd name="adj" fmla="val 0"/>
            </a:avLst>
          </a:prstGeom>
          <a:solidFill>
            <a:srgbClr val="2C528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Act</a:t>
            </a:r>
            <a:endParaRPr lang="en-US" sz="1100"/>
          </a:p>
        </p:txBody>
      </p:sp>
      <p:sp>
        <p:nvSpPr>
          <p:cNvPr name="AutoShape 10" id="10"/>
          <p:cNvSpPr/>
          <p:nvPr/>
        </p:nvSpPr>
        <p:spPr>
          <a:xfrm rot="0" flipH="false" flipV="false">
            <a:off x="9347200" y="1206500"/>
            <a:ext cx="254000" cy="254000"/>
          </a:xfrm>
          <a:prstGeom prst="rightArrow">
            <a:avLst/>
          </a:prstGeom>
          <a:solidFill>
            <a:srgbClr val="4299E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702800" y="1143000"/>
            <a:ext cx="1778000" cy="381000"/>
          </a:xfrm>
          <a:prstGeom prst="roundRect">
            <a:avLst>
              <a:gd name="adj" fmla="val 0"/>
            </a:avLst>
          </a:prstGeom>
          <a:solidFill>
            <a:srgbClr val="2C5282">
              <a:alpha val="100000"/>
            </a:srgbClr>
          </a:solidFill>
          <a:ln w="254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FFFFFF"/>
                </a:solidFill>
                <a:latin typeface="Noto Sans SC"/>
                <a:ea typeface="Noto Sans SC"/>
                <a:cs typeface="Noto Sans SC"/>
                <a:sym typeface="Noto Sans SC"/>
              </a:rPr>
              <a:t>Advocate</a:t>
            </a:r>
            <a:endParaRPr lang="en-US" sz="1100"/>
          </a:p>
        </p:txBody>
      </p:sp>
      <p:sp>
        <p:nvSpPr>
          <p:cNvPr name="AutoShape 12" id="12"/>
          <p:cNvSpPr/>
          <p:nvPr/>
        </p:nvSpPr>
        <p:spPr>
          <a:xfrm rot="0" flipH="false" flipV="false">
            <a:off x="762000" y="1714500"/>
            <a:ext cx="10668000" cy="457200"/>
          </a:xfrm>
          <a:prstGeom prst="roundRect">
            <a:avLst>
              <a:gd name="adj" fmla="val 0"/>
            </a:avLst>
          </a:prstGeom>
          <a:solidFill>
            <a:srgbClr val="4A5568">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762000" y="17780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营销阶段</a:t>
            </a:r>
            <a:endParaRPr lang="en-US" sz="1100"/>
          </a:p>
        </p:txBody>
      </p:sp>
      <p:sp>
        <p:nvSpPr>
          <p:cNvPr name="AutoShape 14" id="14"/>
          <p:cNvSpPr/>
          <p:nvPr/>
        </p:nvSpPr>
        <p:spPr>
          <a:xfrm rot="0" flipH="false" flipV="false">
            <a:off x="2794000" y="1778000"/>
            <a:ext cx="1905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用户行为</a:t>
            </a:r>
            <a:endParaRPr lang="en-US" sz="1100"/>
          </a:p>
        </p:txBody>
      </p:sp>
      <p:sp>
        <p:nvSpPr>
          <p:cNvPr name="AutoShape 15" id="15"/>
          <p:cNvSpPr/>
          <p:nvPr/>
        </p:nvSpPr>
        <p:spPr>
          <a:xfrm rot="0" flipH="false" flipV="false">
            <a:off x="4826000" y="17780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核心目标</a:t>
            </a:r>
            <a:endParaRPr lang="en-US" sz="1100"/>
          </a:p>
        </p:txBody>
      </p:sp>
      <p:sp>
        <p:nvSpPr>
          <p:cNvPr name="AutoShape 16" id="16"/>
          <p:cNvSpPr/>
          <p:nvPr/>
        </p:nvSpPr>
        <p:spPr>
          <a:xfrm rot="0" flipH="false" flipV="false">
            <a:off x="6731000" y="1778000"/>
            <a:ext cx="2794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内容策略</a:t>
            </a:r>
            <a:endParaRPr lang="en-US" sz="1100"/>
          </a:p>
        </p:txBody>
      </p:sp>
      <p:sp>
        <p:nvSpPr>
          <p:cNvPr name="AutoShape 17" id="17"/>
          <p:cNvSpPr/>
          <p:nvPr/>
        </p:nvSpPr>
        <p:spPr>
          <a:xfrm rot="0" flipH="false" flipV="false">
            <a:off x="9652000" y="1778000"/>
            <a:ext cx="177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关键指标</a:t>
            </a:r>
            <a:endParaRPr lang="en-US" sz="1100"/>
          </a:p>
        </p:txBody>
      </p:sp>
      <p:cxnSp>
        <p:nvCxnSpPr>
          <p:cNvPr name="Connector 18" id="18"/>
          <p:cNvCxnSpPr/>
          <p:nvPr/>
        </p:nvCxnSpPr>
        <p:spPr>
          <a:xfrm rot="-4092" flipH="false" flipV="false">
            <a:off x="762004" y="2279650"/>
            <a:ext cx="10668000" cy="12700"/>
          </a:xfrm>
          <a:prstGeom prst="straightConnector1">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19" id="19"/>
          <p:cNvSpPr/>
          <p:nvPr/>
        </p:nvSpPr>
        <p:spPr>
          <a:xfrm rot="0" flipH="false" flipV="false">
            <a:off x="762000" y="2413000"/>
            <a:ext cx="10668000" cy="762000"/>
          </a:xfrm>
          <a:prstGeom prst="roundRect">
            <a:avLst>
              <a:gd name="adj" fmla="val 0"/>
            </a:avLst>
          </a:prstGeom>
          <a:solidFill>
            <a:srgbClr val="FFFFFF">
              <a:alpha val="6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20" id="20"/>
          <p:cNvSpPr/>
          <p:nvPr/>
        </p:nvSpPr>
        <p:spPr>
          <a:xfrm rot="0" flipH="false" flipV="false">
            <a:off x="762000" y="2413000"/>
            <a:ext cx="50800" cy="762000"/>
          </a:xfrm>
          <a:prstGeom prst="roundRect">
            <a:avLst>
              <a:gd name="adj" fmla="val 0"/>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21" id="21"/>
          <p:cNvSpPr/>
          <p:nvPr/>
        </p:nvSpPr>
        <p:spPr>
          <a:xfrm rot="0" flipH="false" flipV="false">
            <a:off x="889000" y="24765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Aware · 投放期</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666666"/>
                </a:solidFill>
                <a:latin typeface="Noto Sans SC"/>
                <a:ea typeface="Noto Sans SC"/>
                <a:cs typeface="Noto Sans SC"/>
                <a:sym typeface="Noto Sans SC"/>
              </a:rPr>
              <a:t>建立基础认知</a:t>
            </a:r>
          </a:p>
        </p:txBody>
      </p:sp>
      <p:sp>
        <p:nvSpPr>
          <p:cNvPr name="AutoShape 22" id="22"/>
          <p:cNvSpPr/>
          <p:nvPr/>
        </p:nvSpPr>
        <p:spPr>
          <a:xfrm rot="0" flipH="false" flipV="false">
            <a:off x="2362200" y="2679700"/>
            <a:ext cx="228600" cy="228600"/>
          </a:xfrm>
          <a:prstGeom prst="rightArrow">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cxnSp>
        <p:nvCxnSpPr>
          <p:cNvPr name="Connector 23" id="23"/>
          <p:cNvCxnSpPr/>
          <p:nvPr/>
        </p:nvCxnSpPr>
        <p:spPr>
          <a:xfrm rot="5331254" flipH="false" flipV="false">
            <a:off x="2476500" y="2787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4" id="24"/>
          <p:cNvSpPr/>
          <p:nvPr/>
        </p:nvSpPr>
        <p:spPr>
          <a:xfrm rot="0" flipH="false" flipV="false">
            <a:off x="2857500" y="2476500"/>
            <a:ext cx="190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首次接触品牌内容，被动接收信息，对品牌形成初步印象。</a:t>
            </a:r>
            <a:endParaRPr lang="en-US" sz="1100"/>
          </a:p>
        </p:txBody>
      </p:sp>
      <p:cxnSp>
        <p:nvCxnSpPr>
          <p:cNvPr name="Connector 25" id="25"/>
          <p:cNvCxnSpPr/>
          <p:nvPr/>
        </p:nvCxnSpPr>
        <p:spPr>
          <a:xfrm rot="5331254" flipH="false" flipV="false">
            <a:off x="4508500" y="2787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6" id="26"/>
          <p:cNvSpPr/>
          <p:nvPr/>
        </p:nvSpPr>
        <p:spPr>
          <a:xfrm rot="0" flipH="false" flipV="false">
            <a:off x="4889500" y="2616200"/>
            <a:ext cx="355600" cy="355600"/>
          </a:xfrm>
          <a:prstGeom prst="ellipse">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27" id="27"/>
          <p:cNvSpPr/>
          <p:nvPr/>
        </p:nvSpPr>
        <p:spPr>
          <a:xfrm rot="0" flipH="false" flipV="false">
            <a:off x="4889500" y="2667000"/>
            <a:ext cx="3556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FFFFFF"/>
                </a:solidFill>
                <a:latin typeface="Noto Sans SC"/>
                <a:ea typeface="Noto Sans SC"/>
                <a:cs typeface="Noto Sans SC"/>
                <a:sym typeface="Noto Sans SC"/>
              </a:rPr>
              <a:t>了解</a:t>
            </a:r>
            <a:endParaRPr lang="en-US" sz="1100"/>
          </a:p>
        </p:txBody>
      </p:sp>
      <p:sp>
        <p:nvSpPr>
          <p:cNvPr name="AutoShape 28" id="28"/>
          <p:cNvSpPr/>
          <p:nvPr/>
        </p:nvSpPr>
        <p:spPr>
          <a:xfrm rot="0" flipH="false" flipV="false">
            <a:off x="5334000" y="2476500"/>
            <a:ext cx="120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扩大品牌触达面，提升知名度，让用户知道“我是谁”。</a:t>
            </a:r>
            <a:endParaRPr lang="en-US" sz="1100"/>
          </a:p>
        </p:txBody>
      </p:sp>
      <p:cxnSp>
        <p:nvCxnSpPr>
          <p:cNvPr name="Connector 29" id="29"/>
          <p:cNvCxnSpPr/>
          <p:nvPr/>
        </p:nvCxnSpPr>
        <p:spPr>
          <a:xfrm rot="5331254" flipH="false" flipV="false">
            <a:off x="6413500" y="2787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0" id="30"/>
          <p:cNvSpPr/>
          <p:nvPr/>
        </p:nvSpPr>
        <p:spPr>
          <a:xfrm rot="0" flipH="false" flipV="false">
            <a:off x="6794500" y="2476500"/>
            <a:ext cx="2730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2C5282"/>
                </a:solidFill>
                <a:latin typeface="Noto Sans SC"/>
                <a:ea typeface="Noto Sans SC"/>
                <a:cs typeface="Noto Sans SC"/>
                <a:sym typeface="Noto Sans SC"/>
              </a:rPr>
              <a:t>广泛曝光+KOL种草：</a:t>
            </a:r>
            <a:r>
              <a:rPr lang="en-US" b="false" i="false" strike="noStrike" u="none" sz="1200">
                <a:solidFill>
                  <a:srgbClr val="505050"/>
                </a:solidFill>
                <a:latin typeface="Noto Sans SC"/>
                <a:ea typeface="Noto Sans SC"/>
                <a:cs typeface="Noto Sans SC"/>
                <a:sym typeface="Noto Sans SC"/>
              </a:rPr>
              <a:t>在社媒、信息流投放内容，联合KOC做品牌露出，实现全域覆盖。</a:t>
            </a:r>
            <a:endParaRPr lang="en-US" sz="1100"/>
          </a:p>
        </p:txBody>
      </p:sp>
      <p:cxnSp>
        <p:nvCxnSpPr>
          <p:cNvPr name="Connector 31" id="31"/>
          <p:cNvCxnSpPr/>
          <p:nvPr/>
        </p:nvCxnSpPr>
        <p:spPr>
          <a:xfrm rot="5331254" flipH="false" flipV="false">
            <a:off x="9334500" y="2787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2" id="32"/>
          <p:cNvSpPr/>
          <p:nvPr/>
        </p:nvSpPr>
        <p:spPr>
          <a:xfrm rot="0" flipH="false" flipV="false">
            <a:off x="9715500" y="2476500"/>
            <a:ext cx="1651000" cy="635000"/>
          </a:xfrm>
          <a:prstGeom prst="roundRect">
            <a:avLst>
              <a:gd name="adj" fmla="val 0"/>
            </a:avLst>
          </a:prstGeom>
          <a:solidFill>
            <a:srgbClr val="2C5282">
              <a:alpha val="1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33" id="33"/>
          <p:cNvSpPr/>
          <p:nvPr/>
        </p:nvSpPr>
        <p:spPr>
          <a:xfrm rot="0" flipH="false" flipV="false">
            <a:off x="9779000" y="2540000"/>
            <a:ext cx="152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C5282"/>
                </a:solidFill>
                <a:latin typeface="Noto Sans SC"/>
                <a:ea typeface="Noto Sans SC"/>
                <a:cs typeface="Noto Sans SC"/>
                <a:sym typeface="Noto Sans SC"/>
              </a:rPr>
              <a:t>曝光量、点击率(CTR)</a:t>
            </a:r>
            <a:endParaRPr lang="en-US" sz="1100"/>
          </a:p>
        </p:txBody>
      </p:sp>
      <p:sp>
        <p:nvSpPr>
          <p:cNvPr name="AutoShape 34" id="34"/>
          <p:cNvSpPr/>
          <p:nvPr/>
        </p:nvSpPr>
        <p:spPr>
          <a:xfrm rot="0" flipH="false" flipV="false">
            <a:off x="762000" y="3302000"/>
            <a:ext cx="10668000" cy="762000"/>
          </a:xfrm>
          <a:prstGeom prst="roundRect">
            <a:avLst>
              <a:gd name="adj" fmla="val 0"/>
            </a:avLst>
          </a:prstGeom>
          <a:solidFill>
            <a:srgbClr val="FFFFFF">
              <a:alpha val="6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35" id="35"/>
          <p:cNvSpPr/>
          <p:nvPr/>
        </p:nvSpPr>
        <p:spPr>
          <a:xfrm rot="0" flipH="false" flipV="false">
            <a:off x="762000" y="3302000"/>
            <a:ext cx="50800" cy="762000"/>
          </a:xfrm>
          <a:prstGeom prst="roundRect">
            <a:avLst>
              <a:gd name="adj" fmla="val 0"/>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36" id="36"/>
          <p:cNvSpPr/>
          <p:nvPr/>
        </p:nvSpPr>
        <p:spPr>
          <a:xfrm rot="0" flipH="false" flipV="false">
            <a:off x="889000" y="33655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Appeal · 种草期</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666666"/>
                </a:solidFill>
                <a:latin typeface="Noto Sans SC"/>
                <a:ea typeface="Noto Sans SC"/>
                <a:cs typeface="Noto Sans SC"/>
                <a:sym typeface="Noto Sans SC"/>
              </a:rPr>
              <a:t>激发情感共鸣</a:t>
            </a:r>
          </a:p>
        </p:txBody>
      </p:sp>
      <p:sp>
        <p:nvSpPr>
          <p:cNvPr name="AutoShape 37" id="37"/>
          <p:cNvSpPr/>
          <p:nvPr/>
        </p:nvSpPr>
        <p:spPr>
          <a:xfrm rot="0" flipH="false" flipV="false">
            <a:off x="2362200" y="3568700"/>
            <a:ext cx="228600" cy="228600"/>
          </a:xfrm>
          <a:prstGeom prst="rightArrow">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cxnSp>
        <p:nvCxnSpPr>
          <p:cNvPr name="Connector 38" id="38"/>
          <p:cNvCxnSpPr/>
          <p:nvPr/>
        </p:nvCxnSpPr>
        <p:spPr>
          <a:xfrm rot="5331254" flipH="false" flipV="false">
            <a:off x="2476500" y="3676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9" id="39"/>
          <p:cNvSpPr/>
          <p:nvPr/>
        </p:nvSpPr>
        <p:spPr>
          <a:xfrm rot="0" flipH="false" flipV="false">
            <a:off x="2857500" y="3365500"/>
            <a:ext cx="190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对内容产生兴趣，主动点赞、评论、收藏，形成情感连接。</a:t>
            </a:r>
            <a:endParaRPr lang="en-US" sz="1100"/>
          </a:p>
        </p:txBody>
      </p:sp>
      <p:cxnSp>
        <p:nvCxnSpPr>
          <p:cNvPr name="Connector 40" id="40"/>
          <p:cNvCxnSpPr/>
          <p:nvPr/>
        </p:nvCxnSpPr>
        <p:spPr>
          <a:xfrm rot="5331254" flipH="false" flipV="false">
            <a:off x="4508500" y="3676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1" id="41"/>
          <p:cNvSpPr/>
          <p:nvPr/>
        </p:nvSpPr>
        <p:spPr>
          <a:xfrm rot="0" flipH="false" flipV="false">
            <a:off x="4889500" y="3505200"/>
            <a:ext cx="355600" cy="355600"/>
          </a:xfrm>
          <a:prstGeom prst="ellipse">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42" id="42"/>
          <p:cNvSpPr/>
          <p:nvPr/>
        </p:nvSpPr>
        <p:spPr>
          <a:xfrm rot="0" flipH="false" flipV="false">
            <a:off x="4889500" y="3556000"/>
            <a:ext cx="3556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FFFFFF"/>
                </a:solidFill>
                <a:latin typeface="Noto Sans SC"/>
                <a:ea typeface="Noto Sans SC"/>
                <a:cs typeface="Noto Sans SC"/>
                <a:sym typeface="Noto Sans SC"/>
              </a:rPr>
              <a:t>吸引</a:t>
            </a:r>
            <a:endParaRPr lang="en-US" sz="1100"/>
          </a:p>
        </p:txBody>
      </p:sp>
      <p:sp>
        <p:nvSpPr>
          <p:cNvPr name="AutoShape 43" id="43"/>
          <p:cNvSpPr/>
          <p:nvPr/>
        </p:nvSpPr>
        <p:spPr>
          <a:xfrm rot="0" flipH="false" flipV="false">
            <a:off x="5334000" y="3365500"/>
            <a:ext cx="120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打造内容吸引力，传递价值主张，让用户对品牌产生好感。</a:t>
            </a:r>
            <a:endParaRPr lang="en-US" sz="1100"/>
          </a:p>
        </p:txBody>
      </p:sp>
      <p:cxnSp>
        <p:nvCxnSpPr>
          <p:cNvPr name="Connector 44" id="44"/>
          <p:cNvCxnSpPr/>
          <p:nvPr/>
        </p:nvCxnSpPr>
        <p:spPr>
          <a:xfrm rot="5331254" flipH="false" flipV="false">
            <a:off x="6413500" y="3676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5" id="45"/>
          <p:cNvSpPr/>
          <p:nvPr/>
        </p:nvSpPr>
        <p:spPr>
          <a:xfrm rot="0" flipH="false" flipV="false">
            <a:off x="6794500" y="3365500"/>
            <a:ext cx="2730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299E1"/>
                </a:solidFill>
                <a:latin typeface="Noto Sans SC"/>
                <a:ea typeface="Noto Sans SC"/>
                <a:cs typeface="Noto Sans SC"/>
                <a:sym typeface="Noto Sans SC"/>
              </a:rPr>
              <a:t>深度种草+故事营销：</a:t>
            </a:r>
            <a:r>
              <a:rPr lang="en-US" b="false" i="false" strike="noStrike" u="none" sz="1200">
                <a:solidFill>
                  <a:srgbClr val="505050"/>
                </a:solidFill>
                <a:latin typeface="Noto Sans SC"/>
                <a:ea typeface="Noto Sans SC"/>
                <a:cs typeface="Noto Sans SC"/>
                <a:sym typeface="Noto Sans SC"/>
              </a:rPr>
              <a:t>用产品评测、用户故事展示价值，通过场景化内容激发用户向往。</a:t>
            </a:r>
            <a:endParaRPr lang="en-US" sz="1100"/>
          </a:p>
        </p:txBody>
      </p:sp>
      <p:cxnSp>
        <p:nvCxnSpPr>
          <p:cNvPr name="Connector 46" id="46"/>
          <p:cNvCxnSpPr/>
          <p:nvPr/>
        </p:nvCxnSpPr>
        <p:spPr>
          <a:xfrm rot="5331254" flipH="false" flipV="false">
            <a:off x="9334500" y="3676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7" id="47"/>
          <p:cNvSpPr/>
          <p:nvPr/>
        </p:nvSpPr>
        <p:spPr>
          <a:xfrm rot="0" flipH="false" flipV="false">
            <a:off x="9715500" y="3365500"/>
            <a:ext cx="1651000" cy="635000"/>
          </a:xfrm>
          <a:prstGeom prst="roundRect">
            <a:avLst>
              <a:gd name="adj" fmla="val 0"/>
            </a:avLst>
          </a:prstGeom>
          <a:solidFill>
            <a:srgbClr val="4299E1">
              <a:alpha val="1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48" id="48"/>
          <p:cNvSpPr/>
          <p:nvPr/>
        </p:nvSpPr>
        <p:spPr>
          <a:xfrm rot="0" flipH="false" flipV="false">
            <a:off x="9779000" y="3429000"/>
            <a:ext cx="152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299E1"/>
                </a:solidFill>
                <a:latin typeface="Noto Sans SC"/>
                <a:ea typeface="Noto Sans SC"/>
                <a:cs typeface="Noto Sans SC"/>
                <a:sym typeface="Noto Sans SC"/>
              </a:rPr>
              <a:t>互动率、完播率</a:t>
            </a:r>
            <a:endParaRPr lang="en-US" sz="1100"/>
          </a:p>
        </p:txBody>
      </p:sp>
      <p:sp>
        <p:nvSpPr>
          <p:cNvPr name="AutoShape 49" id="49"/>
          <p:cNvSpPr/>
          <p:nvPr/>
        </p:nvSpPr>
        <p:spPr>
          <a:xfrm rot="0" flipH="false" flipV="false">
            <a:off x="762000" y="4191000"/>
            <a:ext cx="10668000" cy="762000"/>
          </a:xfrm>
          <a:prstGeom prst="roundRect">
            <a:avLst>
              <a:gd name="adj" fmla="val 0"/>
            </a:avLst>
          </a:prstGeom>
          <a:solidFill>
            <a:srgbClr val="FFFFFF">
              <a:alpha val="6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50" id="50"/>
          <p:cNvSpPr/>
          <p:nvPr/>
        </p:nvSpPr>
        <p:spPr>
          <a:xfrm rot="0" flipH="false" flipV="false">
            <a:off x="762000" y="4191000"/>
            <a:ext cx="50800" cy="762000"/>
          </a:xfrm>
          <a:prstGeom prst="roundRect">
            <a:avLst>
              <a:gd name="adj" fmla="val 0"/>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51" id="51"/>
          <p:cNvSpPr/>
          <p:nvPr/>
        </p:nvSpPr>
        <p:spPr>
          <a:xfrm rot="0" flipH="false" flipV="false">
            <a:off x="889000" y="42545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Ask · 拔草期</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666666"/>
                </a:solidFill>
                <a:latin typeface="Noto Sans SC"/>
                <a:ea typeface="Noto Sans SC"/>
                <a:cs typeface="Noto Sans SC"/>
                <a:sym typeface="Noto Sans SC"/>
              </a:rPr>
              <a:t>主动寻求信息</a:t>
            </a:r>
          </a:p>
        </p:txBody>
      </p:sp>
      <p:sp>
        <p:nvSpPr>
          <p:cNvPr name="AutoShape 52" id="52"/>
          <p:cNvSpPr/>
          <p:nvPr/>
        </p:nvSpPr>
        <p:spPr>
          <a:xfrm rot="0" flipH="false" flipV="false">
            <a:off x="2362200" y="4457700"/>
            <a:ext cx="228600" cy="228600"/>
          </a:xfrm>
          <a:prstGeom prst="rightArrow">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cxnSp>
        <p:nvCxnSpPr>
          <p:cNvPr name="Connector 53" id="53"/>
          <p:cNvCxnSpPr/>
          <p:nvPr/>
        </p:nvCxnSpPr>
        <p:spPr>
          <a:xfrm rot="5331254" flipH="false" flipV="false">
            <a:off x="2476500" y="4565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54" id="54"/>
          <p:cNvSpPr/>
          <p:nvPr/>
        </p:nvSpPr>
        <p:spPr>
          <a:xfrm rot="0" flipH="false" flipV="false">
            <a:off x="2857500" y="4254500"/>
            <a:ext cx="190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主动搜索品牌、产品信息，对比竞品，向客服或他人咨询细节。</a:t>
            </a:r>
            <a:endParaRPr lang="en-US" sz="1100"/>
          </a:p>
        </p:txBody>
      </p:sp>
      <p:cxnSp>
        <p:nvCxnSpPr>
          <p:cNvPr name="Connector 55" id="55"/>
          <p:cNvCxnSpPr/>
          <p:nvPr/>
        </p:nvCxnSpPr>
        <p:spPr>
          <a:xfrm rot="5331254" flipH="false" flipV="false">
            <a:off x="4508500" y="4565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56" id="56"/>
          <p:cNvSpPr/>
          <p:nvPr/>
        </p:nvSpPr>
        <p:spPr>
          <a:xfrm rot="0" flipH="false" flipV="false">
            <a:off x="4889500" y="4394200"/>
            <a:ext cx="355600" cy="355600"/>
          </a:xfrm>
          <a:prstGeom prst="ellipse">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57" id="57"/>
          <p:cNvSpPr/>
          <p:nvPr/>
        </p:nvSpPr>
        <p:spPr>
          <a:xfrm rot="0" flipH="false" flipV="false">
            <a:off x="4889500" y="4445000"/>
            <a:ext cx="3556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FFFFFF"/>
                </a:solidFill>
                <a:latin typeface="Noto Sans SC"/>
                <a:ea typeface="Noto Sans SC"/>
                <a:cs typeface="Noto Sans SC"/>
                <a:sym typeface="Noto Sans SC"/>
              </a:rPr>
              <a:t>问询</a:t>
            </a:r>
            <a:endParaRPr lang="en-US" sz="1100"/>
          </a:p>
        </p:txBody>
      </p:sp>
      <p:sp>
        <p:nvSpPr>
          <p:cNvPr name="AutoShape 58" id="58"/>
          <p:cNvSpPr/>
          <p:nvPr/>
        </p:nvSpPr>
        <p:spPr>
          <a:xfrm rot="0" flipH="false" flipV="false">
            <a:off x="5334000" y="4254500"/>
            <a:ext cx="120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提供权威信息，解答疑问，降低决策风险，建立专业信任。</a:t>
            </a:r>
            <a:endParaRPr lang="en-US" sz="1100"/>
          </a:p>
        </p:txBody>
      </p:sp>
      <p:cxnSp>
        <p:nvCxnSpPr>
          <p:cNvPr name="Connector 59" id="59"/>
          <p:cNvCxnSpPr/>
          <p:nvPr/>
        </p:nvCxnSpPr>
        <p:spPr>
          <a:xfrm rot="5331254" flipH="false" flipV="false">
            <a:off x="6413500" y="4565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60" id="60"/>
          <p:cNvSpPr/>
          <p:nvPr/>
        </p:nvSpPr>
        <p:spPr>
          <a:xfrm rot="0" flipH="false" flipV="false">
            <a:off x="6794500" y="4254500"/>
            <a:ext cx="2730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299E1"/>
                </a:solidFill>
                <a:latin typeface="Noto Sans SC"/>
                <a:ea typeface="Noto Sans SC"/>
                <a:cs typeface="Noto Sans SC"/>
                <a:sym typeface="Noto Sans SC"/>
              </a:rPr>
              <a:t>权威背书+答疑解惑：</a:t>
            </a:r>
            <a:r>
              <a:rPr lang="en-US" b="false" i="false" strike="noStrike" u="none" sz="1200">
                <a:solidFill>
                  <a:srgbClr val="505050"/>
                </a:solidFill>
                <a:latin typeface="Noto Sans SC"/>
                <a:ea typeface="Noto Sans SC"/>
                <a:cs typeface="Noto Sans SC"/>
                <a:sym typeface="Noto Sans SC"/>
              </a:rPr>
              <a:t>发布白皮书、专家评测，完善FAQ体系，发放试用权益消除顾虑。</a:t>
            </a:r>
            <a:endParaRPr lang="en-US" sz="1100"/>
          </a:p>
        </p:txBody>
      </p:sp>
      <p:cxnSp>
        <p:nvCxnSpPr>
          <p:cNvPr name="Connector 61" id="61"/>
          <p:cNvCxnSpPr/>
          <p:nvPr/>
        </p:nvCxnSpPr>
        <p:spPr>
          <a:xfrm rot="5331254" flipH="false" flipV="false">
            <a:off x="9334500" y="4565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62" id="62"/>
          <p:cNvSpPr/>
          <p:nvPr/>
        </p:nvSpPr>
        <p:spPr>
          <a:xfrm rot="0" flipH="false" flipV="false">
            <a:off x="9715500" y="4254500"/>
            <a:ext cx="1651000" cy="635000"/>
          </a:xfrm>
          <a:prstGeom prst="roundRect">
            <a:avLst>
              <a:gd name="adj" fmla="val 0"/>
            </a:avLst>
          </a:prstGeom>
          <a:solidFill>
            <a:srgbClr val="4299E1">
              <a:alpha val="1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3" id="63"/>
          <p:cNvSpPr/>
          <p:nvPr/>
        </p:nvSpPr>
        <p:spPr>
          <a:xfrm rot="0" flipH="false" flipV="false">
            <a:off x="9779000" y="4318000"/>
            <a:ext cx="152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299E1"/>
                </a:solidFill>
                <a:latin typeface="Noto Sans SC"/>
                <a:ea typeface="Noto Sans SC"/>
                <a:cs typeface="Noto Sans SC"/>
                <a:sym typeface="Noto Sans SC"/>
              </a:rPr>
              <a:t>搜索量、留资量</a:t>
            </a:r>
            <a:endParaRPr lang="en-US" sz="1100"/>
          </a:p>
        </p:txBody>
      </p:sp>
      <p:sp>
        <p:nvSpPr>
          <p:cNvPr name="AutoShape 64" id="64"/>
          <p:cNvSpPr/>
          <p:nvPr/>
        </p:nvSpPr>
        <p:spPr>
          <a:xfrm rot="0" flipH="false" flipV="false">
            <a:off x="762000" y="5080000"/>
            <a:ext cx="10668000" cy="762000"/>
          </a:xfrm>
          <a:prstGeom prst="roundRect">
            <a:avLst>
              <a:gd name="adj" fmla="val 0"/>
            </a:avLst>
          </a:prstGeom>
          <a:solidFill>
            <a:srgbClr val="FFFFFF">
              <a:alpha val="6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5" id="65"/>
          <p:cNvSpPr/>
          <p:nvPr/>
        </p:nvSpPr>
        <p:spPr>
          <a:xfrm rot="0" flipH="false" flipV="false">
            <a:off x="762000" y="5080000"/>
            <a:ext cx="50800" cy="762000"/>
          </a:xfrm>
          <a:prstGeom prst="roundRect">
            <a:avLst>
              <a:gd name="adj" fmla="val 0"/>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6" id="66"/>
          <p:cNvSpPr/>
          <p:nvPr/>
        </p:nvSpPr>
        <p:spPr>
          <a:xfrm rot="0" flipH="false" flipV="false">
            <a:off x="889000" y="51435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Act · 转化期</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666666"/>
                </a:solidFill>
                <a:latin typeface="Noto Sans SC"/>
                <a:ea typeface="Noto Sans SC"/>
                <a:cs typeface="Noto Sans SC"/>
                <a:sym typeface="Noto Sans SC"/>
              </a:rPr>
              <a:t>完成关键转化</a:t>
            </a:r>
          </a:p>
        </p:txBody>
      </p:sp>
      <p:sp>
        <p:nvSpPr>
          <p:cNvPr name="AutoShape 67" id="67"/>
          <p:cNvSpPr/>
          <p:nvPr/>
        </p:nvSpPr>
        <p:spPr>
          <a:xfrm rot="0" flipH="false" flipV="false">
            <a:off x="2362200" y="5346700"/>
            <a:ext cx="228600" cy="228600"/>
          </a:xfrm>
          <a:prstGeom prst="rightArrow">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cxnSp>
        <p:nvCxnSpPr>
          <p:cNvPr name="Connector 68" id="68"/>
          <p:cNvCxnSpPr/>
          <p:nvPr/>
        </p:nvCxnSpPr>
        <p:spPr>
          <a:xfrm rot="5331254" flipH="false" flipV="false">
            <a:off x="2476500" y="5454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69" id="69"/>
          <p:cNvSpPr/>
          <p:nvPr/>
        </p:nvSpPr>
        <p:spPr>
          <a:xfrm rot="0" flipH="false" flipV="false">
            <a:off x="2857500" y="5143500"/>
            <a:ext cx="190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完成购买、注册、下载等核心行为，是营销链路的关键结果。</a:t>
            </a:r>
            <a:endParaRPr lang="en-US" sz="1100"/>
          </a:p>
        </p:txBody>
      </p:sp>
      <p:cxnSp>
        <p:nvCxnSpPr>
          <p:cNvPr name="Connector 70" id="70"/>
          <p:cNvCxnSpPr/>
          <p:nvPr/>
        </p:nvCxnSpPr>
        <p:spPr>
          <a:xfrm rot="5331254" flipH="false" flipV="false">
            <a:off x="4508500" y="5454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71" id="71"/>
          <p:cNvSpPr/>
          <p:nvPr/>
        </p:nvSpPr>
        <p:spPr>
          <a:xfrm rot="0" flipH="false" flipV="false">
            <a:off x="4889500" y="5283200"/>
            <a:ext cx="355600" cy="355600"/>
          </a:xfrm>
          <a:prstGeom prst="ellipse">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72" id="72"/>
          <p:cNvSpPr/>
          <p:nvPr/>
        </p:nvSpPr>
        <p:spPr>
          <a:xfrm rot="0" flipH="false" flipV="false">
            <a:off x="4889500" y="5334000"/>
            <a:ext cx="3556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FFFFFF"/>
                </a:solidFill>
                <a:latin typeface="Noto Sans SC"/>
                <a:ea typeface="Noto Sans SC"/>
                <a:cs typeface="Noto Sans SC"/>
                <a:sym typeface="Noto Sans SC"/>
              </a:rPr>
              <a:t>行动</a:t>
            </a:r>
            <a:endParaRPr lang="en-US" sz="1100"/>
          </a:p>
        </p:txBody>
      </p:sp>
      <p:sp>
        <p:nvSpPr>
          <p:cNvPr name="AutoShape 73" id="73"/>
          <p:cNvSpPr/>
          <p:nvPr/>
        </p:nvSpPr>
        <p:spPr>
          <a:xfrm rot="0" flipH="false" flipV="false">
            <a:off x="5334000" y="5143500"/>
            <a:ext cx="1206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通过临门一脚的刺激，简化路径，高效促成用户完成转化。</a:t>
            </a:r>
            <a:endParaRPr lang="en-US" sz="1100"/>
          </a:p>
        </p:txBody>
      </p:sp>
      <p:cxnSp>
        <p:nvCxnSpPr>
          <p:cNvPr name="Connector 74" id="74"/>
          <p:cNvCxnSpPr/>
          <p:nvPr/>
        </p:nvCxnSpPr>
        <p:spPr>
          <a:xfrm rot="5331254" flipH="false" flipV="false">
            <a:off x="6413500" y="5454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75" id="75"/>
          <p:cNvSpPr/>
          <p:nvPr/>
        </p:nvSpPr>
        <p:spPr>
          <a:xfrm rot="0" flipH="false" flipV="false">
            <a:off x="6794500" y="5143500"/>
            <a:ext cx="2730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2C5282"/>
                </a:solidFill>
                <a:latin typeface="Noto Sans SC"/>
                <a:ea typeface="Noto Sans SC"/>
                <a:cs typeface="Noto Sans SC"/>
                <a:sym typeface="Noto Sans SC"/>
              </a:rPr>
              <a:t>促销刺激+无缝体验：</a:t>
            </a:r>
            <a:r>
              <a:rPr lang="en-US" b="false" i="false" strike="noStrike" u="none" sz="1200">
                <a:solidFill>
                  <a:srgbClr val="505050"/>
                </a:solidFill>
                <a:latin typeface="Noto Sans SC"/>
                <a:ea typeface="Noto Sans SC"/>
                <a:cs typeface="Noto Sans SC"/>
                <a:sym typeface="Noto Sans SC"/>
              </a:rPr>
              <a:t>利用限时优惠、直播秒杀引导下单，嵌入一键购买链接缩短路径。</a:t>
            </a:r>
            <a:endParaRPr lang="en-US" sz="1100"/>
          </a:p>
        </p:txBody>
      </p:sp>
      <p:cxnSp>
        <p:nvCxnSpPr>
          <p:cNvPr name="Connector 76" id="76"/>
          <p:cNvCxnSpPr/>
          <p:nvPr/>
        </p:nvCxnSpPr>
        <p:spPr>
          <a:xfrm rot="5331254" flipH="false" flipV="false">
            <a:off x="9334500" y="5454713"/>
            <a:ext cx="635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77" id="77"/>
          <p:cNvSpPr/>
          <p:nvPr/>
        </p:nvSpPr>
        <p:spPr>
          <a:xfrm rot="0" flipH="false" flipV="false">
            <a:off x="9715500" y="5143500"/>
            <a:ext cx="1651000" cy="635000"/>
          </a:xfrm>
          <a:prstGeom prst="roundRect">
            <a:avLst>
              <a:gd name="adj" fmla="val 0"/>
            </a:avLst>
          </a:prstGeom>
          <a:solidFill>
            <a:srgbClr val="2C5282">
              <a:alpha val="1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78" id="78"/>
          <p:cNvSpPr/>
          <p:nvPr/>
        </p:nvSpPr>
        <p:spPr>
          <a:xfrm rot="0" flipH="false" flipV="false">
            <a:off x="9779000" y="5207000"/>
            <a:ext cx="152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C5282"/>
                </a:solidFill>
                <a:latin typeface="Noto Sans SC"/>
                <a:ea typeface="Noto Sans SC"/>
                <a:cs typeface="Noto Sans SC"/>
                <a:sym typeface="Noto Sans SC"/>
              </a:rPr>
              <a:t>转化率、ROI</a:t>
            </a:r>
            <a:endParaRPr lang="en-US" sz="1100"/>
          </a:p>
        </p:txBody>
      </p:sp>
      <p:sp>
        <p:nvSpPr>
          <p:cNvPr name="AutoShape 79" id="79"/>
          <p:cNvSpPr/>
          <p:nvPr/>
        </p:nvSpPr>
        <p:spPr>
          <a:xfrm rot="0" flipH="false" flipV="false">
            <a:off x="762000" y="5969000"/>
            <a:ext cx="10668000" cy="698500"/>
          </a:xfrm>
          <a:prstGeom prst="roundRect">
            <a:avLst>
              <a:gd name="adj" fmla="val 0"/>
            </a:avLst>
          </a:prstGeom>
          <a:solidFill>
            <a:srgbClr val="2C5282">
              <a:alpha val="6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80" id="80"/>
          <p:cNvSpPr/>
          <p:nvPr/>
        </p:nvSpPr>
        <p:spPr>
          <a:xfrm rot="0" flipH="false" flipV="false">
            <a:off x="762000" y="5969000"/>
            <a:ext cx="50800" cy="698500"/>
          </a:xfrm>
          <a:prstGeom prst="roundRect">
            <a:avLst>
              <a:gd name="adj" fmla="val 0"/>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81" id="81"/>
          <p:cNvSpPr/>
          <p:nvPr/>
        </p:nvSpPr>
        <p:spPr>
          <a:xfrm rot="0" flipH="false" flipV="false">
            <a:off x="889000" y="6032500"/>
            <a:ext cx="1397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Advocate · 沉淀期</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000">
                <a:solidFill>
                  <a:srgbClr val="666666"/>
                </a:solidFill>
                <a:latin typeface="Noto Sans SC"/>
                <a:ea typeface="Noto Sans SC"/>
                <a:cs typeface="Noto Sans SC"/>
                <a:sym typeface="Noto Sans SC"/>
              </a:rPr>
              <a:t>自发口碑传播</a:t>
            </a:r>
          </a:p>
        </p:txBody>
      </p:sp>
      <p:sp>
        <p:nvSpPr>
          <p:cNvPr name="AutoShape 82" id="82"/>
          <p:cNvSpPr/>
          <p:nvPr/>
        </p:nvSpPr>
        <p:spPr>
          <a:xfrm rot="0" flipH="false" flipV="false">
            <a:off x="2362200" y="6197600"/>
            <a:ext cx="228600" cy="228600"/>
          </a:xfrm>
          <a:prstGeom prst="rightArrow">
            <a:avLst/>
          </a:prstGeom>
          <a:solidFill>
            <a:srgbClr val="4299E1">
              <a:alpha val="100000"/>
            </a:srgbClr>
          </a:solidFill>
          <a:ln w="25400" cmpd="sng" cap="flat">
            <a:noFill/>
            <a:prstDash val="solid"/>
            <a:round/>
          </a:ln>
        </p:spPr>
        <p:txBody>
          <a:bodyPr anchor="ctr" rtlCol="false" vert="horz" lIns="63500" rIns="63500" tIns="63500" bIns="63500"/>
          <a:lstStyle/>
          <a:p>
            <a:pPr algn="ctr">
              <a:defRPr/>
            </a:pPr>
            <a:endParaRPr/>
          </a:p>
        </p:txBody>
      </p:sp>
      <p:cxnSp>
        <p:nvCxnSpPr>
          <p:cNvPr name="Connector 83" id="83"/>
          <p:cNvCxnSpPr/>
          <p:nvPr/>
        </p:nvCxnSpPr>
        <p:spPr>
          <a:xfrm rot="5323618" flipH="false" flipV="false">
            <a:off x="2508250" y="6311971"/>
            <a:ext cx="5715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84" id="84"/>
          <p:cNvSpPr/>
          <p:nvPr/>
        </p:nvSpPr>
        <p:spPr>
          <a:xfrm rot="0" flipH="false" flipV="false">
            <a:off x="2857500" y="6032500"/>
            <a:ext cx="1905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用户自发推荐、分享，成为品牌代言人，形成持续的裂变传播。</a:t>
            </a:r>
            <a:endParaRPr lang="en-US" sz="1100"/>
          </a:p>
        </p:txBody>
      </p:sp>
      <p:cxnSp>
        <p:nvCxnSpPr>
          <p:cNvPr name="Connector 85" id="85"/>
          <p:cNvCxnSpPr/>
          <p:nvPr/>
        </p:nvCxnSpPr>
        <p:spPr>
          <a:xfrm rot="5323618" flipH="false" flipV="false">
            <a:off x="4540250" y="6311971"/>
            <a:ext cx="5715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86" id="86"/>
          <p:cNvSpPr/>
          <p:nvPr/>
        </p:nvSpPr>
        <p:spPr>
          <a:xfrm rot="0" flipH="false" flipV="false">
            <a:off x="4889500" y="6134100"/>
            <a:ext cx="355600" cy="355600"/>
          </a:xfrm>
          <a:prstGeom prst="ellipse">
            <a:avLst/>
          </a:prstGeom>
          <a:solidFill>
            <a:srgbClr val="2C528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87" id="87"/>
          <p:cNvSpPr/>
          <p:nvPr/>
        </p:nvSpPr>
        <p:spPr>
          <a:xfrm rot="0" flipH="false" flipV="false">
            <a:off x="4889500" y="6184900"/>
            <a:ext cx="3556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100">
                <a:solidFill>
                  <a:srgbClr val="FFFFFF"/>
                </a:solidFill>
                <a:latin typeface="Noto Sans SC"/>
                <a:ea typeface="Noto Sans SC"/>
                <a:cs typeface="Noto Sans SC"/>
                <a:sym typeface="Noto Sans SC"/>
              </a:rPr>
              <a:t>拥护</a:t>
            </a:r>
            <a:endParaRPr lang="en-US" sz="1100"/>
          </a:p>
        </p:txBody>
      </p:sp>
      <p:sp>
        <p:nvSpPr>
          <p:cNvPr name="AutoShape 88" id="88"/>
          <p:cNvSpPr/>
          <p:nvPr/>
        </p:nvSpPr>
        <p:spPr>
          <a:xfrm rot="0" flipH="false" flipV="false">
            <a:off x="5334000" y="6032500"/>
            <a:ext cx="1206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333333"/>
                </a:solidFill>
                <a:latin typeface="Noto Sans SC"/>
                <a:ea typeface="Noto Sans SC"/>
                <a:cs typeface="Noto Sans SC"/>
                <a:sym typeface="Noto Sans SC"/>
              </a:rPr>
              <a:t>提升用户忠诚度，促进复购，让用户成为品牌的长期资产。</a:t>
            </a:r>
            <a:endParaRPr lang="en-US" sz="1100"/>
          </a:p>
        </p:txBody>
      </p:sp>
      <p:cxnSp>
        <p:nvCxnSpPr>
          <p:cNvPr name="Connector 89" id="89"/>
          <p:cNvCxnSpPr/>
          <p:nvPr/>
        </p:nvCxnSpPr>
        <p:spPr>
          <a:xfrm rot="5323618" flipH="false" flipV="false">
            <a:off x="6445250" y="6311971"/>
            <a:ext cx="5715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90" id="90"/>
          <p:cNvSpPr/>
          <p:nvPr/>
        </p:nvSpPr>
        <p:spPr>
          <a:xfrm rot="0" flipH="false" flipV="false">
            <a:off x="6794500" y="6032500"/>
            <a:ext cx="2730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2C5282"/>
                </a:solidFill>
                <a:latin typeface="Noto Sans SC"/>
                <a:ea typeface="Noto Sans SC"/>
                <a:cs typeface="Noto Sans SC"/>
                <a:sym typeface="Noto Sans SC"/>
              </a:rPr>
              <a:t>会员体系+口碑裂变：</a:t>
            </a:r>
            <a:r>
              <a:rPr lang="en-US" b="false" i="false" strike="noStrike" u="none" sz="1200">
                <a:solidFill>
                  <a:srgbClr val="505050"/>
                </a:solidFill>
                <a:latin typeface="Noto Sans SC"/>
                <a:ea typeface="Noto Sans SC"/>
                <a:cs typeface="Noto Sans SC"/>
                <a:sym typeface="Noto Sans SC"/>
              </a:rPr>
              <a:t>搭建会员权益激励分享，引导UGC内容创作，沉淀品牌口碑资产。</a:t>
            </a:r>
            <a:endParaRPr lang="en-US" sz="1100"/>
          </a:p>
        </p:txBody>
      </p:sp>
      <p:cxnSp>
        <p:nvCxnSpPr>
          <p:cNvPr name="Connector 91" id="91"/>
          <p:cNvCxnSpPr/>
          <p:nvPr/>
        </p:nvCxnSpPr>
        <p:spPr>
          <a:xfrm rot="5323618" flipH="false" flipV="false">
            <a:off x="9366250" y="6311971"/>
            <a:ext cx="5715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92" id="92"/>
          <p:cNvSpPr/>
          <p:nvPr/>
        </p:nvSpPr>
        <p:spPr>
          <a:xfrm rot="0" flipH="false" flipV="false">
            <a:off x="9715500" y="6032500"/>
            <a:ext cx="1651000" cy="571500"/>
          </a:xfrm>
          <a:prstGeom prst="roundRect">
            <a:avLst>
              <a:gd name="adj" fmla="val 0"/>
            </a:avLst>
          </a:prstGeom>
          <a:solidFill>
            <a:srgbClr val="2C5282">
              <a:alpha val="1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93" id="93"/>
          <p:cNvSpPr/>
          <p:nvPr/>
        </p:nvSpPr>
        <p:spPr>
          <a:xfrm rot="0" flipH="false" flipV="false">
            <a:off x="9779000" y="6096000"/>
            <a:ext cx="1524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C5282"/>
                </a:solidFill>
                <a:latin typeface="Noto Sans SC"/>
                <a:ea typeface="Noto Sans SC"/>
                <a:cs typeface="Noto Sans SC"/>
                <a:sym typeface="Noto Sans SC"/>
              </a:rPr>
              <a:t>净推荐值(NPS)、复购率</a:t>
            </a:r>
            <a:endParaRPr lang="en-US" sz="1100"/>
          </a:p>
        </p:txBody>
      </p:sp>
      <p:sp>
        <p:nvSpPr>
          <p:cNvPr name="AutoShape 94" id="94"/>
          <p:cNvSpPr/>
          <p:nvPr/>
        </p:nvSpPr>
        <p:spPr>
          <a:xfrm rot="0" flipH="false" flipV="false">
            <a:off x="10414000" y="508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200">
                <a:solidFill>
                  <a:srgbClr val="969696"/>
                </a:solidFill>
                <a:latin typeface="Noto Sans SC"/>
                <a:ea typeface="Noto Sans SC"/>
                <a:cs typeface="Noto Sans SC"/>
                <a:sym typeface="Noto Sans SC"/>
              </a:rPr>
              <a:t>医者PPT</a:t>
            </a:r>
            <a:endParaRPr lang="en-US" sz="1100"/>
          </a:p>
        </p:txBody>
      </p:sp>
      <p:pic>
        <p:nvPicPr>
          <p:cNvPr name="Picture 95" id="95"/>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{"Label":"1","ContentProducer":"001191110102MACQD9K64010000","ProduceID":"7656110684430945216","ReservedCode1":"","ContentPropagator":"","PropagateID":"","ReservedCode2":""}</vt:lpwstr>
  </property>
</Properties>
</file>