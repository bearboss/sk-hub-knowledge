
<file path=[Content_Types].xml><?xml version="1.0" encoding="utf-8"?>
<Types xmlns="http://schemas.openxmlformats.org/package/2006/content-types">
  <Default ContentType="image/png" Extension="png"/>
  <Default ContentType="application/vnd.openxmlformats-package.relationships+xml" Extension="rels"/>
  <Default ContentType="image/svg+xml" Extension="svg"/>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Override PartName="/docProps/custom.xml" ContentType="application/vnd.openxmlformats-officedocument.custom-propertie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 Id="rId3"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Lst>
  <p:notesMasterIdLst>
    <p:notesMasterId r:id="rId6"/>
  </p:notesMasterIdLst>
  <p:sldIdLst>
    <p:sldId id="256" r:id="rId9"/>
    <p:sldId id="257" r:id="rId10"/>
    <p:sldId id="258" r:id="rId11"/>
    <p:sldId id="259" r:id="rId12"/>
  </p:sldIdLst>
  <p:sldSz cx="12192000" cy="6858000"/>
  <p:notesSz cx="6858000" cy="9144000"/>
  <p:defaultTextStyle>
    <a:defPPr lvl="0" marR="0" rtl="0" algn="l">
      <a:lnSpc>
        <a:spcPct val="100000"/>
      </a:lnSpc>
      <a:spcBef>
        <a:spcPts val="0"/>
      </a:spcBef>
      <a:spcAft>
        <a:spcPts val="0"/>
      </a:spcAft>
    </a:defPPr>
    <a:lvl1pPr lvl="0" marR="0" rtl="0" algn="l" marL="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marL="4572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marL="9144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marL="13716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marL="18288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marL="22860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marL="27432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marL="32004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marL="36576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s/slide2.xml" Type="http://schemas.openxmlformats.org/officeDocument/2006/relationships/slide"/><Relationship Id="rId11" Target="slides/slide3.xml" Type="http://schemas.openxmlformats.org/officeDocument/2006/relationships/slide"/><Relationship Id="rId12" Target="slides/slide4.xml" Type="http://schemas.openxmlformats.org/officeDocument/2006/relationships/slide"/><Relationship Id="rId13" Target="notesSlides/notesSlide1.xml" Type="http://schemas.openxmlformats.org/officeDocument/2006/relationships/notesSlide"/><Relationship Id="rId14" Target="notesSlides/notesSlide2.xml" Type="http://schemas.openxmlformats.org/officeDocument/2006/relationships/notesSlide"/><Relationship Id="rId15" Target="notesSlides/notesSlide3.xml" Type="http://schemas.openxmlformats.org/officeDocument/2006/relationships/notesSlide"/><Relationship Id="rId16" Target="notesSlides/notesSlide4.xml" Type="http://schemas.openxmlformats.org/officeDocument/2006/relationships/notesSlide"/><Relationship Id="rId2" Target="viewProps.xml" Type="http://schemas.openxmlformats.org/officeDocument/2006/relationships/viewProps"/><Relationship Id="rId3" Target="presProps.xml" Type="http://schemas.openxmlformats.org/officeDocument/2006/relationships/presProps"/><Relationship Id="rId4" Target="slideMasters/slideMaster1.xml" Type="http://schemas.openxmlformats.org/officeDocument/2006/relationships/slideMaster"/><Relationship Id="rId6" Target="notesMasters/notesMaster1.xml" Type="http://schemas.openxmlformats.org/officeDocument/2006/relationships/notesMaster"/><Relationship Id="rId7" Target="theme/theme2.xml" Type="http://schemas.openxmlformats.org/officeDocument/2006/relationships/theme"/><Relationship Id="rId8" Target="slideMasters/slideMaster2.xml" Type="http://schemas.openxmlformats.org/officeDocument/2006/relationships/slideMaster"/><Relationship Id="rId9" Target="slides/slide1.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大家好，这张图展示了一个复杂的业务或数据处理流程。我们可以将其分为上下两个主要部分。</a:t>
            </a:r>
          </a:p>
          <a:p>
            <a:pPr algn="l" marL="0" indent="0">
              <a:lnSpc>
                <a:spcPct val="100000"/>
              </a:lnSpc>
            </a:pPr>
            <a:r>
              <a:rPr lang="en-US" b="false" i="false" strike="noStrike" u="none" sz="1400">
                <a:solidFill>
                  <a:srgbClr val="000000"/>
                </a:solidFill>
              </a:rPr>
              <a:t>在上半部分，我们看到流程的输入端。左侧是原始内容输入区，中间是主题选择区，右侧是更具体的主题输入区。这些输入经过初步处理后，汇集到右侧的队列中。</a:t>
            </a:r>
          </a:p>
          <a:p>
            <a:pPr algn="l" marL="0" indent="0">
              <a:lnSpc>
                <a:spcPct val="100000"/>
              </a:lnSpc>
            </a:pPr>
            <a:r>
              <a:rPr lang="en-US" b="false" i="false" strike="noStrike" u="none" sz="1400">
                <a:solidFill>
                  <a:srgbClr val="000000"/>
                </a:solidFill>
              </a:rPr>
              <a:t>然后，通过一个红色箭头，流程进入下半部分。这里展示了具体的处理和输出环节。左侧是核心的处理流程，中间的双向箭头表示可能存在的反馈或交互环节，右侧则可能涉及到人的参与。</a:t>
            </a:r>
          </a:p>
          <a:p>
            <a:pPr algn="l" marL="0" indent="0">
              <a:lnSpc>
                <a:spcPct val="100000"/>
              </a:lnSpc>
            </a:pPr>
            <a:r>
              <a:rPr lang="en-US" b="false" i="false" strike="noStrike" u="none" sz="1400">
                <a:solidFill>
                  <a:srgbClr val="000000"/>
                </a:solidFill>
              </a:rPr>
              <a:t>最终，流程的结果体现在底部的五个输出模块中，每个模块都展示了一个具体的成果及其可视化图表。整个流程图清晰地描绘了从输入、处理到最终产出的完整路径。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这张图展示了一个从多源输入到多路径处理，最终产出多样化结果的复杂业务流程系统。</a:t>
            </a:r>
          </a:p>
          <a:p>
            <a:pPr algn="l" marL="0" indent="0">
              <a:lnSpc>
                <a:spcPct val="100000"/>
              </a:lnSpc>
            </a:pPr>
            <a:r>
              <a:rPr lang="en-US" b="false" i="false" strike="noStrike" u="none" sz="1400">
                <a:solidFill>
                  <a:srgbClr val="000000"/>
                </a:solidFill>
              </a:rPr>
              <a:t>首先看左侧，这是流程的输入端。我们通过主题定义与角色锚定，确立了业务的核心方向。在多源内容录入区，我们同时处理结构化的CRM数据和非结构化的访谈、影像素材，确保信息的全面性。随后，系统发散出四条处理路径：标准化的SOP处理流、情感化的内容定制流、自动化的渠道分发以及专家人工审核，确保了处理过程的严谨与灵活。</a:t>
            </a:r>
          </a:p>
          <a:p>
            <a:pPr algn="l" marL="0" indent="0">
              <a:lnSpc>
                <a:spcPct val="100000"/>
              </a:lnSpc>
            </a:pPr>
            <a:r>
              <a:rPr lang="en-US" b="false" i="false" strike="noStrike" u="none" sz="1400">
                <a:solidFill>
                  <a:srgbClr val="000000"/>
                </a:solidFill>
              </a:rPr>
              <a:t>流程进入右侧后，我们进入了核心配置与产出阶段。在黄色的配置池中，预设了策略、执行、评估三个层级的分类标签。系统根据这些配置，最终生成三类核心产出物：结构化的分析报告、个性化的建议清单以及全链路的执行方案，完整覆盖了从决策到落地的全生命周期需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这张图展示了我们全年的主要工作规划，分为四个季度。</a:t>
            </a:r>
          </a:p>
          <a:p>
            <a:pPr algn="l" marL="0" indent="0">
              <a:lnSpc>
                <a:spcPct val="100000"/>
              </a:lnSpc>
            </a:pPr>
            <a:r>
              <a:rPr lang="en-US" b="false" i="false" strike="noStrike" u="none" sz="1400">
                <a:solidFill>
                  <a:srgbClr val="000000"/>
                </a:solidFill>
              </a:rPr>
              <a:t>第一季度，我们的重点是“夯实基础，布局全年”，包括制定策略、升级物料和策划开年活动。</a:t>
            </a:r>
          </a:p>
          <a:p>
            <a:pPr algn="l" marL="0" indent="0">
              <a:lnSpc>
                <a:spcPct val="100000"/>
              </a:lnSpc>
            </a:pPr>
            <a:r>
              <a:rPr lang="en-US" b="false" i="false" strike="noStrike" u="none" sz="1400">
                <a:solidFill>
                  <a:srgbClr val="000000"/>
                </a:solidFill>
              </a:rPr>
              <a:t>第二季度，我们将“重点突破，引爆增长”，核心是围绕618大促打造高影响力事件，并加强线索转化。</a:t>
            </a:r>
          </a:p>
          <a:p>
            <a:pPr algn="l" marL="0" indent="0">
              <a:lnSpc>
                <a:spcPct val="100000"/>
              </a:lnSpc>
            </a:pPr>
            <a:r>
              <a:rPr lang="en-US" b="false" i="false" strike="noStrike" u="none" sz="1400">
                <a:solidFill>
                  <a:srgbClr val="000000"/>
                </a:solidFill>
              </a:rPr>
              <a:t>第三季度，我们的目标是“稳定增长，提升存量”，通过精细化运营和成本优化，为年终冲刺做好准备。</a:t>
            </a:r>
          </a:p>
          <a:p>
            <a:pPr algn="l" marL="0" indent="0">
              <a:lnSpc>
                <a:spcPct val="100000"/>
              </a:lnSpc>
            </a:pPr>
            <a:r>
              <a:rPr lang="en-US" b="false" i="false" strike="noStrike" u="none" sz="1400">
                <a:solidFill>
                  <a:srgbClr val="000000"/>
                </a:solidFill>
              </a:rPr>
              <a:t>最后，第四季度是“全力冲刺，圆满收官”，我们将全力执行双十一大促，并完成全年复盘和下一年规划。</a:t>
            </a:r>
          </a:p>
          <a:p>
            <a:pPr algn="l" marL="0" indent="0">
              <a:lnSpc>
                <a:spcPct val="100000"/>
              </a:lnSpc>
            </a:pPr>
            <a:r>
              <a:rPr lang="en-US" b="false" i="false" strike="noStrike" u="none" sz="1400">
                <a:solidFill>
                  <a:srgbClr val="000000"/>
                </a:solidFill>
              </a:rPr>
              <a:t>这个规划图清晰地展示了我们全年的工作节奏和重点。</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大家好，今天我们来学习一个非常经典的营销模型——内容营销5A模型。这个模型清晰地描绘了用户从接触品牌到最终成为品牌拥护者的完整路径。</a:t>
            </a:r>
          </a:p>
          <a:p>
            <a:pPr algn="l" marL="0" indent="0">
              <a:lnSpc>
                <a:spcPct val="100000"/>
              </a:lnSpc>
            </a:pPr>
            <a:r>
              <a:rPr lang="en-US" b="false" i="false" strike="noStrike" u="none" sz="1400">
                <a:solidFill>
                  <a:srgbClr val="000000"/>
                </a:solidFill>
              </a:rPr>
              <a:t>整个过程分为五个阶段：Aware（了解）、Appeal（吸引）、Ask（问询）、Act（行动）和Advocate（拥护）。</a:t>
            </a:r>
          </a:p>
          <a:p>
            <a:pPr algn="l" marL="0" indent="0">
              <a:lnSpc>
                <a:spcPct val="100000"/>
              </a:lnSpc>
            </a:pPr>
            <a:r>
              <a:rPr lang="en-US" b="false" i="false" strike="noStrike" u="none" sz="1400">
                <a:solidFill>
                  <a:srgbClr val="000000"/>
                </a:solidFill>
              </a:rPr>
              <a:t>在第一个阶段“了解”，我们的核心目标是扩大品牌触达面，通过广泛曝光让用户首次接触到我们。</a:t>
            </a:r>
          </a:p>
          <a:p>
            <a:pPr algn="l" marL="0" indent="0">
              <a:lnSpc>
                <a:spcPct val="100000"/>
              </a:lnSpc>
            </a:pPr>
            <a:r>
              <a:rPr lang="en-US" b="false" i="false" strike="noStrike" u="none" sz="1400">
                <a:solidFill>
                  <a:srgbClr val="000000"/>
                </a:solidFill>
              </a:rPr>
              <a:t>进入“吸引”阶段，我们需要通过有深度、有故事性的内容激发用户的兴趣和互动。</a:t>
            </a:r>
          </a:p>
          <a:p>
            <a:pPr algn="l" marL="0" indent="0">
              <a:lnSpc>
                <a:spcPct val="100000"/>
              </a:lnSpc>
            </a:pPr>
            <a:r>
              <a:rPr lang="en-US" b="false" i="false" strike="noStrike" u="none" sz="1400">
                <a:solidFill>
                  <a:srgbClr val="000000"/>
                </a:solidFill>
              </a:rPr>
              <a:t>当用户开始“问询”，主动搜索更多信息时，我们要提供权威的解答和深度内容，帮助他们建立信任。</a:t>
            </a:r>
          </a:p>
          <a:p>
            <a:pPr algn="l" marL="0" indent="0">
              <a:lnSpc>
                <a:spcPct val="100000"/>
              </a:lnSpc>
            </a:pPr>
            <a:r>
              <a:rPr lang="en-US" b="false" i="false" strike="noStrike" u="none" sz="1400">
                <a:solidFill>
                  <a:srgbClr val="000000"/>
                </a:solidFill>
              </a:rPr>
              <a:t>接下来是关键的“行动”阶段，通过促销刺激和优化的购买体验，促成用户完成转化。</a:t>
            </a:r>
          </a:p>
          <a:p>
            <a:pPr algn="l" marL="0" indent="0">
              <a:lnSpc>
                <a:spcPct val="100000"/>
              </a:lnSpc>
            </a:pPr>
            <a:r>
              <a:rPr lang="en-US" b="false" i="false" strike="noStrike" u="none" sz="1400">
                <a:solidFill>
                  <a:srgbClr val="000000"/>
                </a:solidFill>
              </a:rPr>
              <a:t>最后，在“拥护”阶段，我们通过会员体系和口碑营销，将用户转化为品牌的忠实粉丝，让他们自发地进行传播和推荐。</a:t>
            </a:r>
          </a:p>
          <a:p>
            <a:pPr algn="l" marL="0" indent="0">
              <a:lnSpc>
                <a:spcPct val="100000"/>
              </a:lnSpc>
            </a:pPr>
            <a:r>
              <a:rPr lang="en-US" b="false" i="false" strike="noStrike" u="none" sz="1400">
                <a:solidFill>
                  <a:srgbClr val="000000"/>
                </a:solidFill>
              </a:rPr>
              <a:t>这个模型的每一步都对应着不同的内容策略和关键指标，为我们制定和评估内容营销活动提供了清晰的框架。</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2" Target="../slideLayouts/slideLayout12.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默认主题">
    <p:bg>
      <p:bgPr>
        <a:solidFill>
          <a:srgbClr val="FFFFFF">
            <a:alpha val="100000"/>
          </a:srgbClr>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5748369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18" Target="../media/image17.png" Type="http://schemas.openxmlformats.org/officeDocument/2006/relationships/image"/><Relationship Id="rId19" Target="../media/image18.svg" Type="http://schemas.openxmlformats.org/officeDocument/2006/relationships/image"/><Relationship Id="rId2" Target="../media/image1.png" Type="http://schemas.openxmlformats.org/officeDocument/2006/relationships/image"/><Relationship Id="rId20" Target="../media/image19.png" Type="http://schemas.openxmlformats.org/officeDocument/2006/relationships/image"/><Relationship Id="rId21" Target="../media/image20.svg" Type="http://schemas.openxmlformats.org/officeDocument/2006/relationships/image"/><Relationship Id="rId22" Target="../media/image21.png" Type="http://schemas.openxmlformats.org/officeDocument/2006/relationships/image"/><Relationship Id="rId23" Target="../media/image22.svg" Type="http://schemas.openxmlformats.org/officeDocument/2006/relationships/image"/><Relationship Id="rId24" Target="../media/image23.png" Type="http://schemas.openxmlformats.org/officeDocument/2006/relationships/image"/><Relationship Id="rId25" Target="../media/image24.svg" Type="http://schemas.openxmlformats.org/officeDocument/2006/relationships/image"/><Relationship Id="rId26" Target="../media/image25.png" Type="http://schemas.openxmlformats.org/officeDocument/2006/relationships/image"/><Relationship Id="rId27" Target="../media/image26.svg" Type="http://schemas.openxmlformats.org/officeDocument/2006/relationships/image"/><Relationship Id="rId28" Target="../notesSlides/notesSlide1.xml" Type="http://schemas.openxmlformats.org/officeDocument/2006/relationships/notesSlid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35.png" Type="http://schemas.openxmlformats.org/officeDocument/2006/relationships/image"/><Relationship Id="rId11" Target="../media/image36.svg" Type="http://schemas.openxmlformats.org/officeDocument/2006/relationships/image"/><Relationship Id="rId12" Target="../media/image37.png" Type="http://schemas.openxmlformats.org/officeDocument/2006/relationships/image"/><Relationship Id="rId13" Target="../media/image38.svg" Type="http://schemas.openxmlformats.org/officeDocument/2006/relationships/image"/><Relationship Id="rId14" Target="../media/image39.png" Type="http://schemas.openxmlformats.org/officeDocument/2006/relationships/image"/><Relationship Id="rId15" Target="../media/image40.svg" Type="http://schemas.openxmlformats.org/officeDocument/2006/relationships/image"/><Relationship Id="rId16" Target="../media/image41.png" Type="http://schemas.openxmlformats.org/officeDocument/2006/relationships/image"/><Relationship Id="rId17" Target="../media/image42.svg" Type="http://schemas.openxmlformats.org/officeDocument/2006/relationships/image"/><Relationship Id="rId18" Target="../media/image43.png" Type="http://schemas.openxmlformats.org/officeDocument/2006/relationships/image"/><Relationship Id="rId19" Target="../media/image44.svg" Type="http://schemas.openxmlformats.org/officeDocument/2006/relationships/image"/><Relationship Id="rId2" Target="../media/image27.png" Type="http://schemas.openxmlformats.org/officeDocument/2006/relationships/image"/><Relationship Id="rId20" Target="../media/image45.png" Type="http://schemas.openxmlformats.org/officeDocument/2006/relationships/image"/><Relationship Id="rId21" Target="../media/image46.svg" Type="http://schemas.openxmlformats.org/officeDocument/2006/relationships/image"/><Relationship Id="rId22" Target="../media/image47.png" Type="http://schemas.openxmlformats.org/officeDocument/2006/relationships/image"/><Relationship Id="rId23" Target="../media/image48.svg" Type="http://schemas.openxmlformats.org/officeDocument/2006/relationships/image"/><Relationship Id="rId24" Target="../notesSlides/notesSlide2.xml" Type="http://schemas.openxmlformats.org/officeDocument/2006/relationships/notesSlide"/><Relationship Id="rId3" Target="../media/image28.svg" Type="http://schemas.openxmlformats.org/officeDocument/2006/relationships/image"/><Relationship Id="rId4" Target="../media/image29.png" Type="http://schemas.openxmlformats.org/officeDocument/2006/relationships/image"/><Relationship Id="rId5" Target="../media/image30.svg" Type="http://schemas.openxmlformats.org/officeDocument/2006/relationships/image"/><Relationship Id="rId6" Target="../media/image31.png" Type="http://schemas.openxmlformats.org/officeDocument/2006/relationships/image"/><Relationship Id="rId7" Target="../media/image32.svg" Type="http://schemas.openxmlformats.org/officeDocument/2006/relationships/image"/><Relationship Id="rId8" Target="../media/image33.png" Type="http://schemas.openxmlformats.org/officeDocument/2006/relationships/image"/><Relationship Id="rId9" Target="../media/image3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3.xml" Type="http://schemas.openxmlformats.org/officeDocument/2006/relationships/notesSlide"/><Relationship Id="rId2" Target="../media/image49.png" Type="http://schemas.openxmlformats.org/officeDocument/2006/relationships/image"/><Relationship Id="rId3" Target="../media/image50.svg" Type="http://schemas.openxmlformats.org/officeDocument/2006/relationships/image"/><Relationship Id="rId4" Target="../media/image51.png" Type="http://schemas.openxmlformats.org/officeDocument/2006/relationships/image"/><Relationship Id="rId5" Target="../media/image52.svg" Type="http://schemas.openxmlformats.org/officeDocument/2006/relationships/image"/><Relationship Id="rId6" Target="../media/image53.png" Type="http://schemas.openxmlformats.org/officeDocument/2006/relationships/image"/><Relationship Id="rId7" Target="../media/image54.svg" Type="http://schemas.openxmlformats.org/officeDocument/2006/relationships/image"/><Relationship Id="rId8" Target="../media/image55.png" Type="http://schemas.openxmlformats.org/officeDocument/2006/relationships/image"/><Relationship Id="rId9" Target="../media/image56.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4.xml" Type="http://schemas.openxmlformats.org/officeDocument/2006/relationships/notesSlide"/><Relationship Id="rId3" Target="../media/image57.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5F5F5">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381000" y="381000"/>
            <a:ext cx="3556000" cy="2413000"/>
          </a:xfrm>
          <a:prstGeom prst="roundRect">
            <a:avLst>
              <a:gd name="adj" fmla="val 0"/>
            </a:avLst>
          </a:prstGeom>
          <a:solidFill>
            <a:srgbClr val="FFFFFF">
              <a:alpha val="100000"/>
            </a:srgbClr>
          </a:solidFill>
          <a:ln w="12700" cmpd="sng" cap="flat">
            <a:solidFill>
              <a:srgbClr val="000000">
                <a:alpha val="5000"/>
              </a:srgbClr>
            </a:solid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381000" y="381000"/>
            <a:ext cx="3556000" cy="457200"/>
          </a:xfrm>
          <a:prstGeom prst="roundRect">
            <a:avLst>
              <a:gd name="adj" fmla="val 0"/>
            </a:avLst>
          </a:prstGeom>
          <a:solidFill>
            <a:srgbClr val="2563EB">
              <a:alpha val="1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508000" y="457200"/>
            <a:ext cx="3302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563EB"/>
                </a:solidFill>
                <a:latin typeface="Noto Sans SC"/>
                <a:ea typeface="Noto Sans SC"/>
                <a:cs typeface="Noto Sans SC"/>
                <a:sym typeface="Noto Sans SC"/>
              </a:rPr>
              <a:t>01 多源内容输入池</a:t>
            </a:r>
            <a:endParaRPr lang="en-US" sz="1100"/>
          </a:p>
        </p:txBody>
      </p:sp>
      <p:sp>
        <p:nvSpPr>
          <p:cNvPr name="AutoShape 5" id="5"/>
          <p:cNvSpPr/>
          <p:nvPr/>
        </p:nvSpPr>
        <p:spPr>
          <a:xfrm rot="0" flipH="false" flipV="false">
            <a:off x="571500" y="1016000"/>
            <a:ext cx="1587500" cy="698500"/>
          </a:xfrm>
          <a:prstGeom prst="roundRect">
            <a:avLst>
              <a:gd name="adj" fmla="val 0"/>
            </a:avLst>
          </a:prstGeom>
          <a:solidFill>
            <a:srgbClr val="F3F4F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635000" y="1117600"/>
            <a:ext cx="304800" cy="304800"/>
          </a:xfrm>
          <a:prstGeom prst="rect">
            <a:avLst/>
          </a:prstGeom>
        </p:spPr>
      </p:pic>
      <p:sp>
        <p:nvSpPr>
          <p:cNvPr name="AutoShape 7" id="7"/>
          <p:cNvSpPr/>
          <p:nvPr/>
        </p:nvSpPr>
        <p:spPr>
          <a:xfrm rot="0" flipH="false" flipV="false">
            <a:off x="1016000" y="1079500"/>
            <a:ext cx="10795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91666"/>
              </a:lnSpc>
              <a:defRPr/>
            </a:pPr>
            <a:r>
              <a:rPr lang="en-US" b="false" i="false" strike="noStrike" u="none" sz="1200">
                <a:solidFill>
                  <a:srgbClr val="374151"/>
                </a:solidFill>
                <a:latin typeface="Noto Sans SC"/>
                <a:ea typeface="Noto Sans SC"/>
                <a:cs typeface="Noto Sans SC"/>
                <a:sym typeface="Noto Sans SC"/>
              </a:rPr>
              <a:t>原始文本/文档导入，结构化数据清洗预处理</a:t>
            </a:r>
            <a:endParaRPr lang="en-US" sz="1100"/>
          </a:p>
        </p:txBody>
      </p:sp>
      <p:sp>
        <p:nvSpPr>
          <p:cNvPr name="AutoShape 8" id="8"/>
          <p:cNvSpPr/>
          <p:nvPr/>
        </p:nvSpPr>
        <p:spPr>
          <a:xfrm rot="0" flipH="false" flipV="false">
            <a:off x="2286000" y="1016000"/>
            <a:ext cx="1587500" cy="698500"/>
          </a:xfrm>
          <a:prstGeom prst="roundRect">
            <a:avLst>
              <a:gd name="adj" fmla="val 0"/>
            </a:avLst>
          </a:prstGeom>
          <a:solidFill>
            <a:srgbClr val="F3F4F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2349500" y="1117600"/>
            <a:ext cx="304800" cy="304800"/>
          </a:xfrm>
          <a:prstGeom prst="rect">
            <a:avLst/>
          </a:prstGeom>
        </p:spPr>
      </p:pic>
      <p:sp>
        <p:nvSpPr>
          <p:cNvPr name="AutoShape 10" id="10"/>
          <p:cNvSpPr/>
          <p:nvPr/>
        </p:nvSpPr>
        <p:spPr>
          <a:xfrm rot="0" flipH="false" flipV="false">
            <a:off x="2730500" y="1079500"/>
            <a:ext cx="10795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91666"/>
              </a:lnSpc>
              <a:defRPr/>
            </a:pPr>
            <a:r>
              <a:rPr lang="en-US" b="false" i="false" strike="noStrike" u="none" sz="1200">
                <a:solidFill>
                  <a:srgbClr val="374151"/>
                </a:solidFill>
                <a:latin typeface="Noto Sans SC"/>
                <a:ea typeface="Noto Sans SC"/>
                <a:cs typeface="Noto Sans SC"/>
                <a:sym typeface="Noto Sans SC"/>
              </a:rPr>
              <a:t>外部接口数据接入，非结构化媒体素材归档</a:t>
            </a:r>
            <a:endParaRPr lang="en-US" sz="1100"/>
          </a:p>
        </p:txBody>
      </p:sp>
      <p:sp>
        <p:nvSpPr>
          <p:cNvPr name="AutoShape 11" id="11"/>
          <p:cNvSpPr/>
          <p:nvPr/>
        </p:nvSpPr>
        <p:spPr>
          <a:xfrm rot="0" flipH="false" flipV="false">
            <a:off x="571500" y="1905000"/>
            <a:ext cx="3302000" cy="762000"/>
          </a:xfrm>
          <a:prstGeom prst="roundRect">
            <a:avLst>
              <a:gd name="adj" fmla="val 0"/>
            </a:avLst>
          </a:prstGeom>
          <a:solidFill>
            <a:srgbClr val="2563EB">
              <a:alpha val="5000"/>
            </a:srgbClr>
          </a:solidFill>
          <a:ln w="12700" cmpd="sng" cap="flat">
            <a:solidFill>
              <a:srgbClr val="2563EB">
                <a:alpha val="30000"/>
              </a:srgbClr>
            </a:solidFill>
            <a:prstDash val="dash"/>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698500" y="1968500"/>
            <a:ext cx="304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200">
                <a:solidFill>
                  <a:srgbClr val="4B5563"/>
                </a:solidFill>
                <a:latin typeface="Noto Sans SC"/>
                <a:ea typeface="Noto Sans SC"/>
                <a:cs typeface="Noto Sans SC"/>
                <a:sym typeface="Noto Sans SC"/>
              </a:rPr>
              <a:t>输入规范：统一格式转换 / 关键信息提取 / 冗余数据过滤，确保数据源一致性。</a:t>
            </a:r>
            <a:endParaRPr lang="en-US" sz="1100"/>
          </a:p>
        </p:txBody>
      </p:sp>
      <p:sp>
        <p:nvSpPr>
          <p:cNvPr name="AutoShape 13" id="13"/>
          <p:cNvSpPr/>
          <p:nvPr/>
        </p:nvSpPr>
        <p:spPr>
          <a:xfrm rot="0" flipH="false" flipV="false">
            <a:off x="4191000" y="381000"/>
            <a:ext cx="3556000" cy="2413000"/>
          </a:xfrm>
          <a:prstGeom prst="roundRect">
            <a:avLst>
              <a:gd name="adj" fmla="val 0"/>
            </a:avLst>
          </a:prstGeom>
          <a:solidFill>
            <a:srgbClr val="FFFFFF">
              <a:alpha val="100000"/>
            </a:srgbClr>
          </a:solidFill>
          <a:ln w="12700" cmpd="sng" cap="flat">
            <a:solidFill>
              <a:srgbClr val="000000">
                <a:alpha val="5000"/>
              </a:srgbClr>
            </a:solid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4191000" y="381000"/>
            <a:ext cx="3556000" cy="457200"/>
          </a:xfrm>
          <a:prstGeom prst="roundRect">
            <a:avLst>
              <a:gd name="adj" fmla="val 0"/>
            </a:avLst>
          </a:prstGeom>
          <a:solidFill>
            <a:srgbClr val="2563EB">
              <a:alpha val="1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4318000" y="457200"/>
            <a:ext cx="3302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563EB"/>
                </a:solidFill>
                <a:latin typeface="Noto Sans SC"/>
                <a:ea typeface="Noto Sans SC"/>
                <a:cs typeface="Noto Sans SC"/>
                <a:sym typeface="Noto Sans SC"/>
              </a:rPr>
              <a:t>02 核心主题聚类与拆解</a:t>
            </a:r>
            <a:endParaRPr lang="en-US" sz="1100"/>
          </a:p>
        </p:txBody>
      </p:sp>
      <p:sp>
        <p:nvSpPr>
          <p:cNvPr name="AutoShape 16" id="16"/>
          <p:cNvSpPr/>
          <p:nvPr/>
        </p:nvSpPr>
        <p:spPr>
          <a:xfrm rot="0" flipH="false" flipV="false">
            <a:off x="4318000" y="1016000"/>
            <a:ext cx="1092200" cy="1206500"/>
          </a:xfrm>
          <a:prstGeom prst="roundRect">
            <a:avLst>
              <a:gd name="adj" fmla="val 0"/>
            </a:avLst>
          </a:prstGeom>
          <a:solidFill>
            <a:srgbClr val="EFF6F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4546600" y="1143000"/>
            <a:ext cx="508000" cy="508000"/>
          </a:xfrm>
          <a:prstGeom prst="rect">
            <a:avLst/>
          </a:prstGeom>
        </p:spPr>
      </p:pic>
      <p:sp>
        <p:nvSpPr>
          <p:cNvPr name="AutoShape 18" id="18"/>
          <p:cNvSpPr/>
          <p:nvPr/>
        </p:nvSpPr>
        <p:spPr>
          <a:xfrm rot="0" flipH="false" flipV="false">
            <a:off x="4343400" y="1778000"/>
            <a:ext cx="1041400" cy="381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200">
                <a:solidFill>
                  <a:srgbClr val="1F2937"/>
                </a:solidFill>
                <a:latin typeface="Noto Sans SC"/>
                <a:ea typeface="Noto Sans SC"/>
                <a:cs typeface="Noto Sans SC"/>
                <a:sym typeface="Noto Sans SC"/>
              </a:rPr>
              <a:t>业务洞察</a:t>
            </a:r>
            <a:endParaRPr lang="en-US" sz="1100"/>
          </a:p>
        </p:txBody>
      </p:sp>
      <p:sp>
        <p:nvSpPr>
          <p:cNvPr name="AutoShape 19" id="19"/>
          <p:cNvSpPr/>
          <p:nvPr/>
        </p:nvSpPr>
        <p:spPr>
          <a:xfrm rot="0" flipH="false" flipV="false">
            <a:off x="5461000" y="1016000"/>
            <a:ext cx="1092200" cy="1206500"/>
          </a:xfrm>
          <a:prstGeom prst="roundRect">
            <a:avLst>
              <a:gd name="adj" fmla="val 0"/>
            </a:avLst>
          </a:prstGeom>
          <a:solidFill>
            <a:srgbClr val="EFF6F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0" id="20"/>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5689600" y="1143000"/>
            <a:ext cx="508000" cy="508000"/>
          </a:xfrm>
          <a:prstGeom prst="rect">
            <a:avLst/>
          </a:prstGeom>
        </p:spPr>
      </p:pic>
      <p:sp>
        <p:nvSpPr>
          <p:cNvPr name="AutoShape 21" id="21"/>
          <p:cNvSpPr/>
          <p:nvPr/>
        </p:nvSpPr>
        <p:spPr>
          <a:xfrm rot="0" flipH="false" flipV="false">
            <a:off x="5486400" y="1778000"/>
            <a:ext cx="1041400" cy="381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200">
                <a:solidFill>
                  <a:srgbClr val="1F2937"/>
                </a:solidFill>
                <a:latin typeface="Noto Sans SC"/>
                <a:ea typeface="Noto Sans SC"/>
                <a:cs typeface="Noto Sans SC"/>
                <a:sym typeface="Noto Sans SC"/>
              </a:rPr>
              <a:t>趋势分析</a:t>
            </a:r>
            <a:endParaRPr lang="en-US" sz="1100"/>
          </a:p>
        </p:txBody>
      </p:sp>
      <p:sp>
        <p:nvSpPr>
          <p:cNvPr name="AutoShape 22" id="22"/>
          <p:cNvSpPr/>
          <p:nvPr/>
        </p:nvSpPr>
        <p:spPr>
          <a:xfrm rot="0" flipH="false" flipV="false">
            <a:off x="6578600" y="1016000"/>
            <a:ext cx="1092200" cy="1206500"/>
          </a:xfrm>
          <a:prstGeom prst="roundRect">
            <a:avLst>
              <a:gd name="adj" fmla="val 0"/>
            </a:avLst>
          </a:prstGeom>
          <a:solidFill>
            <a:srgbClr val="EFF6F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3" id="23"/>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6807200" y="1143000"/>
            <a:ext cx="508000" cy="508000"/>
          </a:xfrm>
          <a:prstGeom prst="rect">
            <a:avLst/>
          </a:prstGeom>
        </p:spPr>
      </p:pic>
      <p:sp>
        <p:nvSpPr>
          <p:cNvPr name="AutoShape 24" id="24"/>
          <p:cNvSpPr/>
          <p:nvPr/>
        </p:nvSpPr>
        <p:spPr>
          <a:xfrm rot="0" flipH="false" flipV="false">
            <a:off x="6604000" y="1778000"/>
            <a:ext cx="1041400" cy="381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200">
                <a:solidFill>
                  <a:srgbClr val="1F2937"/>
                </a:solidFill>
                <a:latin typeface="Noto Sans SC"/>
                <a:ea typeface="Noto Sans SC"/>
                <a:cs typeface="Noto Sans SC"/>
                <a:sym typeface="Noto Sans SC"/>
              </a:rPr>
              <a:t>风险预警</a:t>
            </a:r>
            <a:endParaRPr lang="en-US" sz="1100"/>
          </a:p>
        </p:txBody>
      </p:sp>
      <p:sp>
        <p:nvSpPr>
          <p:cNvPr name="AutoShape 25" id="25"/>
          <p:cNvSpPr/>
          <p:nvPr/>
        </p:nvSpPr>
        <p:spPr>
          <a:xfrm rot="0" flipH="false" flipV="false">
            <a:off x="8001000" y="381000"/>
            <a:ext cx="3683000" cy="2413000"/>
          </a:xfrm>
          <a:prstGeom prst="roundRect">
            <a:avLst>
              <a:gd name="adj" fmla="val 0"/>
            </a:avLst>
          </a:prstGeom>
          <a:solidFill>
            <a:srgbClr val="FFFFFF">
              <a:alpha val="100000"/>
            </a:srgbClr>
          </a:solidFill>
          <a:ln w="12700" cmpd="sng" cap="flat">
            <a:solidFill>
              <a:srgbClr val="000000">
                <a:alpha val="5000"/>
              </a:srgbClr>
            </a:solidFill>
            <a:prstDash val="solid"/>
            <a:round/>
          </a:ln>
        </p:spPr>
        <p:txBody>
          <a:bodyPr anchor="ctr" rtlCol="false" vert="horz" wrap="square" lIns="63500" rIns="63500" tIns="63500" bIns="63500"/>
          <a:lstStyle/>
          <a:p>
            <a:pPr algn="ctr">
              <a:defRPr/>
            </a:pPr>
            <a:endParaRPr/>
          </a:p>
        </p:txBody>
      </p:sp>
      <p:sp>
        <p:nvSpPr>
          <p:cNvPr name="AutoShape 26" id="26"/>
          <p:cNvSpPr/>
          <p:nvPr/>
        </p:nvSpPr>
        <p:spPr>
          <a:xfrm rot="0" flipH="false" flipV="false">
            <a:off x="8001000" y="381000"/>
            <a:ext cx="3683000" cy="457200"/>
          </a:xfrm>
          <a:prstGeom prst="roundRect">
            <a:avLst>
              <a:gd name="adj" fmla="val 0"/>
            </a:avLst>
          </a:prstGeom>
          <a:solidFill>
            <a:srgbClr val="2563EB">
              <a:alpha val="1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7" id="27"/>
          <p:cNvSpPr/>
          <p:nvPr/>
        </p:nvSpPr>
        <p:spPr>
          <a:xfrm rot="0" flipH="false" flipV="false">
            <a:off x="8128000" y="457200"/>
            <a:ext cx="3429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563EB"/>
                </a:solidFill>
                <a:latin typeface="Noto Sans SC"/>
                <a:ea typeface="Noto Sans SC"/>
                <a:cs typeface="Noto Sans SC"/>
                <a:sym typeface="Noto Sans SC"/>
              </a:rPr>
              <a:t>03 智能任务分发与排队</a:t>
            </a:r>
            <a:endParaRPr lang="en-US" sz="1100"/>
          </a:p>
        </p:txBody>
      </p:sp>
      <p:sp>
        <p:nvSpPr>
          <p:cNvPr name="AutoShape 28" id="28"/>
          <p:cNvSpPr/>
          <p:nvPr/>
        </p:nvSpPr>
        <p:spPr>
          <a:xfrm rot="0" flipH="false" flipV="false">
            <a:off x="8128000" y="1016000"/>
            <a:ext cx="1714500" cy="825500"/>
          </a:xfrm>
          <a:prstGeom prst="roundRect">
            <a:avLst>
              <a:gd name="adj" fmla="val 0"/>
            </a:avLst>
          </a:prstGeom>
          <a:solidFill>
            <a:srgbClr val="FFF7ED">
              <a:alpha val="100000"/>
            </a:srgbClr>
          </a:solidFill>
          <a:ln w="12700" cmpd="sng" cap="flat">
            <a:solidFill>
              <a:srgbClr val="F97316">
                <a:alpha val="20000"/>
              </a:srgbClr>
            </a:solidFill>
            <a:prstDash val="solid"/>
            <a:round/>
          </a:ln>
        </p:spPr>
        <p:txBody>
          <a:bodyPr anchor="ctr" rtlCol="false" vert="horz" wrap="square" lIns="63500" rIns="63500" tIns="63500" bIns="63500"/>
          <a:lstStyle/>
          <a:p>
            <a:pPr algn="ctr">
              <a:defRPr/>
            </a:pPr>
            <a:endParaRPr/>
          </a:p>
        </p:txBody>
      </p:sp>
      <p:sp>
        <p:nvSpPr>
          <p:cNvPr name="AutoShape 29" id="29"/>
          <p:cNvSpPr/>
          <p:nvPr/>
        </p:nvSpPr>
        <p:spPr>
          <a:xfrm rot="0" flipH="false" flipV="false">
            <a:off x="8191500" y="1079500"/>
            <a:ext cx="1587500" cy="698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200">
                <a:solidFill>
                  <a:srgbClr val="C2410C"/>
                </a:solidFill>
                <a:latin typeface="Noto Sans SC"/>
                <a:ea typeface="Noto Sans SC"/>
                <a:cs typeface="Noto Sans SC"/>
                <a:sym typeface="Noto Sans SC"/>
              </a:rPr>
              <a:t>主题 A 优先级：高</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100">
                <a:solidFill>
                  <a:srgbClr val="6B7280"/>
                </a:solidFill>
                <a:latin typeface="Noto Sans SC"/>
                <a:ea typeface="Noto Sans SC"/>
                <a:cs typeface="Noto Sans SC"/>
                <a:sym typeface="Noto Sans SC"/>
              </a:rPr>
              <a:t>资源调度中，预计耗时 15min</a:t>
            </a:r>
            <a:endParaRPr lang="en-US" sz="1100"/>
          </a:p>
        </p:txBody>
      </p:sp>
      <p:sp>
        <p:nvSpPr>
          <p:cNvPr name="AutoShape 30" id="30"/>
          <p:cNvSpPr/>
          <p:nvPr/>
        </p:nvSpPr>
        <p:spPr>
          <a:xfrm rot="0" flipH="false" flipV="false">
            <a:off x="9906000" y="1016000"/>
            <a:ext cx="1714500" cy="825500"/>
          </a:xfrm>
          <a:prstGeom prst="roundRect">
            <a:avLst>
              <a:gd name="adj" fmla="val 0"/>
            </a:avLst>
          </a:prstGeom>
          <a:solidFill>
            <a:srgbClr val="FFF7ED">
              <a:alpha val="100000"/>
            </a:srgbClr>
          </a:solidFill>
          <a:ln w="12700" cmpd="sng" cap="flat">
            <a:solidFill>
              <a:srgbClr val="F97316">
                <a:alpha val="20000"/>
              </a:srgbClr>
            </a:solidFill>
            <a:prstDash val="solid"/>
            <a:round/>
          </a:ln>
        </p:spPr>
        <p:txBody>
          <a:bodyPr anchor="ctr" rtlCol="false" vert="horz" wrap="square" lIns="63500" rIns="63500" tIns="63500" bIns="63500"/>
          <a:lstStyle/>
          <a:p>
            <a:pPr algn="ctr">
              <a:defRPr/>
            </a:pPr>
            <a:endParaRPr/>
          </a:p>
        </p:txBody>
      </p:sp>
      <p:sp>
        <p:nvSpPr>
          <p:cNvPr name="AutoShape 31" id="31"/>
          <p:cNvSpPr/>
          <p:nvPr/>
        </p:nvSpPr>
        <p:spPr>
          <a:xfrm rot="0" flipH="false" flipV="false">
            <a:off x="9969500" y="1079500"/>
            <a:ext cx="1587500" cy="698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200">
                <a:solidFill>
                  <a:srgbClr val="C2410C"/>
                </a:solidFill>
                <a:latin typeface="Noto Sans SC"/>
                <a:ea typeface="Noto Sans SC"/>
                <a:cs typeface="Noto Sans SC"/>
                <a:sym typeface="Noto Sans SC"/>
              </a:rPr>
              <a:t>主题 B 优先级：中</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100">
                <a:solidFill>
                  <a:srgbClr val="6B7280"/>
                </a:solidFill>
                <a:latin typeface="Noto Sans SC"/>
                <a:ea typeface="Noto Sans SC"/>
                <a:cs typeface="Noto Sans SC"/>
                <a:sym typeface="Noto Sans SC"/>
              </a:rPr>
              <a:t>等待依赖项加载完成</a:t>
            </a:r>
            <a:endParaRPr lang="en-US" sz="1100"/>
          </a:p>
        </p:txBody>
      </p:sp>
      <p:sp>
        <p:nvSpPr>
          <p:cNvPr name="AutoShape 32" id="32"/>
          <p:cNvSpPr/>
          <p:nvPr/>
        </p:nvSpPr>
        <p:spPr>
          <a:xfrm rot="0" flipH="false" flipV="false">
            <a:off x="8128000" y="2032000"/>
            <a:ext cx="3492500" cy="635000"/>
          </a:xfrm>
          <a:prstGeom prst="roundRect">
            <a:avLst>
              <a:gd name="adj" fmla="val 0"/>
            </a:avLst>
          </a:prstGeom>
          <a:solidFill>
            <a:srgbClr val="F3F4F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33" id="33"/>
          <p:cNvPicPr>
            <a:picLocks noChangeAspect="true"/>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rot="0" flipH="false" flipV="false">
            <a:off x="8255000" y="2159000"/>
            <a:ext cx="304800" cy="304800"/>
          </a:xfrm>
          <a:prstGeom prst="rect">
            <a:avLst/>
          </a:prstGeom>
        </p:spPr>
      </p:pic>
      <p:sp>
        <p:nvSpPr>
          <p:cNvPr name="AutoShape 34" id="34"/>
          <p:cNvSpPr/>
          <p:nvPr/>
        </p:nvSpPr>
        <p:spPr>
          <a:xfrm rot="0" flipH="false" flipV="false">
            <a:off x="8636000" y="2095500"/>
            <a:ext cx="28575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100">
                <a:solidFill>
                  <a:srgbClr val="374151"/>
                </a:solidFill>
                <a:latin typeface="Noto Sans SC"/>
                <a:ea typeface="Noto Sans SC"/>
                <a:cs typeface="Noto Sans SC"/>
                <a:sym typeface="Noto Sans SC"/>
              </a:rPr>
              <a:t>待处理队列：主题 C / 主题 D / 主题 E ... 系统自动分配算力资源进行并行处理。</a:t>
            </a:r>
            <a:endParaRPr lang="en-US" sz="1100"/>
          </a:p>
        </p:txBody>
      </p:sp>
      <p:cxnSp>
        <p:nvCxnSpPr>
          <p:cNvPr name="Connector 35" id="35"/>
          <p:cNvCxnSpPr/>
          <p:nvPr/>
        </p:nvCxnSpPr>
        <p:spPr>
          <a:xfrm rot="2406483" flipH="false" flipV="false">
            <a:off x="5758538" y="3263939"/>
            <a:ext cx="675014" cy="12700"/>
          </a:xfrm>
          <a:prstGeom prst="line">
            <a:avLst/>
          </a:prstGeom>
          <a:solidFill>
            <a:srgbClr val="DEE0E3">
              <a:alpha val="100000"/>
            </a:srgbClr>
          </a:solidFill>
          <a:ln w="38100" cmpd="sng" cap="flat">
            <a:solidFill>
              <a:srgbClr val="DC2626">
                <a:alpha val="100000"/>
              </a:srgbClr>
            </a:solidFill>
            <a:prstDash val="solid"/>
            <a:round/>
            <a:headEnd type="none" w="lg" len="lg"/>
            <a:tailEnd type="arrow" w="med" len="med"/>
          </a:ln>
        </p:spPr>
      </p:cxnSp>
      <p:sp>
        <p:nvSpPr>
          <p:cNvPr name="AutoShape 36" id="36"/>
          <p:cNvSpPr/>
          <p:nvPr/>
        </p:nvSpPr>
        <p:spPr>
          <a:xfrm rot="0" flipH="false" flipV="false">
            <a:off x="381000" y="3810000"/>
            <a:ext cx="3556000" cy="1397000"/>
          </a:xfrm>
          <a:prstGeom prst="roundRect">
            <a:avLst>
              <a:gd name="adj" fmla="val 0"/>
            </a:avLst>
          </a:prstGeom>
          <a:solidFill>
            <a:srgbClr val="FFFFFF">
              <a:alpha val="100000"/>
            </a:srgbClr>
          </a:solidFill>
          <a:ln w="12700" cmpd="sng" cap="flat">
            <a:solidFill>
              <a:srgbClr val="000000">
                <a:alpha val="5000"/>
              </a:srgbClr>
            </a:solidFill>
            <a:prstDash val="solid"/>
            <a:round/>
          </a:ln>
        </p:spPr>
        <p:txBody>
          <a:bodyPr anchor="ctr" rtlCol="false" vert="horz" wrap="square" lIns="63500" rIns="63500" tIns="63500" bIns="63500"/>
          <a:lstStyle/>
          <a:p>
            <a:pPr algn="ctr">
              <a:defRPr/>
            </a:pPr>
            <a:endParaRPr/>
          </a:p>
        </p:txBody>
      </p:sp>
      <p:sp>
        <p:nvSpPr>
          <p:cNvPr name="AutoShape 37" id="37"/>
          <p:cNvSpPr/>
          <p:nvPr/>
        </p:nvSpPr>
        <p:spPr>
          <a:xfrm rot="0" flipH="false" flipV="false">
            <a:off x="381000" y="3810000"/>
            <a:ext cx="3556000" cy="355600"/>
          </a:xfrm>
          <a:prstGeom prst="roundRect">
            <a:avLst>
              <a:gd name="adj" fmla="val 0"/>
            </a:avLst>
          </a:prstGeom>
          <a:solidFill>
            <a:srgbClr val="4B5563">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8" id="38"/>
          <p:cNvSpPr/>
          <p:nvPr/>
        </p:nvSpPr>
        <p:spPr>
          <a:xfrm rot="0" flipH="false" flipV="false">
            <a:off x="508000" y="3860800"/>
            <a:ext cx="3302000" cy="25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374151"/>
                </a:solidFill>
                <a:latin typeface="Noto Sans SC"/>
                <a:ea typeface="Noto Sans SC"/>
                <a:cs typeface="Noto Sans SC"/>
                <a:sym typeface="Noto Sans SC"/>
              </a:rPr>
              <a:t>04 自动化处理流水线</a:t>
            </a:r>
            <a:endParaRPr lang="en-US" sz="1100"/>
          </a:p>
        </p:txBody>
      </p:sp>
      <p:sp>
        <p:nvSpPr>
          <p:cNvPr name="AutoShape 39" id="39"/>
          <p:cNvSpPr/>
          <p:nvPr/>
        </p:nvSpPr>
        <p:spPr>
          <a:xfrm rot="0" flipH="false" flipV="false">
            <a:off x="508000" y="4445000"/>
            <a:ext cx="1016000" cy="571500"/>
          </a:xfrm>
          <a:prstGeom prst="roundRect">
            <a:avLst>
              <a:gd name="adj" fmla="val 0"/>
            </a:avLst>
          </a:prstGeom>
          <a:solidFill>
            <a:srgbClr val="EFF6FF">
              <a:alpha val="100000"/>
            </a:srgbClr>
          </a:solidFill>
          <a:ln w="12700" cmpd="sng" cap="flat">
            <a:solidFill>
              <a:srgbClr val="2563EB">
                <a:alpha val="20000"/>
              </a:srgbClr>
            </a:solidFill>
            <a:prstDash val="solid"/>
            <a:round/>
          </a:ln>
        </p:spPr>
        <p:txBody>
          <a:bodyPr anchor="ctr" rtlCol="false" vert="horz" wrap="square" lIns="63500" rIns="63500" tIns="63500" bIns="63500"/>
          <a:lstStyle/>
          <a:p>
            <a:pPr algn="ctr">
              <a:defRPr/>
            </a:pPr>
            <a:endParaRPr/>
          </a:p>
        </p:txBody>
      </p:sp>
      <p:sp>
        <p:nvSpPr>
          <p:cNvPr name="AutoShape 40" id="40"/>
          <p:cNvSpPr/>
          <p:nvPr/>
        </p:nvSpPr>
        <p:spPr>
          <a:xfrm rot="0" flipH="false" flipV="false">
            <a:off x="533400" y="4508500"/>
            <a:ext cx="965200" cy="4445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100">
                <a:solidFill>
                  <a:srgbClr val="2563EB"/>
                </a:solidFill>
                <a:latin typeface="Noto Sans SC"/>
                <a:ea typeface="Noto Sans SC"/>
                <a:cs typeface="Noto Sans SC"/>
                <a:sym typeface="Noto Sans SC"/>
              </a:rPr>
              <a:t>数据清洗</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000">
                <a:solidFill>
                  <a:srgbClr val="6B7280"/>
                </a:solidFill>
                <a:latin typeface="Noto Sans SC"/>
                <a:ea typeface="Noto Sans SC"/>
                <a:cs typeface="Noto Sans SC"/>
                <a:sym typeface="Noto Sans SC"/>
              </a:rPr>
              <a:t>去噪/补全</a:t>
            </a:r>
            <a:endParaRPr lang="en-US" sz="1100"/>
          </a:p>
        </p:txBody>
      </p:sp>
      <p:cxnSp>
        <p:nvCxnSpPr>
          <p:cNvPr name="Connector 41" id="41"/>
          <p:cNvCxnSpPr/>
          <p:nvPr/>
        </p:nvCxnSpPr>
        <p:spPr>
          <a:xfrm rot="-228844" flipH="false" flipV="false">
            <a:off x="1587711" y="4718050"/>
            <a:ext cx="190500" cy="12700"/>
          </a:xfrm>
          <a:prstGeom prst="line">
            <a:avLst/>
          </a:prstGeom>
          <a:solidFill>
            <a:srgbClr val="DEE0E3">
              <a:alpha val="100000"/>
            </a:srgbClr>
          </a:solidFill>
          <a:ln w="12700" cmpd="sng" cap="flat">
            <a:solidFill>
              <a:srgbClr val="9CA3AF">
                <a:alpha val="100000"/>
              </a:srgbClr>
            </a:solidFill>
            <a:prstDash val="solid"/>
            <a:round/>
            <a:headEnd type="none" w="med" len="med"/>
            <a:tailEnd type="arrow" w="sm" len="sm"/>
          </a:ln>
        </p:spPr>
      </p:cxnSp>
      <p:sp>
        <p:nvSpPr>
          <p:cNvPr name="AutoShape 42" id="42"/>
          <p:cNvSpPr/>
          <p:nvPr/>
        </p:nvSpPr>
        <p:spPr>
          <a:xfrm rot="0" flipH="false" flipV="false">
            <a:off x="1841500" y="4445000"/>
            <a:ext cx="1016000" cy="571500"/>
          </a:xfrm>
          <a:prstGeom prst="roundRect">
            <a:avLst>
              <a:gd name="adj" fmla="val 0"/>
            </a:avLst>
          </a:prstGeom>
          <a:solidFill>
            <a:srgbClr val="EFF6FF">
              <a:alpha val="100000"/>
            </a:srgbClr>
          </a:solidFill>
          <a:ln w="12700" cmpd="sng" cap="flat">
            <a:solidFill>
              <a:srgbClr val="2563EB">
                <a:alpha val="20000"/>
              </a:srgbClr>
            </a:solidFill>
            <a:prstDash val="solid"/>
            <a:round/>
          </a:ln>
        </p:spPr>
        <p:txBody>
          <a:bodyPr anchor="ctr" rtlCol="false" vert="horz" wrap="square" lIns="63500" rIns="63500" tIns="63500" bIns="63500"/>
          <a:lstStyle/>
          <a:p>
            <a:pPr algn="ctr">
              <a:defRPr/>
            </a:pPr>
            <a:endParaRPr/>
          </a:p>
        </p:txBody>
      </p:sp>
      <p:sp>
        <p:nvSpPr>
          <p:cNvPr name="AutoShape 43" id="43"/>
          <p:cNvSpPr/>
          <p:nvPr/>
        </p:nvSpPr>
        <p:spPr>
          <a:xfrm rot="0" flipH="false" flipV="false">
            <a:off x="1866900" y="4508500"/>
            <a:ext cx="965200" cy="4445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100">
                <a:solidFill>
                  <a:srgbClr val="2563EB"/>
                </a:solidFill>
                <a:latin typeface="Noto Sans SC"/>
                <a:ea typeface="Noto Sans SC"/>
                <a:cs typeface="Noto Sans SC"/>
                <a:sym typeface="Noto Sans SC"/>
              </a:rPr>
              <a:t>算法运算</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000">
                <a:solidFill>
                  <a:srgbClr val="6B7280"/>
                </a:solidFill>
                <a:latin typeface="Noto Sans SC"/>
                <a:ea typeface="Noto Sans SC"/>
                <a:cs typeface="Noto Sans SC"/>
                <a:sym typeface="Noto Sans SC"/>
              </a:rPr>
              <a:t>建模/分析</a:t>
            </a:r>
            <a:endParaRPr lang="en-US" sz="1100"/>
          </a:p>
        </p:txBody>
      </p:sp>
      <p:cxnSp>
        <p:nvCxnSpPr>
          <p:cNvPr name="Connector 44" id="44"/>
          <p:cNvCxnSpPr/>
          <p:nvPr/>
        </p:nvCxnSpPr>
        <p:spPr>
          <a:xfrm rot="-228844" flipH="false" flipV="false">
            <a:off x="2921211" y="4718050"/>
            <a:ext cx="190500" cy="12700"/>
          </a:xfrm>
          <a:prstGeom prst="line">
            <a:avLst/>
          </a:prstGeom>
          <a:solidFill>
            <a:srgbClr val="DEE0E3">
              <a:alpha val="100000"/>
            </a:srgbClr>
          </a:solidFill>
          <a:ln w="12700" cmpd="sng" cap="flat">
            <a:solidFill>
              <a:srgbClr val="9CA3AF">
                <a:alpha val="100000"/>
              </a:srgbClr>
            </a:solidFill>
            <a:prstDash val="solid"/>
            <a:round/>
            <a:headEnd type="none" w="med" len="med"/>
            <a:tailEnd type="arrow" w="sm" len="sm"/>
          </a:ln>
        </p:spPr>
      </p:cxnSp>
      <p:sp>
        <p:nvSpPr>
          <p:cNvPr name="AutoShape 45" id="45"/>
          <p:cNvSpPr/>
          <p:nvPr/>
        </p:nvSpPr>
        <p:spPr>
          <a:xfrm rot="0" flipH="false" flipV="false">
            <a:off x="3175000" y="4445000"/>
            <a:ext cx="762000" cy="571500"/>
          </a:xfrm>
          <a:prstGeom prst="roundRect">
            <a:avLst>
              <a:gd name="adj" fmla="val 0"/>
            </a:avLst>
          </a:prstGeom>
          <a:solidFill>
            <a:srgbClr val="2563EB">
              <a:alpha val="1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6" id="46"/>
          <p:cNvSpPr/>
          <p:nvPr/>
        </p:nvSpPr>
        <p:spPr>
          <a:xfrm rot="0" flipH="false" flipV="false">
            <a:off x="3200400" y="4572000"/>
            <a:ext cx="711200" cy="3175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100">
                <a:solidFill>
                  <a:srgbClr val="2563EB"/>
                </a:solidFill>
                <a:latin typeface="Noto Sans SC"/>
                <a:ea typeface="Noto Sans SC"/>
                <a:cs typeface="Noto Sans SC"/>
                <a:sym typeface="Noto Sans SC"/>
              </a:rPr>
              <a:t>输出</a:t>
            </a:r>
            <a:endParaRPr lang="en-US" sz="1100"/>
          </a:p>
        </p:txBody>
      </p:sp>
      <p:sp>
        <p:nvSpPr>
          <p:cNvPr name="AutoShape 47" id="47"/>
          <p:cNvSpPr/>
          <p:nvPr/>
        </p:nvSpPr>
        <p:spPr>
          <a:xfrm rot="0" flipH="false" flipV="false">
            <a:off x="4191000" y="3810000"/>
            <a:ext cx="3556000" cy="1397000"/>
          </a:xfrm>
          <a:prstGeom prst="roundRect">
            <a:avLst>
              <a:gd name="adj" fmla="val 0"/>
            </a:avLst>
          </a:prstGeom>
          <a:solidFill>
            <a:srgbClr val="FFFFFF">
              <a:alpha val="100000"/>
            </a:srgbClr>
          </a:solidFill>
          <a:ln w="12700" cmpd="sng" cap="flat">
            <a:solidFill>
              <a:srgbClr val="000000">
                <a:alpha val="5000"/>
              </a:srgbClr>
            </a:solidFill>
            <a:prstDash val="solid"/>
            <a:round/>
          </a:ln>
        </p:spPr>
        <p:txBody>
          <a:bodyPr anchor="ctr" rtlCol="false" vert="horz" wrap="square" lIns="63500" rIns="63500" tIns="63500" bIns="63500"/>
          <a:lstStyle/>
          <a:p>
            <a:pPr algn="ctr">
              <a:defRPr/>
            </a:pPr>
            <a:endParaRPr/>
          </a:p>
        </p:txBody>
      </p:sp>
      <p:sp>
        <p:nvSpPr>
          <p:cNvPr name="AutoShape 48" id="48"/>
          <p:cNvSpPr/>
          <p:nvPr/>
        </p:nvSpPr>
        <p:spPr>
          <a:xfrm rot="0" flipH="false" flipV="false">
            <a:off x="4191000" y="3810000"/>
            <a:ext cx="3556000" cy="355600"/>
          </a:xfrm>
          <a:prstGeom prst="roundRect">
            <a:avLst>
              <a:gd name="adj" fmla="val 0"/>
            </a:avLst>
          </a:prstGeom>
          <a:solidFill>
            <a:srgbClr val="DC2626">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9" id="49"/>
          <p:cNvSpPr/>
          <p:nvPr/>
        </p:nvSpPr>
        <p:spPr>
          <a:xfrm rot="0" flipH="false" flipV="false">
            <a:off x="4318000" y="3860800"/>
            <a:ext cx="3302000" cy="25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B91C1C"/>
                </a:solidFill>
                <a:latin typeface="Noto Sans SC"/>
                <a:ea typeface="Noto Sans SC"/>
                <a:cs typeface="Noto Sans SC"/>
                <a:sym typeface="Noto Sans SC"/>
              </a:rPr>
              <a:t>05 人工干预与闭环反馈</a:t>
            </a:r>
            <a:endParaRPr lang="en-US" sz="1100"/>
          </a:p>
        </p:txBody>
      </p:sp>
      <p:sp>
        <p:nvSpPr>
          <p:cNvPr name="AutoShape 50" id="50"/>
          <p:cNvSpPr/>
          <p:nvPr/>
        </p:nvSpPr>
        <p:spPr>
          <a:xfrm rot="0" flipH="false" flipV="false">
            <a:off x="4381500" y="4445000"/>
            <a:ext cx="1397000" cy="635000"/>
          </a:xfrm>
          <a:prstGeom prst="roundRect">
            <a:avLst>
              <a:gd name="adj" fmla="val 0"/>
            </a:avLst>
          </a:prstGeom>
          <a:solidFill>
            <a:srgbClr val="FEE2E2">
              <a:alpha val="5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1" id="51"/>
          <p:cNvSpPr/>
          <p:nvPr/>
        </p:nvSpPr>
        <p:spPr>
          <a:xfrm rot="0" flipH="false" flipV="false">
            <a:off x="4445000" y="4508500"/>
            <a:ext cx="1270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100">
                <a:solidFill>
                  <a:srgbClr val="991B1B"/>
                </a:solidFill>
                <a:latin typeface="Noto Sans SC"/>
                <a:ea typeface="Noto Sans SC"/>
                <a:cs typeface="Noto Sans SC"/>
                <a:sym typeface="Noto Sans SC"/>
              </a:rPr>
              <a:t>策略调整</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000">
                <a:solidFill>
                  <a:srgbClr val="7F1D1D"/>
                </a:solidFill>
                <a:latin typeface="Noto Sans SC"/>
                <a:ea typeface="Noto Sans SC"/>
                <a:cs typeface="Noto Sans SC"/>
                <a:sym typeface="Noto Sans SC"/>
              </a:rPr>
              <a:t>人工审核关键阈值与参数配置</a:t>
            </a:r>
            <a:endParaRPr lang="en-US" sz="1100"/>
          </a:p>
        </p:txBody>
      </p:sp>
      <p:pic>
        <p:nvPicPr>
          <p:cNvPr name="Picture 52" id="52"/>
          <p:cNvPicPr>
            <a:picLocks noChangeAspect="true"/>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rot="0" flipH="false" flipV="false">
            <a:off x="5842000" y="4508500"/>
            <a:ext cx="406400" cy="406400"/>
          </a:xfrm>
          <a:prstGeom prst="rect">
            <a:avLst/>
          </a:prstGeom>
        </p:spPr>
      </p:pic>
      <p:sp>
        <p:nvSpPr>
          <p:cNvPr name="AutoShape 53" id="53"/>
          <p:cNvSpPr/>
          <p:nvPr/>
        </p:nvSpPr>
        <p:spPr>
          <a:xfrm rot="0" flipH="false" flipV="false">
            <a:off x="6350000" y="4445000"/>
            <a:ext cx="1270000" cy="635000"/>
          </a:xfrm>
          <a:prstGeom prst="roundRect">
            <a:avLst>
              <a:gd name="adj" fmla="val 0"/>
            </a:avLst>
          </a:prstGeom>
          <a:solidFill>
            <a:srgbClr val="FEE2E2">
              <a:alpha val="5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4" id="54"/>
          <p:cNvSpPr/>
          <p:nvPr/>
        </p:nvSpPr>
        <p:spPr>
          <a:xfrm rot="0" flipH="false" flipV="false">
            <a:off x="6413500" y="4508500"/>
            <a:ext cx="1143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100">
                <a:solidFill>
                  <a:srgbClr val="991B1B"/>
                </a:solidFill>
                <a:latin typeface="Noto Sans SC"/>
                <a:ea typeface="Noto Sans SC"/>
                <a:cs typeface="Noto Sans SC"/>
                <a:sym typeface="Noto Sans SC"/>
              </a:rPr>
              <a:t>结果校验</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000">
                <a:solidFill>
                  <a:srgbClr val="7F1D1D"/>
                </a:solidFill>
                <a:latin typeface="Noto Sans SC"/>
                <a:ea typeface="Noto Sans SC"/>
                <a:cs typeface="Noto Sans SC"/>
                <a:sym typeface="Noto Sans SC"/>
              </a:rPr>
              <a:t>数据回传优化模型精度</a:t>
            </a:r>
            <a:endParaRPr lang="en-US" sz="1100"/>
          </a:p>
        </p:txBody>
      </p:sp>
      <p:sp>
        <p:nvSpPr>
          <p:cNvPr name="AutoShape 55" id="55"/>
          <p:cNvSpPr/>
          <p:nvPr/>
        </p:nvSpPr>
        <p:spPr>
          <a:xfrm rot="0" flipH="false" flipV="false">
            <a:off x="8001000" y="3810000"/>
            <a:ext cx="3683000" cy="1397000"/>
          </a:xfrm>
          <a:prstGeom prst="roundRect">
            <a:avLst>
              <a:gd name="adj" fmla="val 0"/>
            </a:avLst>
          </a:prstGeom>
          <a:solidFill>
            <a:srgbClr val="FFFFFF">
              <a:alpha val="100000"/>
            </a:srgbClr>
          </a:solidFill>
          <a:ln w="12700" cmpd="sng" cap="flat">
            <a:solidFill>
              <a:srgbClr val="000000">
                <a:alpha val="5000"/>
              </a:srgbClr>
            </a:solidFill>
            <a:prstDash val="solid"/>
            <a:round/>
          </a:ln>
        </p:spPr>
        <p:txBody>
          <a:bodyPr anchor="ctr" rtlCol="false" vert="horz" wrap="square" lIns="63500" rIns="63500" tIns="63500" bIns="63500"/>
          <a:lstStyle/>
          <a:p>
            <a:pPr algn="ctr">
              <a:defRPr/>
            </a:pPr>
            <a:endParaRPr/>
          </a:p>
        </p:txBody>
      </p:sp>
      <p:sp>
        <p:nvSpPr>
          <p:cNvPr name="AutoShape 56" id="56"/>
          <p:cNvSpPr/>
          <p:nvPr/>
        </p:nvSpPr>
        <p:spPr>
          <a:xfrm rot="0" flipH="false" flipV="false">
            <a:off x="8001000" y="3810000"/>
            <a:ext cx="3683000" cy="355600"/>
          </a:xfrm>
          <a:prstGeom prst="roundRect">
            <a:avLst>
              <a:gd name="adj" fmla="val 0"/>
            </a:avLst>
          </a:prstGeom>
          <a:solidFill>
            <a:srgbClr val="10B981">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7" id="57"/>
          <p:cNvSpPr/>
          <p:nvPr/>
        </p:nvSpPr>
        <p:spPr>
          <a:xfrm rot="0" flipH="false" flipV="false">
            <a:off x="8128000" y="3860800"/>
            <a:ext cx="3429000" cy="25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047857"/>
                </a:solidFill>
                <a:latin typeface="Noto Sans SC"/>
                <a:ea typeface="Noto Sans SC"/>
                <a:cs typeface="Noto Sans SC"/>
                <a:sym typeface="Noto Sans SC"/>
              </a:rPr>
              <a:t>06 专家介入与决策执行</a:t>
            </a:r>
            <a:endParaRPr lang="en-US" sz="1100"/>
          </a:p>
        </p:txBody>
      </p:sp>
      <p:pic>
        <p:nvPicPr>
          <p:cNvPr name="Picture 58" id="58"/>
          <p:cNvPicPr>
            <a:picLocks noChangeAspect="true"/>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rot="0" flipH="false" flipV="false">
            <a:off x="8191500" y="4445000"/>
            <a:ext cx="508000" cy="508000"/>
          </a:xfrm>
          <a:prstGeom prst="rect">
            <a:avLst/>
          </a:prstGeom>
        </p:spPr>
      </p:pic>
      <p:sp>
        <p:nvSpPr>
          <p:cNvPr name="AutoShape 59" id="59"/>
          <p:cNvSpPr/>
          <p:nvPr/>
        </p:nvSpPr>
        <p:spPr>
          <a:xfrm rot="0" flipH="false" flipV="false">
            <a:off x="8890000" y="4381500"/>
            <a:ext cx="2667000" cy="698500"/>
          </a:xfrm>
          <a:prstGeom prst="roundRect">
            <a:avLst>
              <a:gd name="adj" fmla="val 0"/>
            </a:avLst>
          </a:prstGeom>
          <a:solidFill>
            <a:srgbClr val="10B981">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0" id="60"/>
          <p:cNvSpPr/>
          <p:nvPr/>
        </p:nvSpPr>
        <p:spPr>
          <a:xfrm rot="0" flipH="false" flipV="false">
            <a:off x="8953500" y="4445000"/>
            <a:ext cx="25400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100">
                <a:solidFill>
                  <a:srgbClr val="065F46"/>
                </a:solidFill>
                <a:latin typeface="Noto Sans SC"/>
                <a:ea typeface="Noto Sans SC"/>
                <a:cs typeface="Noto Sans SC"/>
                <a:sym typeface="Noto Sans SC"/>
              </a:rPr>
              <a:t>角色：产品/运营/决策者</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000">
                <a:solidFill>
                  <a:srgbClr val="374151"/>
                </a:solidFill>
                <a:latin typeface="Noto Sans SC"/>
                <a:ea typeface="Noto Sans SC"/>
                <a:cs typeface="Noto Sans SC"/>
                <a:sym typeface="Noto Sans SC"/>
              </a:rPr>
              <a:t>基于数据洞察制定行动方案，推动业务落地执行。</a:t>
            </a:r>
            <a:endParaRPr lang="en-US" sz="1100"/>
          </a:p>
        </p:txBody>
      </p:sp>
      <p:sp>
        <p:nvSpPr>
          <p:cNvPr name="AutoShape 61" id="61"/>
          <p:cNvSpPr/>
          <p:nvPr/>
        </p:nvSpPr>
        <p:spPr>
          <a:xfrm rot="0" flipH="false" flipV="false">
            <a:off x="381000" y="5461000"/>
            <a:ext cx="2209800" cy="1206500"/>
          </a:xfrm>
          <a:prstGeom prst="roundRect">
            <a:avLst>
              <a:gd name="adj" fmla="val 0"/>
            </a:avLst>
          </a:prstGeom>
          <a:solidFill>
            <a:srgbClr val="FFFFFF">
              <a:alpha val="100000"/>
            </a:srgbClr>
          </a:solidFill>
          <a:ln w="12700" cmpd="sng" cap="flat">
            <a:solidFill>
              <a:srgbClr val="000000">
                <a:alpha val="5000"/>
              </a:srgbClr>
            </a:solidFill>
            <a:prstDash val="solid"/>
            <a:round/>
          </a:ln>
        </p:spPr>
        <p:txBody>
          <a:bodyPr anchor="ctr" rtlCol="false" vert="horz" wrap="square" lIns="63500" rIns="63500" tIns="63500" bIns="63500"/>
          <a:lstStyle/>
          <a:p>
            <a:pPr algn="ctr">
              <a:defRPr/>
            </a:pPr>
            <a:endParaRPr/>
          </a:p>
        </p:txBody>
      </p:sp>
      <p:sp>
        <p:nvSpPr>
          <p:cNvPr name="AutoShape 62" id="62"/>
          <p:cNvSpPr/>
          <p:nvPr/>
        </p:nvSpPr>
        <p:spPr>
          <a:xfrm rot="0" flipH="false" flipV="false">
            <a:off x="381000" y="5461000"/>
            <a:ext cx="2209800" cy="698500"/>
          </a:xfrm>
          <a:prstGeom prst="roundRect">
            <a:avLst>
              <a:gd name="adj" fmla="val 0"/>
            </a:avLst>
          </a:prstGeom>
          <a:solidFill>
            <a:srgbClr val="F3F4F6">
              <a:alpha val="5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63" id="63"/>
          <p:cNvPicPr>
            <a:picLocks noChangeAspect="true"/>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rot="0" flipH="false" flipV="false">
            <a:off x="508000" y="5588000"/>
            <a:ext cx="406400" cy="406400"/>
          </a:xfrm>
          <a:prstGeom prst="rect">
            <a:avLst/>
          </a:prstGeom>
        </p:spPr>
      </p:pic>
      <p:sp>
        <p:nvSpPr>
          <p:cNvPr name="AutoShape 64" id="64"/>
          <p:cNvSpPr/>
          <p:nvPr/>
        </p:nvSpPr>
        <p:spPr>
          <a:xfrm rot="0" flipH="false" flipV="false">
            <a:off x="1016000" y="5588000"/>
            <a:ext cx="14605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91666"/>
              </a:lnSpc>
              <a:defRPr/>
            </a:pPr>
            <a:r>
              <a:rPr lang="en-US" b="true" i="false" strike="noStrike" u="none" sz="1200">
                <a:solidFill>
                  <a:srgbClr val="1F2937"/>
                </a:solidFill>
                <a:latin typeface="Noto Sans SC"/>
                <a:ea typeface="Noto Sans SC"/>
                <a:cs typeface="Noto Sans SC"/>
                <a:sym typeface="Noto Sans SC"/>
              </a:rPr>
              <a:t>可视化看板</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000">
                <a:solidFill>
                  <a:srgbClr val="6B7280"/>
                </a:solidFill>
                <a:latin typeface="Noto Sans SC"/>
                <a:ea typeface="Noto Sans SC"/>
                <a:cs typeface="Noto Sans SC"/>
                <a:sym typeface="Noto Sans SC"/>
              </a:rPr>
              <a:t>实时监控关键指标</a:t>
            </a:r>
            <a:endParaRPr lang="en-US" sz="1100"/>
          </a:p>
        </p:txBody>
      </p:sp>
      <p:sp>
        <p:nvSpPr>
          <p:cNvPr name="AutoShape 65" id="65"/>
          <p:cNvSpPr/>
          <p:nvPr/>
        </p:nvSpPr>
        <p:spPr>
          <a:xfrm rot="0" flipH="false" flipV="false">
            <a:off x="381000" y="6223000"/>
            <a:ext cx="2209800" cy="444500"/>
          </a:xfrm>
          <a:prstGeom prst="roundRect">
            <a:avLst>
              <a:gd name="adj" fmla="val 0"/>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6" id="66"/>
          <p:cNvSpPr/>
          <p:nvPr/>
        </p:nvSpPr>
        <p:spPr>
          <a:xfrm rot="0" flipH="false" flipV="false">
            <a:off x="444500" y="6299200"/>
            <a:ext cx="20828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200">
                <a:solidFill>
                  <a:srgbClr val="FFFFFF"/>
                </a:solidFill>
                <a:latin typeface="Noto Sans SC"/>
                <a:ea typeface="Noto Sans SC"/>
                <a:cs typeface="Noto Sans SC"/>
                <a:sym typeface="Noto Sans SC"/>
              </a:rPr>
              <a:t>成果1：全域数据驾驶舱</a:t>
            </a:r>
            <a:endParaRPr lang="en-US" sz="1100"/>
          </a:p>
        </p:txBody>
      </p:sp>
      <p:sp>
        <p:nvSpPr>
          <p:cNvPr name="AutoShape 67" id="67"/>
          <p:cNvSpPr/>
          <p:nvPr/>
        </p:nvSpPr>
        <p:spPr>
          <a:xfrm rot="0" flipH="false" flipV="false">
            <a:off x="2768600" y="5461000"/>
            <a:ext cx="2209800" cy="1206500"/>
          </a:xfrm>
          <a:prstGeom prst="roundRect">
            <a:avLst>
              <a:gd name="adj" fmla="val 0"/>
            </a:avLst>
          </a:prstGeom>
          <a:solidFill>
            <a:srgbClr val="FFFFFF">
              <a:alpha val="100000"/>
            </a:srgbClr>
          </a:solidFill>
          <a:ln w="12700" cmpd="sng" cap="flat">
            <a:solidFill>
              <a:srgbClr val="000000">
                <a:alpha val="5000"/>
              </a:srgbClr>
            </a:solidFill>
            <a:prstDash val="solid"/>
            <a:round/>
          </a:ln>
        </p:spPr>
        <p:txBody>
          <a:bodyPr anchor="ctr" rtlCol="false" vert="horz" wrap="square" lIns="63500" rIns="63500" tIns="63500" bIns="63500"/>
          <a:lstStyle/>
          <a:p>
            <a:pPr algn="ctr">
              <a:defRPr/>
            </a:pPr>
            <a:endParaRPr/>
          </a:p>
        </p:txBody>
      </p:sp>
      <p:sp>
        <p:nvSpPr>
          <p:cNvPr name="AutoShape 68" id="68"/>
          <p:cNvSpPr/>
          <p:nvPr/>
        </p:nvSpPr>
        <p:spPr>
          <a:xfrm rot="0" flipH="false" flipV="false">
            <a:off x="2768600" y="5461000"/>
            <a:ext cx="2209800" cy="698500"/>
          </a:xfrm>
          <a:prstGeom prst="roundRect">
            <a:avLst>
              <a:gd name="adj" fmla="val 0"/>
            </a:avLst>
          </a:prstGeom>
          <a:solidFill>
            <a:srgbClr val="F3F4F6">
              <a:alpha val="5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69" id="69"/>
          <p:cNvPicPr>
            <a:picLocks noChangeAspect="true"/>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rot="0" flipH="false" flipV="false">
            <a:off x="2895600" y="5588000"/>
            <a:ext cx="406400" cy="406400"/>
          </a:xfrm>
          <a:prstGeom prst="rect">
            <a:avLst/>
          </a:prstGeom>
        </p:spPr>
      </p:pic>
      <p:sp>
        <p:nvSpPr>
          <p:cNvPr name="AutoShape 70" id="70"/>
          <p:cNvSpPr/>
          <p:nvPr/>
        </p:nvSpPr>
        <p:spPr>
          <a:xfrm rot="0" flipH="false" flipV="false">
            <a:off x="3403600" y="5588000"/>
            <a:ext cx="14605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91666"/>
              </a:lnSpc>
              <a:defRPr/>
            </a:pPr>
            <a:r>
              <a:rPr lang="en-US" b="true" i="false" strike="noStrike" u="none" sz="1200">
                <a:solidFill>
                  <a:srgbClr val="1F2937"/>
                </a:solidFill>
                <a:latin typeface="Noto Sans SC"/>
                <a:ea typeface="Noto Sans SC"/>
                <a:cs typeface="Noto Sans SC"/>
                <a:sym typeface="Noto Sans SC"/>
              </a:rPr>
              <a:t>分析报告集</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000">
                <a:solidFill>
                  <a:srgbClr val="6B7280"/>
                </a:solidFill>
                <a:latin typeface="Noto Sans SC"/>
                <a:ea typeface="Noto Sans SC"/>
                <a:cs typeface="Noto Sans SC"/>
                <a:sym typeface="Noto Sans SC"/>
              </a:rPr>
              <a:t>多维度深度洞察文档</a:t>
            </a:r>
            <a:endParaRPr lang="en-US" sz="1100"/>
          </a:p>
        </p:txBody>
      </p:sp>
      <p:sp>
        <p:nvSpPr>
          <p:cNvPr name="AutoShape 71" id="71"/>
          <p:cNvSpPr/>
          <p:nvPr/>
        </p:nvSpPr>
        <p:spPr>
          <a:xfrm rot="0" flipH="false" flipV="false">
            <a:off x="2768600" y="6223000"/>
            <a:ext cx="2209800" cy="444500"/>
          </a:xfrm>
          <a:prstGeom prst="roundRect">
            <a:avLst>
              <a:gd name="adj" fmla="val 0"/>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72" id="72"/>
          <p:cNvSpPr/>
          <p:nvPr/>
        </p:nvSpPr>
        <p:spPr>
          <a:xfrm rot="0" flipH="false" flipV="false">
            <a:off x="2832100" y="6299200"/>
            <a:ext cx="20828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200">
                <a:solidFill>
                  <a:srgbClr val="FFFFFF"/>
                </a:solidFill>
                <a:latin typeface="Noto Sans SC"/>
                <a:ea typeface="Noto Sans SC"/>
                <a:cs typeface="Noto Sans SC"/>
                <a:sym typeface="Noto Sans SC"/>
              </a:rPr>
              <a:t>成果2：业务策略白皮书</a:t>
            </a:r>
            <a:endParaRPr lang="en-US" sz="1100"/>
          </a:p>
        </p:txBody>
      </p:sp>
      <p:sp>
        <p:nvSpPr>
          <p:cNvPr name="AutoShape 73" id="73"/>
          <p:cNvSpPr/>
          <p:nvPr/>
        </p:nvSpPr>
        <p:spPr>
          <a:xfrm rot="0" flipH="false" flipV="false">
            <a:off x="5156200" y="5461000"/>
            <a:ext cx="2209800" cy="1206500"/>
          </a:xfrm>
          <a:prstGeom prst="roundRect">
            <a:avLst>
              <a:gd name="adj" fmla="val 0"/>
            </a:avLst>
          </a:prstGeom>
          <a:solidFill>
            <a:srgbClr val="FFFFFF">
              <a:alpha val="100000"/>
            </a:srgbClr>
          </a:solidFill>
          <a:ln w="12700" cmpd="sng" cap="flat">
            <a:solidFill>
              <a:srgbClr val="000000">
                <a:alpha val="5000"/>
              </a:srgbClr>
            </a:solidFill>
            <a:prstDash val="solid"/>
            <a:round/>
          </a:ln>
        </p:spPr>
        <p:txBody>
          <a:bodyPr anchor="ctr" rtlCol="false" vert="horz" wrap="square" lIns="63500" rIns="63500" tIns="63500" bIns="63500"/>
          <a:lstStyle/>
          <a:p>
            <a:pPr algn="ctr">
              <a:defRPr/>
            </a:pPr>
            <a:endParaRPr/>
          </a:p>
        </p:txBody>
      </p:sp>
      <p:sp>
        <p:nvSpPr>
          <p:cNvPr name="AutoShape 74" id="74"/>
          <p:cNvSpPr/>
          <p:nvPr/>
        </p:nvSpPr>
        <p:spPr>
          <a:xfrm rot="0" flipH="false" flipV="false">
            <a:off x="5156200" y="5461000"/>
            <a:ext cx="2209800" cy="698500"/>
          </a:xfrm>
          <a:prstGeom prst="roundRect">
            <a:avLst>
              <a:gd name="adj" fmla="val 0"/>
            </a:avLst>
          </a:prstGeom>
          <a:solidFill>
            <a:srgbClr val="F3F4F6">
              <a:alpha val="5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75" id="75"/>
          <p:cNvPicPr>
            <a:picLocks noChangeAspect="true"/>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rot="0" flipH="false" flipV="false">
            <a:off x="5283200" y="5588000"/>
            <a:ext cx="406400" cy="406400"/>
          </a:xfrm>
          <a:prstGeom prst="rect">
            <a:avLst/>
          </a:prstGeom>
        </p:spPr>
      </p:pic>
      <p:sp>
        <p:nvSpPr>
          <p:cNvPr name="AutoShape 76" id="76"/>
          <p:cNvSpPr/>
          <p:nvPr/>
        </p:nvSpPr>
        <p:spPr>
          <a:xfrm rot="0" flipH="false" flipV="false">
            <a:off x="5791200" y="5588000"/>
            <a:ext cx="14605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91666"/>
              </a:lnSpc>
              <a:defRPr/>
            </a:pPr>
            <a:r>
              <a:rPr lang="en-US" b="true" i="false" strike="noStrike" u="none" sz="1200">
                <a:solidFill>
                  <a:srgbClr val="1F2937"/>
                </a:solidFill>
                <a:latin typeface="Noto Sans SC"/>
                <a:ea typeface="Noto Sans SC"/>
                <a:cs typeface="Noto Sans SC"/>
                <a:sym typeface="Noto Sans SC"/>
              </a:rPr>
              <a:t>智能模型库</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000">
                <a:solidFill>
                  <a:srgbClr val="6B7280"/>
                </a:solidFill>
                <a:latin typeface="Noto Sans SC"/>
                <a:ea typeface="Noto Sans SC"/>
                <a:cs typeface="Noto Sans SC"/>
                <a:sym typeface="Noto Sans SC"/>
              </a:rPr>
              <a:t>沉淀可复用算法资产</a:t>
            </a:r>
            <a:endParaRPr lang="en-US" sz="1100"/>
          </a:p>
        </p:txBody>
      </p:sp>
      <p:sp>
        <p:nvSpPr>
          <p:cNvPr name="AutoShape 77" id="77"/>
          <p:cNvSpPr/>
          <p:nvPr/>
        </p:nvSpPr>
        <p:spPr>
          <a:xfrm rot="0" flipH="false" flipV="false">
            <a:off x="5156200" y="6223000"/>
            <a:ext cx="2209800" cy="444500"/>
          </a:xfrm>
          <a:prstGeom prst="roundRect">
            <a:avLst>
              <a:gd name="adj" fmla="val 0"/>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78" id="78"/>
          <p:cNvSpPr/>
          <p:nvPr/>
        </p:nvSpPr>
        <p:spPr>
          <a:xfrm rot="0" flipH="false" flipV="false">
            <a:off x="5219700" y="6299200"/>
            <a:ext cx="20828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200">
                <a:solidFill>
                  <a:srgbClr val="FFFFFF"/>
                </a:solidFill>
                <a:latin typeface="Noto Sans SC"/>
                <a:ea typeface="Noto Sans SC"/>
                <a:cs typeface="Noto Sans SC"/>
                <a:sym typeface="Noto Sans SC"/>
              </a:rPr>
              <a:t>成果3：自动化算法工具箱</a:t>
            </a:r>
            <a:endParaRPr lang="en-US" sz="1100"/>
          </a:p>
        </p:txBody>
      </p:sp>
      <p:sp>
        <p:nvSpPr>
          <p:cNvPr name="AutoShape 79" id="79"/>
          <p:cNvSpPr/>
          <p:nvPr/>
        </p:nvSpPr>
        <p:spPr>
          <a:xfrm rot="0" flipH="false" flipV="false">
            <a:off x="7467600" y="5461000"/>
            <a:ext cx="2209800" cy="1206500"/>
          </a:xfrm>
          <a:prstGeom prst="roundRect">
            <a:avLst>
              <a:gd name="adj" fmla="val 0"/>
            </a:avLst>
          </a:prstGeom>
          <a:solidFill>
            <a:srgbClr val="FFFFFF">
              <a:alpha val="100000"/>
            </a:srgbClr>
          </a:solidFill>
          <a:ln w="12700" cmpd="sng" cap="flat">
            <a:solidFill>
              <a:srgbClr val="000000">
                <a:alpha val="5000"/>
              </a:srgbClr>
            </a:solidFill>
            <a:prstDash val="solid"/>
            <a:round/>
          </a:ln>
        </p:spPr>
        <p:txBody>
          <a:bodyPr anchor="ctr" rtlCol="false" vert="horz" wrap="square" lIns="63500" rIns="63500" tIns="63500" bIns="63500"/>
          <a:lstStyle/>
          <a:p>
            <a:pPr algn="ctr">
              <a:defRPr/>
            </a:pPr>
            <a:endParaRPr/>
          </a:p>
        </p:txBody>
      </p:sp>
      <p:sp>
        <p:nvSpPr>
          <p:cNvPr name="AutoShape 80" id="80"/>
          <p:cNvSpPr/>
          <p:nvPr/>
        </p:nvSpPr>
        <p:spPr>
          <a:xfrm rot="0" flipH="false" flipV="false">
            <a:off x="7467600" y="5461000"/>
            <a:ext cx="2209800" cy="698500"/>
          </a:xfrm>
          <a:prstGeom prst="roundRect">
            <a:avLst>
              <a:gd name="adj" fmla="val 0"/>
            </a:avLst>
          </a:prstGeom>
          <a:solidFill>
            <a:srgbClr val="F3F4F6">
              <a:alpha val="5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81" id="81"/>
          <p:cNvPicPr>
            <a:picLocks noChangeAspect="true"/>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rot="0" flipH="false" flipV="false">
            <a:off x="7594600" y="5588000"/>
            <a:ext cx="406400" cy="406400"/>
          </a:xfrm>
          <a:prstGeom prst="rect">
            <a:avLst/>
          </a:prstGeom>
        </p:spPr>
      </p:pic>
      <p:sp>
        <p:nvSpPr>
          <p:cNvPr name="AutoShape 82" id="82"/>
          <p:cNvSpPr/>
          <p:nvPr/>
        </p:nvSpPr>
        <p:spPr>
          <a:xfrm rot="0" flipH="false" flipV="false">
            <a:off x="8102600" y="5588000"/>
            <a:ext cx="14605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91666"/>
              </a:lnSpc>
              <a:defRPr/>
            </a:pPr>
            <a:r>
              <a:rPr lang="en-US" b="true" i="false" strike="noStrike" u="none" sz="1200">
                <a:solidFill>
                  <a:srgbClr val="1F2937"/>
                </a:solidFill>
                <a:latin typeface="Noto Sans SC"/>
                <a:ea typeface="Noto Sans SC"/>
                <a:cs typeface="Noto Sans SC"/>
                <a:sym typeface="Noto Sans SC"/>
              </a:rPr>
              <a:t>增长归因</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000">
                <a:solidFill>
                  <a:srgbClr val="6B7280"/>
                </a:solidFill>
                <a:latin typeface="Noto Sans SC"/>
                <a:ea typeface="Noto Sans SC"/>
                <a:cs typeface="Noto Sans SC"/>
                <a:sym typeface="Noto Sans SC"/>
              </a:rPr>
              <a:t>量化业务转化与ROI</a:t>
            </a:r>
            <a:endParaRPr lang="en-US" sz="1100"/>
          </a:p>
        </p:txBody>
      </p:sp>
      <p:sp>
        <p:nvSpPr>
          <p:cNvPr name="AutoShape 83" id="83"/>
          <p:cNvSpPr/>
          <p:nvPr/>
        </p:nvSpPr>
        <p:spPr>
          <a:xfrm rot="0" flipH="false" flipV="false">
            <a:off x="7467600" y="6223000"/>
            <a:ext cx="2209800" cy="444500"/>
          </a:xfrm>
          <a:prstGeom prst="roundRect">
            <a:avLst>
              <a:gd name="adj" fmla="val 0"/>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84" id="84"/>
          <p:cNvSpPr/>
          <p:nvPr/>
        </p:nvSpPr>
        <p:spPr>
          <a:xfrm rot="0" flipH="false" flipV="false">
            <a:off x="7531100" y="6299200"/>
            <a:ext cx="20828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200">
                <a:solidFill>
                  <a:srgbClr val="FFFFFF"/>
                </a:solidFill>
                <a:latin typeface="Noto Sans SC"/>
                <a:ea typeface="Noto Sans SC"/>
                <a:cs typeface="Noto Sans SC"/>
                <a:sym typeface="Noto Sans SC"/>
              </a:rPr>
              <a:t>成果4：投入产出效益分析</a:t>
            </a:r>
            <a:endParaRPr lang="en-US" sz="1100"/>
          </a:p>
        </p:txBody>
      </p:sp>
      <p:sp>
        <p:nvSpPr>
          <p:cNvPr name="AutoShape 85" id="85"/>
          <p:cNvSpPr/>
          <p:nvPr/>
        </p:nvSpPr>
        <p:spPr>
          <a:xfrm rot="0" flipH="false" flipV="false">
            <a:off x="9728200" y="5461000"/>
            <a:ext cx="2209800" cy="1206500"/>
          </a:xfrm>
          <a:prstGeom prst="roundRect">
            <a:avLst>
              <a:gd name="adj" fmla="val 0"/>
            </a:avLst>
          </a:prstGeom>
          <a:solidFill>
            <a:srgbClr val="FFFFFF">
              <a:alpha val="100000"/>
            </a:srgbClr>
          </a:solidFill>
          <a:ln w="12700" cmpd="sng" cap="flat">
            <a:solidFill>
              <a:srgbClr val="000000">
                <a:alpha val="5000"/>
              </a:srgbClr>
            </a:solidFill>
            <a:prstDash val="solid"/>
            <a:round/>
          </a:ln>
        </p:spPr>
        <p:txBody>
          <a:bodyPr anchor="ctr" rtlCol="false" vert="horz" wrap="square" lIns="63500" rIns="63500" tIns="63500" bIns="63500"/>
          <a:lstStyle/>
          <a:p>
            <a:pPr algn="ctr">
              <a:defRPr/>
            </a:pPr>
            <a:endParaRPr/>
          </a:p>
        </p:txBody>
      </p:sp>
      <p:sp>
        <p:nvSpPr>
          <p:cNvPr name="AutoShape 86" id="86"/>
          <p:cNvSpPr/>
          <p:nvPr/>
        </p:nvSpPr>
        <p:spPr>
          <a:xfrm rot="0" flipH="false" flipV="false">
            <a:off x="9728200" y="5461000"/>
            <a:ext cx="2209800" cy="698500"/>
          </a:xfrm>
          <a:prstGeom prst="roundRect">
            <a:avLst>
              <a:gd name="adj" fmla="val 0"/>
            </a:avLst>
          </a:prstGeom>
          <a:solidFill>
            <a:srgbClr val="F3F4F6">
              <a:alpha val="5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87" id="87"/>
          <p:cNvPicPr>
            <a:picLocks noChangeAspect="true"/>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rot="0" flipH="false" flipV="false">
            <a:off x="9855200" y="5588000"/>
            <a:ext cx="406400" cy="406400"/>
          </a:xfrm>
          <a:prstGeom prst="rect">
            <a:avLst/>
          </a:prstGeom>
        </p:spPr>
      </p:pic>
      <p:sp>
        <p:nvSpPr>
          <p:cNvPr name="AutoShape 88" id="88"/>
          <p:cNvSpPr/>
          <p:nvPr/>
        </p:nvSpPr>
        <p:spPr>
          <a:xfrm rot="0" flipH="false" flipV="false">
            <a:off x="10363200" y="5588000"/>
            <a:ext cx="14605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91666"/>
              </a:lnSpc>
              <a:defRPr/>
            </a:pPr>
            <a:r>
              <a:rPr lang="en-US" b="true" i="false" strike="noStrike" u="none" sz="1200">
                <a:solidFill>
                  <a:srgbClr val="1F2937"/>
                </a:solidFill>
                <a:latin typeface="Noto Sans SC"/>
                <a:ea typeface="Noto Sans SC"/>
                <a:cs typeface="Noto Sans SC"/>
                <a:sym typeface="Noto Sans SC"/>
              </a:rPr>
              <a:t>风险预案</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000">
                <a:solidFill>
                  <a:srgbClr val="6B7280"/>
                </a:solidFill>
                <a:latin typeface="Noto Sans SC"/>
                <a:ea typeface="Noto Sans SC"/>
                <a:cs typeface="Noto Sans SC"/>
                <a:sym typeface="Noto Sans SC"/>
              </a:rPr>
              <a:t>建立全链路风控体系</a:t>
            </a:r>
            <a:endParaRPr lang="en-US" sz="1100"/>
          </a:p>
        </p:txBody>
      </p:sp>
      <p:sp>
        <p:nvSpPr>
          <p:cNvPr name="AutoShape 89" id="89"/>
          <p:cNvSpPr/>
          <p:nvPr/>
        </p:nvSpPr>
        <p:spPr>
          <a:xfrm rot="0" flipH="false" flipV="false">
            <a:off x="9728200" y="6223000"/>
            <a:ext cx="2209800" cy="444500"/>
          </a:xfrm>
          <a:prstGeom prst="roundRect">
            <a:avLst>
              <a:gd name="adj" fmla="val 0"/>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90" id="90"/>
          <p:cNvSpPr/>
          <p:nvPr/>
        </p:nvSpPr>
        <p:spPr>
          <a:xfrm rot="0" flipH="false" flipV="false">
            <a:off x="9791700" y="6299200"/>
            <a:ext cx="20828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200">
                <a:solidFill>
                  <a:srgbClr val="FFFFFF"/>
                </a:solidFill>
                <a:latin typeface="Noto Sans SC"/>
                <a:ea typeface="Noto Sans SC"/>
                <a:cs typeface="Noto Sans SC"/>
                <a:sym typeface="Noto Sans SC"/>
              </a:rPr>
              <a:t>成果5：风险预警与响应机制</a:t>
            </a:r>
            <a:endParaRPr lang="en-US" sz="1100"/>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5F5F5">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90500" y="254000"/>
            <a:ext cx="5588000" cy="6223000"/>
          </a:xfrm>
          <a:prstGeom prst="roundRect">
            <a:avLst>
              <a:gd name="adj" fmla="val 0"/>
            </a:avLst>
          </a:prstGeom>
          <a:solidFill>
            <a:srgbClr val="FFFFFF">
              <a:alpha val="5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6540500" y="254000"/>
            <a:ext cx="5461000" cy="6223000"/>
          </a:xfrm>
          <a:prstGeom prst="roundRect">
            <a:avLst>
              <a:gd name="adj" fmla="val 0"/>
            </a:avLst>
          </a:prstGeom>
          <a:solidFill>
            <a:srgbClr val="FFFFFF">
              <a:alpha val="5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254000" y="381000"/>
            <a:ext cx="5334000" cy="1270000"/>
          </a:xfrm>
          <a:prstGeom prst="roundRect">
            <a:avLst>
              <a:gd name="adj" fmla="val 0"/>
            </a:avLst>
          </a:prstGeom>
          <a:solidFill>
            <a:srgbClr val="FFFFFF">
              <a:alpha val="100000"/>
            </a:srgbClr>
          </a:solidFill>
          <a:ln w="12700" cmpd="sng" cap="flat">
            <a:solidFill>
              <a:srgbClr val="DCDCDC">
                <a:alpha val="10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444500" y="571500"/>
            <a:ext cx="457200" cy="457200"/>
          </a:xfrm>
          <a:prstGeom prst="rect">
            <a:avLst/>
          </a:prstGeom>
        </p:spPr>
      </p:pic>
      <p:sp>
        <p:nvSpPr>
          <p:cNvPr name="AutoShape 6" id="6"/>
          <p:cNvSpPr/>
          <p:nvPr/>
        </p:nvSpPr>
        <p:spPr>
          <a:xfrm rot="0" flipH="false" flipV="false">
            <a:off x="1016000" y="508000"/>
            <a:ext cx="2540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333333"/>
                </a:solidFill>
                <a:latin typeface="Noto Sans SC"/>
                <a:ea typeface="Noto Sans SC"/>
                <a:cs typeface="Noto Sans SC"/>
                <a:sym typeface="Noto Sans SC"/>
              </a:rPr>
              <a:t>主题定义与用户角色锚定</a:t>
            </a:r>
            <a:endParaRPr lang="en-US" sz="1100"/>
          </a:p>
        </p:txBody>
      </p:sp>
      <p:sp>
        <p:nvSpPr>
          <p:cNvPr name="AutoShape 7" id="7"/>
          <p:cNvSpPr/>
          <p:nvPr/>
        </p:nvSpPr>
        <p:spPr>
          <a:xfrm rot="0" flipH="false" flipV="false">
            <a:off x="1016000" y="914400"/>
            <a:ext cx="2286000" cy="406400"/>
          </a:xfrm>
          <a:prstGeom prst="roundRect">
            <a:avLst>
              <a:gd name="adj" fmla="val 0"/>
            </a:avLst>
          </a:prstGeom>
          <a:solidFill>
            <a:srgbClr val="F3F4F6">
              <a:alpha val="100000"/>
            </a:srgbClr>
          </a:solidFill>
          <a:ln w="12700" cmpd="sng" cap="flat">
            <a:solidFill>
              <a:srgbClr val="D1D5DB">
                <a:alpha val="100000"/>
              </a:srgbClr>
            </a:solid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1143000" y="965200"/>
            <a:ext cx="2032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200">
                <a:solidFill>
                  <a:srgbClr val="6B7280"/>
                </a:solidFill>
                <a:latin typeface="Poppins"/>
                <a:ea typeface="Poppins"/>
                <a:cs typeface="Poppins"/>
                <a:sym typeface="Poppins"/>
              </a:rPr>
              <a:t>Input: 核心业务场景主题</a:t>
            </a:r>
            <a:endParaRPr lang="en-US" sz="1100"/>
          </a:p>
        </p:txBody>
      </p:sp>
      <p:sp>
        <p:nvSpPr>
          <p:cNvPr name="AutoShape 9" id="9"/>
          <p:cNvSpPr/>
          <p:nvPr/>
        </p:nvSpPr>
        <p:spPr>
          <a:xfrm rot="0" flipH="false" flipV="false">
            <a:off x="3556000" y="914400"/>
            <a:ext cx="1841500" cy="406400"/>
          </a:xfrm>
          <a:prstGeom prst="roundRect">
            <a:avLst>
              <a:gd name="adj" fmla="val 0"/>
            </a:avLst>
          </a:prstGeom>
          <a:solidFill>
            <a:srgbClr val="FFEDD5">
              <a:alpha val="5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3619500" y="965200"/>
            <a:ext cx="17145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100">
                <a:solidFill>
                  <a:srgbClr val="9A3412"/>
                </a:solidFill>
                <a:latin typeface="Noto Sans SC"/>
                <a:ea typeface="Noto Sans SC"/>
                <a:cs typeface="Noto Sans SC"/>
                <a:sym typeface="Noto Sans SC"/>
              </a:rPr>
              <a:t>属性：基础亚型 | 分级 L3</a:t>
            </a:r>
            <a:endParaRPr lang="en-US" sz="1100"/>
          </a:p>
        </p:txBody>
      </p:sp>
      <p:sp>
        <p:nvSpPr>
          <p:cNvPr name="AutoShape 11" id="11"/>
          <p:cNvSpPr/>
          <p:nvPr/>
        </p:nvSpPr>
        <p:spPr>
          <a:xfrm rot="0" flipH="false" flipV="false">
            <a:off x="254000" y="1905000"/>
            <a:ext cx="2603500" cy="1143000"/>
          </a:xfrm>
          <a:prstGeom prst="roundRect">
            <a:avLst>
              <a:gd name="adj" fmla="val 0"/>
            </a:avLst>
          </a:prstGeom>
          <a:solidFill>
            <a:srgbClr val="EFF6F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381000" y="2032000"/>
            <a:ext cx="304800" cy="304800"/>
          </a:xfrm>
          <a:prstGeom prst="rect">
            <a:avLst/>
          </a:prstGeom>
        </p:spPr>
      </p:pic>
      <p:sp>
        <p:nvSpPr>
          <p:cNvPr name="AutoShape 13" id="13"/>
          <p:cNvSpPr/>
          <p:nvPr/>
        </p:nvSpPr>
        <p:spPr>
          <a:xfrm rot="0" flipH="false" flipV="false">
            <a:off x="762000" y="2006600"/>
            <a:ext cx="1905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1E40AF"/>
                </a:solidFill>
                <a:latin typeface="Noto Sans SC"/>
                <a:ea typeface="Noto Sans SC"/>
                <a:cs typeface="Noto Sans SC"/>
                <a:sym typeface="Noto Sans SC"/>
              </a:rPr>
              <a:t>结构化数据录入</a:t>
            </a:r>
            <a:endParaRPr lang="en-US" sz="1100"/>
          </a:p>
        </p:txBody>
      </p:sp>
      <p:cxnSp>
        <p:nvCxnSpPr>
          <p:cNvPr name="Connector 14" id="14"/>
          <p:cNvCxnSpPr/>
          <p:nvPr/>
        </p:nvCxnSpPr>
        <p:spPr>
          <a:xfrm rot="-19098" flipH="false" flipV="false">
            <a:off x="381018" y="2470150"/>
            <a:ext cx="2286000" cy="12700"/>
          </a:xfrm>
          <a:prstGeom prst="straightConnector1">
            <a:avLst/>
          </a:prstGeom>
          <a:solidFill>
            <a:srgbClr val="DEE0E3">
              <a:alpha val="100000"/>
            </a:srgbClr>
          </a:solidFill>
          <a:ln w="12700" cmpd="sng" cap="flat">
            <a:solidFill>
              <a:srgbClr val="2563EB">
                <a:alpha val="20000"/>
              </a:srgbClr>
            </a:solidFill>
            <a:prstDash val="dash"/>
            <a:round/>
            <a:headEnd type="none" w="med" len="med"/>
            <a:tailEnd type="none" w="med" len="med"/>
          </a:ln>
        </p:spPr>
      </p:cxnSp>
      <p:sp>
        <p:nvSpPr>
          <p:cNvPr name="AutoShape 15" id="15"/>
          <p:cNvSpPr/>
          <p:nvPr/>
        </p:nvSpPr>
        <p:spPr>
          <a:xfrm rot="0" flipH="false" flipV="false">
            <a:off x="381000" y="2565400"/>
            <a:ext cx="23495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91666"/>
              </a:lnSpc>
              <a:defRPr/>
            </a:pPr>
            <a:r>
              <a:rPr lang="en-US" b="false" i="false" strike="noStrike" u="none" sz="1000">
                <a:solidFill>
                  <a:srgbClr val="4B5563"/>
                </a:solidFill>
                <a:latin typeface="Noto Sans SC"/>
                <a:ea typeface="Noto Sans SC"/>
                <a:cs typeface="Noto Sans SC"/>
                <a:sym typeface="Noto Sans SC"/>
              </a:rPr>
              <a:t>接入CRM系统数据与历史交互日志，提取关键行为特征参数。</a:t>
            </a:r>
            <a:endParaRPr lang="en-US" sz="1100"/>
          </a:p>
        </p:txBody>
      </p:sp>
      <p:sp>
        <p:nvSpPr>
          <p:cNvPr name="AutoShape 16" id="16"/>
          <p:cNvSpPr/>
          <p:nvPr/>
        </p:nvSpPr>
        <p:spPr>
          <a:xfrm rot="0" flipH="false" flipV="false">
            <a:off x="2984500" y="1905000"/>
            <a:ext cx="2603500" cy="1143000"/>
          </a:xfrm>
          <a:prstGeom prst="roundRect">
            <a:avLst>
              <a:gd name="adj" fmla="val 0"/>
            </a:avLst>
          </a:prstGeom>
          <a:solidFill>
            <a:srgbClr val="FFFBEB">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3111500" y="2032000"/>
            <a:ext cx="304800" cy="304800"/>
          </a:xfrm>
          <a:prstGeom prst="rect">
            <a:avLst/>
          </a:prstGeom>
        </p:spPr>
      </p:pic>
      <p:sp>
        <p:nvSpPr>
          <p:cNvPr name="AutoShape 18" id="18"/>
          <p:cNvSpPr/>
          <p:nvPr/>
        </p:nvSpPr>
        <p:spPr>
          <a:xfrm rot="0" flipH="false" flipV="false">
            <a:off x="3492500" y="2006600"/>
            <a:ext cx="1905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B45309"/>
                </a:solidFill>
                <a:latin typeface="Noto Sans SC"/>
                <a:ea typeface="Noto Sans SC"/>
                <a:cs typeface="Noto Sans SC"/>
                <a:sym typeface="Noto Sans SC"/>
              </a:rPr>
              <a:t>非结构化素材沉淀</a:t>
            </a:r>
            <a:endParaRPr lang="en-US" sz="1100"/>
          </a:p>
        </p:txBody>
      </p:sp>
      <p:cxnSp>
        <p:nvCxnSpPr>
          <p:cNvPr name="Connector 19" id="19"/>
          <p:cNvCxnSpPr/>
          <p:nvPr/>
        </p:nvCxnSpPr>
        <p:spPr>
          <a:xfrm rot="-19098" flipH="false" flipV="false">
            <a:off x="3111518" y="2470150"/>
            <a:ext cx="2286000" cy="12700"/>
          </a:xfrm>
          <a:prstGeom prst="straightConnector1">
            <a:avLst/>
          </a:prstGeom>
          <a:solidFill>
            <a:srgbClr val="DEE0E3">
              <a:alpha val="100000"/>
            </a:srgbClr>
          </a:solidFill>
          <a:ln w="12700" cmpd="sng" cap="flat">
            <a:solidFill>
              <a:srgbClr val="D97706">
                <a:alpha val="20000"/>
              </a:srgbClr>
            </a:solidFill>
            <a:prstDash val="dash"/>
            <a:round/>
            <a:headEnd type="none" w="med" len="med"/>
            <a:tailEnd type="none" w="med" len="med"/>
          </a:ln>
        </p:spPr>
      </p:cxnSp>
      <p:sp>
        <p:nvSpPr>
          <p:cNvPr name="AutoShape 20" id="20"/>
          <p:cNvSpPr/>
          <p:nvPr/>
        </p:nvSpPr>
        <p:spPr>
          <a:xfrm rot="0" flipH="false" flipV="false">
            <a:off x="3111500" y="2565400"/>
            <a:ext cx="23495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91666"/>
              </a:lnSpc>
              <a:defRPr/>
            </a:pPr>
            <a:r>
              <a:rPr lang="en-US" b="false" i="false" strike="noStrike" u="none" sz="1000">
                <a:solidFill>
                  <a:srgbClr val="4B5563"/>
                </a:solidFill>
                <a:latin typeface="Noto Sans SC"/>
                <a:ea typeface="Noto Sans SC"/>
                <a:cs typeface="Noto Sans SC"/>
                <a:sym typeface="Noto Sans SC"/>
              </a:rPr>
              <a:t>上传用户访谈录音、调研文档及场景实拍影像等原始素材。</a:t>
            </a:r>
            <a:endParaRPr lang="en-US" sz="1100"/>
          </a:p>
        </p:txBody>
      </p:sp>
      <p:sp>
        <p:nvSpPr>
          <p:cNvPr name="AutoShape 21" id="21"/>
          <p:cNvSpPr/>
          <p:nvPr/>
        </p:nvSpPr>
        <p:spPr>
          <a:xfrm rot="0" flipH="false" flipV="false">
            <a:off x="254000" y="3429000"/>
            <a:ext cx="2476500" cy="1206500"/>
          </a:xfrm>
          <a:prstGeom prst="roundRect">
            <a:avLst>
              <a:gd name="adj" fmla="val 0"/>
            </a:avLst>
          </a:prstGeom>
          <a:solidFill>
            <a:srgbClr val="FFFFFF">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pic>
        <p:nvPicPr>
          <p:cNvPr name="Picture 22" id="22"/>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381000" y="3556000"/>
            <a:ext cx="254000" cy="254000"/>
          </a:xfrm>
          <a:prstGeom prst="rect">
            <a:avLst/>
          </a:prstGeom>
        </p:spPr>
      </p:pic>
      <p:sp>
        <p:nvSpPr>
          <p:cNvPr name="AutoShape 23" id="23"/>
          <p:cNvSpPr/>
          <p:nvPr/>
        </p:nvSpPr>
        <p:spPr>
          <a:xfrm rot="0" flipH="false" flipV="false">
            <a:off x="762000" y="3530600"/>
            <a:ext cx="18415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200">
                <a:solidFill>
                  <a:srgbClr val="374151"/>
                </a:solidFill>
                <a:latin typeface="Noto Sans SC"/>
                <a:ea typeface="Noto Sans SC"/>
                <a:cs typeface="Noto Sans SC"/>
                <a:sym typeface="Noto Sans SC"/>
              </a:rPr>
              <a:t>SOP标准化处理流</a:t>
            </a:r>
            <a:endParaRPr lang="en-US" sz="1100"/>
          </a:p>
        </p:txBody>
      </p:sp>
      <p:sp>
        <p:nvSpPr>
          <p:cNvPr name="AutoShape 24" id="24"/>
          <p:cNvSpPr/>
          <p:nvPr/>
        </p:nvSpPr>
        <p:spPr>
          <a:xfrm rot="0" flipH="false" flipV="false">
            <a:off x="381000" y="4000500"/>
            <a:ext cx="22225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000">
                <a:solidFill>
                  <a:srgbClr val="6B7280"/>
                </a:solidFill>
                <a:latin typeface="Noto Sans SC"/>
                <a:ea typeface="Noto Sans SC"/>
                <a:cs typeface="Noto Sans SC"/>
                <a:sym typeface="Noto Sans SC"/>
              </a:rPr>
              <a:t>基于预设规则自动清洗数据，剔除无效信息，生成基础报告框架。</a:t>
            </a:r>
            <a:endParaRPr lang="en-US" sz="1100"/>
          </a:p>
        </p:txBody>
      </p:sp>
      <p:sp>
        <p:nvSpPr>
          <p:cNvPr name="AutoShape 25" id="25"/>
          <p:cNvSpPr/>
          <p:nvPr/>
        </p:nvSpPr>
        <p:spPr>
          <a:xfrm rot="0" flipH="false" flipV="false">
            <a:off x="2984500" y="3429000"/>
            <a:ext cx="2476500" cy="1206500"/>
          </a:xfrm>
          <a:prstGeom prst="roundRect">
            <a:avLst>
              <a:gd name="adj" fmla="val 0"/>
            </a:avLst>
          </a:prstGeom>
          <a:solidFill>
            <a:srgbClr val="FDF2F8">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6" id="26"/>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3111500" y="3556000"/>
            <a:ext cx="254000" cy="254000"/>
          </a:xfrm>
          <a:prstGeom prst="rect">
            <a:avLst/>
          </a:prstGeom>
        </p:spPr>
      </p:pic>
      <p:sp>
        <p:nvSpPr>
          <p:cNvPr name="AutoShape 27" id="27"/>
          <p:cNvSpPr/>
          <p:nvPr/>
        </p:nvSpPr>
        <p:spPr>
          <a:xfrm rot="0" flipH="false" flipV="false">
            <a:off x="3492500" y="3530600"/>
            <a:ext cx="18415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200">
                <a:solidFill>
                  <a:srgbClr val="BE185D"/>
                </a:solidFill>
                <a:latin typeface="Noto Sans SC"/>
                <a:ea typeface="Noto Sans SC"/>
                <a:cs typeface="Noto Sans SC"/>
                <a:sym typeface="Noto Sans SC"/>
              </a:rPr>
              <a:t>情感化内容定制流</a:t>
            </a:r>
            <a:endParaRPr lang="en-US" sz="1100"/>
          </a:p>
        </p:txBody>
      </p:sp>
      <p:sp>
        <p:nvSpPr>
          <p:cNvPr name="AutoShape 28" id="28"/>
          <p:cNvSpPr/>
          <p:nvPr/>
        </p:nvSpPr>
        <p:spPr>
          <a:xfrm rot="0" flipH="false" flipV="false">
            <a:off x="3111500" y="4000500"/>
            <a:ext cx="22225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000">
                <a:solidFill>
                  <a:srgbClr val="6B7280"/>
                </a:solidFill>
                <a:latin typeface="Noto Sans SC"/>
                <a:ea typeface="Noto Sans SC"/>
                <a:cs typeface="Noto Sans SC"/>
                <a:sym typeface="Noto Sans SC"/>
              </a:rPr>
              <a:t>结合NLP分析用户情绪倾向，匹配语气库，生成高共情文案初稿。</a:t>
            </a:r>
            <a:endParaRPr lang="en-US" sz="1100"/>
          </a:p>
        </p:txBody>
      </p:sp>
      <p:sp>
        <p:nvSpPr>
          <p:cNvPr name="AutoShape 29" id="29"/>
          <p:cNvSpPr/>
          <p:nvPr/>
        </p:nvSpPr>
        <p:spPr>
          <a:xfrm rot="0" flipH="false" flipV="false">
            <a:off x="254000" y="5080000"/>
            <a:ext cx="2476500" cy="1206500"/>
          </a:xfrm>
          <a:prstGeom prst="roundRect">
            <a:avLst>
              <a:gd name="adj" fmla="val 0"/>
            </a:avLst>
          </a:prstGeom>
          <a:solidFill>
            <a:srgbClr val="EFF6F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30" id="30"/>
          <p:cNvPicPr>
            <a:picLocks noChangeAspect="true"/>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rot="0" flipH="false" flipV="false">
            <a:off x="381000" y="5207000"/>
            <a:ext cx="254000" cy="254000"/>
          </a:xfrm>
          <a:prstGeom prst="rect">
            <a:avLst/>
          </a:prstGeom>
        </p:spPr>
      </p:pic>
      <p:sp>
        <p:nvSpPr>
          <p:cNvPr name="AutoShape 31" id="31"/>
          <p:cNvSpPr/>
          <p:nvPr/>
        </p:nvSpPr>
        <p:spPr>
          <a:xfrm rot="0" flipH="false" flipV="false">
            <a:off x="762000" y="5181600"/>
            <a:ext cx="18415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200">
                <a:solidFill>
                  <a:srgbClr val="1D4ED8"/>
                </a:solidFill>
                <a:latin typeface="Noto Sans SC"/>
                <a:ea typeface="Noto Sans SC"/>
                <a:cs typeface="Noto Sans SC"/>
                <a:sym typeface="Noto Sans SC"/>
              </a:rPr>
              <a:t>自动化渠道分发</a:t>
            </a:r>
            <a:endParaRPr lang="en-US" sz="1100"/>
          </a:p>
        </p:txBody>
      </p:sp>
      <p:sp>
        <p:nvSpPr>
          <p:cNvPr name="AutoShape 32" id="32"/>
          <p:cNvSpPr/>
          <p:nvPr/>
        </p:nvSpPr>
        <p:spPr>
          <a:xfrm rot="0" flipH="false" flipV="false">
            <a:off x="381000" y="5588000"/>
            <a:ext cx="22225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000">
                <a:solidFill>
                  <a:srgbClr val="6B7280"/>
                </a:solidFill>
                <a:latin typeface="Noto Sans SC"/>
                <a:ea typeface="Noto Sans SC"/>
                <a:cs typeface="Noto Sans SC"/>
                <a:sym typeface="Noto Sans SC"/>
              </a:rPr>
              <a:t>根据内容属性自动适配官网、APP、小程序等不同终端的展示格式。</a:t>
            </a:r>
            <a:endParaRPr lang="en-US" sz="1100"/>
          </a:p>
        </p:txBody>
      </p:sp>
      <p:sp>
        <p:nvSpPr>
          <p:cNvPr name="AutoShape 33" id="33"/>
          <p:cNvSpPr/>
          <p:nvPr/>
        </p:nvSpPr>
        <p:spPr>
          <a:xfrm rot="0" flipH="false" flipV="false">
            <a:off x="2984500" y="5080000"/>
            <a:ext cx="2476500" cy="1206500"/>
          </a:xfrm>
          <a:prstGeom prst="roundRect">
            <a:avLst>
              <a:gd name="adj" fmla="val 0"/>
            </a:avLst>
          </a:prstGeom>
          <a:solidFill>
            <a:srgbClr val="ECFDF5">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34" id="34"/>
          <p:cNvPicPr>
            <a:picLocks noChangeAspect="true"/>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rot="0" flipH="false" flipV="false">
            <a:off x="3111500" y="5207000"/>
            <a:ext cx="254000" cy="254000"/>
          </a:xfrm>
          <a:prstGeom prst="rect">
            <a:avLst/>
          </a:prstGeom>
        </p:spPr>
      </p:pic>
      <p:sp>
        <p:nvSpPr>
          <p:cNvPr name="AutoShape 35" id="35"/>
          <p:cNvSpPr/>
          <p:nvPr/>
        </p:nvSpPr>
        <p:spPr>
          <a:xfrm rot="0" flipH="false" flipV="false">
            <a:off x="3492500" y="5181600"/>
            <a:ext cx="18415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200">
                <a:solidFill>
                  <a:srgbClr val="047857"/>
                </a:solidFill>
                <a:latin typeface="Noto Sans SC"/>
                <a:ea typeface="Noto Sans SC"/>
                <a:cs typeface="Noto Sans SC"/>
                <a:sym typeface="Noto Sans SC"/>
              </a:rPr>
              <a:t>专家人工介入审核</a:t>
            </a:r>
            <a:endParaRPr lang="en-US" sz="1100"/>
          </a:p>
        </p:txBody>
      </p:sp>
      <p:sp>
        <p:nvSpPr>
          <p:cNvPr name="AutoShape 36" id="36"/>
          <p:cNvSpPr/>
          <p:nvPr/>
        </p:nvSpPr>
        <p:spPr>
          <a:xfrm rot="0" flipH="false" flipV="false">
            <a:off x="3111500" y="5588000"/>
            <a:ext cx="22225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000">
                <a:solidFill>
                  <a:srgbClr val="6B7280"/>
                </a:solidFill>
                <a:latin typeface="Noto Sans SC"/>
                <a:ea typeface="Noto Sans SC"/>
                <a:cs typeface="Noto Sans SC"/>
                <a:sym typeface="Noto Sans SC"/>
              </a:rPr>
              <a:t>关键节点引入人工复核机制，确保信息准确性与合规性达标。</a:t>
            </a:r>
            <a:endParaRPr lang="en-US" sz="1100"/>
          </a:p>
        </p:txBody>
      </p:sp>
      <p:sp>
        <p:nvSpPr>
          <p:cNvPr name="AutoShape 37" id="37"/>
          <p:cNvSpPr/>
          <p:nvPr/>
        </p:nvSpPr>
        <p:spPr>
          <a:xfrm rot="0" flipH="false" flipV="false">
            <a:off x="5867400" y="3238500"/>
            <a:ext cx="711200" cy="762000"/>
          </a:xfrm>
          <a:prstGeom prst="rightArrow">
            <a:avLst/>
          </a:prstGeom>
          <a:solidFill>
            <a:srgbClr val="374151">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8" id="38"/>
          <p:cNvSpPr/>
          <p:nvPr/>
        </p:nvSpPr>
        <p:spPr>
          <a:xfrm rot="0" flipH="false" flipV="false">
            <a:off x="6731000" y="381000"/>
            <a:ext cx="5207000" cy="1270000"/>
          </a:xfrm>
          <a:prstGeom prst="roundRect">
            <a:avLst>
              <a:gd name="adj" fmla="val 0"/>
            </a:avLst>
          </a:prstGeom>
          <a:solidFill>
            <a:srgbClr val="FFFBEB">
              <a:alpha val="100000"/>
            </a:srgbClr>
          </a:solidFill>
          <a:ln w="12700" cmpd="sng" cap="flat">
            <a:solidFill>
              <a:srgbClr val="F59E0B">
                <a:alpha val="50000"/>
              </a:srgbClr>
            </a:solidFill>
            <a:prstDash val="solid"/>
            <a:round/>
          </a:ln>
        </p:spPr>
        <p:txBody>
          <a:bodyPr anchor="ctr" rtlCol="false" vert="horz" wrap="square" lIns="63500" rIns="63500" tIns="63500" bIns="63500"/>
          <a:lstStyle/>
          <a:p>
            <a:pPr algn="ctr">
              <a:defRPr/>
            </a:pPr>
            <a:endParaRPr/>
          </a:p>
        </p:txBody>
      </p:sp>
      <p:pic>
        <p:nvPicPr>
          <p:cNvPr name="Picture 39" id="39"/>
          <p:cNvPicPr>
            <a:picLocks noChangeAspect="true"/>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rot="0" flipH="false" flipV="false">
            <a:off x="6858000" y="571500"/>
            <a:ext cx="406400" cy="406400"/>
          </a:xfrm>
          <a:prstGeom prst="rect">
            <a:avLst/>
          </a:prstGeom>
        </p:spPr>
      </p:pic>
      <p:sp>
        <p:nvSpPr>
          <p:cNvPr name="AutoShape 40" id="40"/>
          <p:cNvSpPr/>
          <p:nvPr/>
        </p:nvSpPr>
        <p:spPr>
          <a:xfrm rot="0" flipH="false" flipV="false">
            <a:off x="7366000" y="508000"/>
            <a:ext cx="2540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B45309"/>
                </a:solidFill>
                <a:latin typeface="Noto Sans SC"/>
                <a:ea typeface="Noto Sans SC"/>
                <a:cs typeface="Noto Sans SC"/>
                <a:sym typeface="Noto Sans SC"/>
              </a:rPr>
              <a:t>核心参数与分类配置池</a:t>
            </a:r>
            <a:endParaRPr lang="en-US" sz="1100"/>
          </a:p>
        </p:txBody>
      </p:sp>
      <p:cxnSp>
        <p:nvCxnSpPr>
          <p:cNvPr name="Connector 41" id="41"/>
          <p:cNvCxnSpPr/>
          <p:nvPr/>
        </p:nvCxnSpPr>
        <p:spPr>
          <a:xfrm rot="-9046" flipH="false" flipV="false">
            <a:off x="6858008" y="1009650"/>
            <a:ext cx="4826000" cy="12700"/>
          </a:xfrm>
          <a:prstGeom prst="straightConnector1">
            <a:avLst/>
          </a:prstGeom>
          <a:solidFill>
            <a:srgbClr val="DEE0E3">
              <a:alpha val="100000"/>
            </a:srgbClr>
          </a:solidFill>
          <a:ln w="12700" cmpd="sng" cap="flat">
            <a:solidFill>
              <a:srgbClr val="F59E0B">
                <a:alpha val="30000"/>
              </a:srgbClr>
            </a:solidFill>
            <a:prstDash val="solid"/>
            <a:round/>
            <a:headEnd type="none" w="med" len="med"/>
            <a:tailEnd type="none" w="med" len="med"/>
          </a:ln>
        </p:spPr>
      </p:cxnSp>
      <p:sp>
        <p:nvSpPr>
          <p:cNvPr name="AutoShape 42" id="42"/>
          <p:cNvSpPr/>
          <p:nvPr/>
        </p:nvSpPr>
        <p:spPr>
          <a:xfrm rot="0" flipH="false" flipV="false">
            <a:off x="6858000" y="1117600"/>
            <a:ext cx="4953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100">
                <a:solidFill>
                  <a:srgbClr val="92400E"/>
                </a:solidFill>
                <a:latin typeface="Noto Sans SC"/>
                <a:ea typeface="Noto Sans SC"/>
                <a:cs typeface="Noto Sans SC"/>
                <a:sym typeface="Noto Sans SC"/>
              </a:rPr>
              <a:t>预设A/B/C三级分类标签体系，关联业务KPI指标库，自动映射权重参数。</a:t>
            </a:r>
            <a:endParaRPr lang="en-US" sz="1100"/>
          </a:p>
        </p:txBody>
      </p:sp>
      <p:sp>
        <p:nvSpPr>
          <p:cNvPr name="AutoShape 43" id="43"/>
          <p:cNvSpPr/>
          <p:nvPr/>
        </p:nvSpPr>
        <p:spPr>
          <a:xfrm rot="0" flipH="false" flipV="false">
            <a:off x="6731000" y="1905000"/>
            <a:ext cx="1651000" cy="1524000"/>
          </a:xfrm>
          <a:prstGeom prst="roundRect">
            <a:avLst>
              <a:gd name="adj" fmla="val 0"/>
            </a:avLst>
          </a:prstGeom>
          <a:solidFill>
            <a:srgbClr val="FFFFFF">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44" id="44"/>
          <p:cNvSpPr/>
          <p:nvPr/>
        </p:nvSpPr>
        <p:spPr>
          <a:xfrm rot="0" flipH="false" flipV="false">
            <a:off x="6731000" y="1905000"/>
            <a:ext cx="1651000" cy="76200"/>
          </a:xfrm>
          <a:prstGeom prst="roundRect">
            <a:avLst>
              <a:gd name="adj" fmla="val 0"/>
            </a:avLst>
          </a:prstGeom>
          <a:solidFill>
            <a:srgbClr val="3B82F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5" id="45"/>
          <p:cNvSpPr/>
          <p:nvPr/>
        </p:nvSpPr>
        <p:spPr>
          <a:xfrm rot="0" flipH="false" flipV="false">
            <a:off x="6858000" y="2159000"/>
            <a:ext cx="1397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1E40AF"/>
                </a:solidFill>
                <a:latin typeface="Poppins"/>
                <a:ea typeface="Poppins"/>
                <a:cs typeface="Poppins"/>
                <a:sym typeface="Poppins"/>
              </a:rPr>
              <a:t>A-XX 策略层</a:t>
            </a:r>
            <a:endParaRPr lang="en-US" sz="1100"/>
          </a:p>
        </p:txBody>
      </p:sp>
      <p:sp>
        <p:nvSpPr>
          <p:cNvPr name="AutoShape 46" id="46"/>
          <p:cNvSpPr/>
          <p:nvPr/>
        </p:nvSpPr>
        <p:spPr>
          <a:xfrm rot="0" flipH="false" flipV="false">
            <a:off x="6858000" y="2667000"/>
            <a:ext cx="1397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000">
                <a:solidFill>
                  <a:srgbClr val="4B5563"/>
                </a:solidFill>
                <a:latin typeface="Noto Sans SC"/>
                <a:ea typeface="Noto Sans SC"/>
                <a:cs typeface="Noto Sans SC"/>
                <a:sym typeface="Noto Sans SC"/>
              </a:rPr>
              <a:t>输入宏观战略目标，定义业务边界与核心价值主张方向。</a:t>
            </a:r>
            <a:endParaRPr lang="en-US" sz="1100"/>
          </a:p>
        </p:txBody>
      </p:sp>
      <p:sp>
        <p:nvSpPr>
          <p:cNvPr name="AutoShape 47" id="47"/>
          <p:cNvSpPr/>
          <p:nvPr/>
        </p:nvSpPr>
        <p:spPr>
          <a:xfrm rot="0" flipH="false" flipV="false">
            <a:off x="8509000" y="1905000"/>
            <a:ext cx="1651000" cy="1524000"/>
          </a:xfrm>
          <a:prstGeom prst="roundRect">
            <a:avLst>
              <a:gd name="adj" fmla="val 0"/>
            </a:avLst>
          </a:prstGeom>
          <a:solidFill>
            <a:srgbClr val="FFFFFF">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48" id="48"/>
          <p:cNvSpPr/>
          <p:nvPr/>
        </p:nvSpPr>
        <p:spPr>
          <a:xfrm rot="0" flipH="false" flipV="false">
            <a:off x="8509000" y="1905000"/>
            <a:ext cx="1651000" cy="76200"/>
          </a:xfrm>
          <a:prstGeom prst="roundRect">
            <a:avLst>
              <a:gd name="adj" fmla="val 0"/>
            </a:avLst>
          </a:prstGeom>
          <a:solidFill>
            <a:srgbClr val="EC4899">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9" id="49"/>
          <p:cNvSpPr/>
          <p:nvPr/>
        </p:nvSpPr>
        <p:spPr>
          <a:xfrm rot="0" flipH="false" flipV="false">
            <a:off x="8636000" y="2159000"/>
            <a:ext cx="1397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BE185D"/>
                </a:solidFill>
                <a:latin typeface="Poppins"/>
                <a:ea typeface="Poppins"/>
                <a:cs typeface="Poppins"/>
                <a:sym typeface="Poppins"/>
              </a:rPr>
              <a:t>B-XX 执行层</a:t>
            </a:r>
            <a:endParaRPr lang="en-US" sz="1100"/>
          </a:p>
        </p:txBody>
      </p:sp>
      <p:sp>
        <p:nvSpPr>
          <p:cNvPr name="AutoShape 50" id="50"/>
          <p:cNvSpPr/>
          <p:nvPr/>
        </p:nvSpPr>
        <p:spPr>
          <a:xfrm rot="0" flipH="false" flipV="false">
            <a:off x="8636000" y="2667000"/>
            <a:ext cx="1397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000">
                <a:solidFill>
                  <a:srgbClr val="4B5563"/>
                </a:solidFill>
                <a:latin typeface="Noto Sans SC"/>
                <a:ea typeface="Noto Sans SC"/>
                <a:cs typeface="Noto Sans SC"/>
                <a:sym typeface="Noto Sans SC"/>
              </a:rPr>
              <a:t>输入具体执行动作，拆解任务节点，配置资源与协作流程。</a:t>
            </a:r>
            <a:endParaRPr lang="en-US" sz="1100"/>
          </a:p>
        </p:txBody>
      </p:sp>
      <p:sp>
        <p:nvSpPr>
          <p:cNvPr name="AutoShape 51" id="51"/>
          <p:cNvSpPr/>
          <p:nvPr/>
        </p:nvSpPr>
        <p:spPr>
          <a:xfrm rot="0" flipH="false" flipV="false">
            <a:off x="10223500" y="1905000"/>
            <a:ext cx="1714500" cy="1524000"/>
          </a:xfrm>
          <a:prstGeom prst="roundRect">
            <a:avLst>
              <a:gd name="adj" fmla="val 0"/>
            </a:avLst>
          </a:prstGeom>
          <a:solidFill>
            <a:srgbClr val="FFFFFF">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52" id="52"/>
          <p:cNvSpPr/>
          <p:nvPr/>
        </p:nvSpPr>
        <p:spPr>
          <a:xfrm rot="0" flipH="false" flipV="false">
            <a:off x="10223500" y="1905000"/>
            <a:ext cx="1714500" cy="76200"/>
          </a:xfrm>
          <a:prstGeom prst="roundRect">
            <a:avLst>
              <a:gd name="adj" fmla="val 0"/>
            </a:avLst>
          </a:prstGeom>
          <a:solidFill>
            <a:srgbClr val="10B981">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3" id="53"/>
          <p:cNvSpPr/>
          <p:nvPr/>
        </p:nvSpPr>
        <p:spPr>
          <a:xfrm rot="0" flipH="false" flipV="false">
            <a:off x="10350500" y="2159000"/>
            <a:ext cx="14605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047857"/>
                </a:solidFill>
                <a:latin typeface="Poppins"/>
                <a:ea typeface="Poppins"/>
                <a:cs typeface="Poppins"/>
                <a:sym typeface="Poppins"/>
              </a:rPr>
              <a:t>C-XX 评估层</a:t>
            </a:r>
            <a:endParaRPr lang="en-US" sz="1100"/>
          </a:p>
        </p:txBody>
      </p:sp>
      <p:sp>
        <p:nvSpPr>
          <p:cNvPr name="AutoShape 54" id="54"/>
          <p:cNvSpPr/>
          <p:nvPr/>
        </p:nvSpPr>
        <p:spPr>
          <a:xfrm rot="0" flipH="false" flipV="false">
            <a:off x="10350500" y="2667000"/>
            <a:ext cx="14605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000">
                <a:solidFill>
                  <a:srgbClr val="4B5563"/>
                </a:solidFill>
                <a:latin typeface="Noto Sans SC"/>
                <a:ea typeface="Noto Sans SC"/>
                <a:cs typeface="Noto Sans SC"/>
                <a:sym typeface="Noto Sans SC"/>
              </a:rPr>
              <a:t>输入考核维度，设定数据指标，建立结果反馈与优化闭环。</a:t>
            </a:r>
            <a:endParaRPr lang="en-US" sz="1100"/>
          </a:p>
        </p:txBody>
      </p:sp>
      <p:cxnSp>
        <p:nvCxnSpPr>
          <p:cNvPr name="Connector 55" id="55"/>
          <p:cNvCxnSpPr/>
          <p:nvPr/>
        </p:nvCxnSpPr>
        <p:spPr>
          <a:xfrm rot="-8384" flipH="false" flipV="false">
            <a:off x="6731008" y="3803650"/>
            <a:ext cx="5207000" cy="12700"/>
          </a:xfrm>
          <a:prstGeom prst="straightConnector1">
            <a:avLst/>
          </a:prstGeom>
          <a:solidFill>
            <a:srgbClr val="DEE0E3">
              <a:alpha val="100000"/>
            </a:srgbClr>
          </a:solidFill>
          <a:ln w="12700" cmpd="sng" cap="flat">
            <a:solidFill>
              <a:srgbClr val="D1D5DB">
                <a:alpha val="100000"/>
              </a:srgbClr>
            </a:solidFill>
            <a:prstDash val="dash"/>
            <a:round/>
            <a:headEnd type="none" w="med" len="med"/>
            <a:tailEnd type="none" w="med" len="med"/>
          </a:ln>
        </p:spPr>
      </p:cxnSp>
      <p:sp>
        <p:nvSpPr>
          <p:cNvPr name="AutoShape 56" id="56"/>
          <p:cNvSpPr/>
          <p:nvPr/>
        </p:nvSpPr>
        <p:spPr>
          <a:xfrm rot="0" flipH="false" flipV="false">
            <a:off x="6731000" y="4064000"/>
            <a:ext cx="1600200" cy="2159000"/>
          </a:xfrm>
          <a:prstGeom prst="roundRect">
            <a:avLst>
              <a:gd name="adj" fmla="val 0"/>
            </a:avLst>
          </a:prstGeom>
          <a:solidFill>
            <a:srgbClr val="EFF6FF">
              <a:alpha val="6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7" id="57"/>
          <p:cNvSpPr/>
          <p:nvPr/>
        </p:nvSpPr>
        <p:spPr>
          <a:xfrm rot="0" flipH="false" flipV="false">
            <a:off x="6731000" y="4064000"/>
            <a:ext cx="1600200" cy="50800"/>
          </a:xfrm>
          <a:prstGeom prst="roundRect">
            <a:avLst>
              <a:gd name="adj" fmla="val 0"/>
            </a:avLst>
          </a:prstGeom>
          <a:solidFill>
            <a:srgbClr val="2563EB">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58" id="58"/>
          <p:cNvPicPr>
            <a:picLocks noChangeAspect="true"/>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rot="0" flipH="false" flipV="false">
            <a:off x="6858000" y="4254500"/>
            <a:ext cx="355600" cy="355600"/>
          </a:xfrm>
          <a:prstGeom prst="rect">
            <a:avLst/>
          </a:prstGeom>
        </p:spPr>
      </p:pic>
      <p:sp>
        <p:nvSpPr>
          <p:cNvPr name="AutoShape 59" id="59"/>
          <p:cNvSpPr/>
          <p:nvPr/>
        </p:nvSpPr>
        <p:spPr>
          <a:xfrm rot="0" flipH="false" flipV="false">
            <a:off x="7302500" y="4254500"/>
            <a:ext cx="9525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1E40AF"/>
                </a:solidFill>
                <a:latin typeface="Noto Sans SC"/>
                <a:ea typeface="Noto Sans SC"/>
                <a:cs typeface="Noto Sans SC"/>
                <a:sym typeface="Noto Sans SC"/>
              </a:rPr>
              <a:t>产出 A</a:t>
            </a:r>
            <a:endParaRPr lang="en-US" sz="1100"/>
          </a:p>
        </p:txBody>
      </p:sp>
      <p:sp>
        <p:nvSpPr>
          <p:cNvPr name="AutoShape 60" id="60"/>
          <p:cNvSpPr/>
          <p:nvPr/>
        </p:nvSpPr>
        <p:spPr>
          <a:xfrm rot="0" flipH="false" flipV="false">
            <a:off x="6858000" y="4826000"/>
            <a:ext cx="1346200" cy="1206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000">
                <a:solidFill>
                  <a:srgbClr val="374151"/>
                </a:solidFill>
                <a:latin typeface="Noto Sans SC"/>
                <a:ea typeface="Noto Sans SC"/>
                <a:cs typeface="Noto Sans SC"/>
                <a:sym typeface="Noto Sans SC"/>
              </a:rPr>
              <a:t>结构化分析报告。整合全量数据，生成可视化图表与关键洞察摘要，支持一键导出。</a:t>
            </a:r>
            <a:endParaRPr lang="en-US" sz="1100"/>
          </a:p>
        </p:txBody>
      </p:sp>
      <p:sp>
        <p:nvSpPr>
          <p:cNvPr name="AutoShape 61" id="61"/>
          <p:cNvSpPr/>
          <p:nvPr/>
        </p:nvSpPr>
        <p:spPr>
          <a:xfrm rot="0" flipH="false" flipV="false">
            <a:off x="8470900" y="4064000"/>
            <a:ext cx="1600200" cy="2159000"/>
          </a:xfrm>
          <a:prstGeom prst="roundRect">
            <a:avLst>
              <a:gd name="adj" fmla="val 0"/>
            </a:avLst>
          </a:prstGeom>
          <a:solidFill>
            <a:srgbClr val="FDF2F8">
              <a:alpha val="6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2" id="62"/>
          <p:cNvSpPr/>
          <p:nvPr/>
        </p:nvSpPr>
        <p:spPr>
          <a:xfrm rot="0" flipH="false" flipV="false">
            <a:off x="8470900" y="4064000"/>
            <a:ext cx="1600200" cy="50800"/>
          </a:xfrm>
          <a:prstGeom prst="roundRect">
            <a:avLst>
              <a:gd name="adj" fmla="val 0"/>
            </a:avLst>
          </a:prstGeom>
          <a:solidFill>
            <a:srgbClr val="DB2777">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63" id="63"/>
          <p:cNvPicPr>
            <a:picLocks noChangeAspect="true"/>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rot="0" flipH="false" flipV="false">
            <a:off x="8597900" y="4254500"/>
            <a:ext cx="355600" cy="355600"/>
          </a:xfrm>
          <a:prstGeom prst="rect">
            <a:avLst/>
          </a:prstGeom>
        </p:spPr>
      </p:pic>
      <p:sp>
        <p:nvSpPr>
          <p:cNvPr name="AutoShape 64" id="64"/>
          <p:cNvSpPr/>
          <p:nvPr/>
        </p:nvSpPr>
        <p:spPr>
          <a:xfrm rot="0" flipH="false" flipV="false">
            <a:off x="9042400" y="4254500"/>
            <a:ext cx="9525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BE185D"/>
                </a:solidFill>
                <a:latin typeface="Noto Sans SC"/>
                <a:ea typeface="Noto Sans SC"/>
                <a:cs typeface="Noto Sans SC"/>
                <a:sym typeface="Noto Sans SC"/>
              </a:rPr>
              <a:t>产出 B</a:t>
            </a:r>
            <a:endParaRPr lang="en-US" sz="1100"/>
          </a:p>
        </p:txBody>
      </p:sp>
      <p:sp>
        <p:nvSpPr>
          <p:cNvPr name="AutoShape 65" id="65"/>
          <p:cNvSpPr/>
          <p:nvPr/>
        </p:nvSpPr>
        <p:spPr>
          <a:xfrm rot="0" flipH="false" flipV="false">
            <a:off x="8597900" y="4826000"/>
            <a:ext cx="1346200" cy="1206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000">
                <a:solidFill>
                  <a:srgbClr val="374151"/>
                </a:solidFill>
                <a:latin typeface="Noto Sans SC"/>
                <a:ea typeface="Noto Sans SC"/>
                <a:cs typeface="Noto Sans SC"/>
                <a:sym typeface="Noto Sans SC"/>
              </a:rPr>
              <a:t>个性化建议清单。基于用户画像与场景痛点，输出可落地的定制化行动指南与话术。</a:t>
            </a:r>
            <a:endParaRPr lang="en-US" sz="1100"/>
          </a:p>
        </p:txBody>
      </p:sp>
      <p:sp>
        <p:nvSpPr>
          <p:cNvPr name="AutoShape 66" id="66"/>
          <p:cNvSpPr/>
          <p:nvPr/>
        </p:nvSpPr>
        <p:spPr>
          <a:xfrm rot="0" flipH="false" flipV="false">
            <a:off x="10083800" y="4064000"/>
            <a:ext cx="1600200" cy="2159000"/>
          </a:xfrm>
          <a:prstGeom prst="roundRect">
            <a:avLst>
              <a:gd name="adj" fmla="val 0"/>
            </a:avLst>
          </a:prstGeom>
          <a:solidFill>
            <a:srgbClr val="ECFDF5">
              <a:alpha val="6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7" id="67"/>
          <p:cNvSpPr/>
          <p:nvPr/>
        </p:nvSpPr>
        <p:spPr>
          <a:xfrm rot="0" flipH="false" flipV="false">
            <a:off x="10083800" y="4064000"/>
            <a:ext cx="1600200" cy="50800"/>
          </a:xfrm>
          <a:prstGeom prst="roundRect">
            <a:avLst>
              <a:gd name="adj" fmla="val 0"/>
            </a:avLst>
          </a:prstGeom>
          <a:solidFill>
            <a:srgbClr val="10B981">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68" id="68"/>
          <p:cNvPicPr>
            <a:picLocks noChangeAspect="true"/>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rot="0" flipH="false" flipV="false">
            <a:off x="10210800" y="4254500"/>
            <a:ext cx="355600" cy="355600"/>
          </a:xfrm>
          <a:prstGeom prst="rect">
            <a:avLst/>
          </a:prstGeom>
        </p:spPr>
      </p:pic>
      <p:sp>
        <p:nvSpPr>
          <p:cNvPr name="AutoShape 69" id="69"/>
          <p:cNvSpPr/>
          <p:nvPr/>
        </p:nvSpPr>
        <p:spPr>
          <a:xfrm rot="0" flipH="false" flipV="false">
            <a:off x="10655300" y="4254500"/>
            <a:ext cx="9525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047857"/>
                </a:solidFill>
                <a:latin typeface="Noto Sans SC"/>
                <a:ea typeface="Noto Sans SC"/>
                <a:cs typeface="Noto Sans SC"/>
                <a:sym typeface="Noto Sans SC"/>
              </a:rPr>
              <a:t>产出 C</a:t>
            </a:r>
            <a:endParaRPr lang="en-US" sz="1100"/>
          </a:p>
        </p:txBody>
      </p:sp>
      <p:sp>
        <p:nvSpPr>
          <p:cNvPr name="AutoShape 70" id="70"/>
          <p:cNvSpPr/>
          <p:nvPr/>
        </p:nvSpPr>
        <p:spPr>
          <a:xfrm rot="0" flipH="false" flipV="false">
            <a:off x="10210800" y="4826000"/>
            <a:ext cx="1346200" cy="1206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000">
                <a:solidFill>
                  <a:srgbClr val="374151"/>
                </a:solidFill>
                <a:latin typeface="Noto Sans SC"/>
                <a:ea typeface="Noto Sans SC"/>
                <a:cs typeface="Noto Sans SC"/>
                <a:sym typeface="Noto Sans SC"/>
              </a:rPr>
              <a:t>全链路执行方案。统筹资源调配，规划时间节点，形成标准化的SOP执行手册。</a:t>
            </a:r>
            <a:endParaRPr lang="en-US" sz="1100"/>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5F5F5">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508000" y="381000"/>
            <a:ext cx="11176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165DFF"/>
                </a:solidFill>
                <a:latin typeface="Noto Sans SC"/>
                <a:ea typeface="Noto Sans SC"/>
                <a:cs typeface="Noto Sans SC"/>
                <a:sym typeface="Noto Sans SC"/>
              </a:rPr>
              <a:t>090.各季度主要工作规划</a:t>
            </a:r>
            <a:endParaRPr lang="en-US" sz="1100"/>
          </a:p>
        </p:txBody>
      </p:sp>
      <p:cxnSp>
        <p:nvCxnSpPr>
          <p:cNvPr name="Connector 3" id="3"/>
          <p:cNvCxnSpPr/>
          <p:nvPr/>
        </p:nvCxnSpPr>
        <p:spPr>
          <a:xfrm rot="-3906" flipH="false" flipV="false">
            <a:off x="508004" y="1136650"/>
            <a:ext cx="11176000" cy="12700"/>
          </a:xfrm>
          <a:prstGeom prst="straightConnector1">
            <a:avLst/>
          </a:prstGeom>
          <a:solidFill>
            <a:srgbClr val="DEE0E3">
              <a:alpha val="100000"/>
            </a:srgbClr>
          </a:solidFill>
          <a:ln w="12700" cmpd="sng" cap="flat">
            <a:solidFill>
              <a:srgbClr val="E0E0E0">
                <a:alpha val="100000"/>
              </a:srgbClr>
            </a:solidFill>
            <a:prstDash val="solid"/>
            <a:round/>
            <a:headEnd type="none" w="med" len="med"/>
            <a:tailEnd type="none" w="med" len="med"/>
          </a:ln>
        </p:spPr>
      </p:cxnSp>
      <p:sp>
        <p:nvSpPr>
          <p:cNvPr name="AutoShape 4" id="4"/>
          <p:cNvSpPr/>
          <p:nvPr/>
        </p:nvSpPr>
        <p:spPr>
          <a:xfrm rot="0" flipH="false" flipV="false">
            <a:off x="508000" y="1524000"/>
            <a:ext cx="2667000" cy="4572000"/>
          </a:xfrm>
          <a:prstGeom prst="roundRect">
            <a:avLst>
              <a:gd name="adj" fmla="val 0"/>
            </a:avLst>
          </a:prstGeom>
          <a:solidFill>
            <a:srgbClr val="165DF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698500" y="1714500"/>
            <a:ext cx="355600" cy="355600"/>
          </a:xfrm>
          <a:prstGeom prst="rect">
            <a:avLst/>
          </a:prstGeom>
        </p:spPr>
      </p:pic>
      <p:sp>
        <p:nvSpPr>
          <p:cNvPr name="AutoShape 6" id="6"/>
          <p:cNvSpPr/>
          <p:nvPr/>
        </p:nvSpPr>
        <p:spPr>
          <a:xfrm rot="0" flipH="false" flipV="false">
            <a:off x="1143000" y="1676400"/>
            <a:ext cx="1905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FFFFFF"/>
                </a:solidFill>
                <a:latin typeface="Poppins"/>
                <a:ea typeface="Poppins"/>
                <a:cs typeface="Poppins"/>
                <a:sym typeface="Poppins"/>
              </a:rPr>
              <a:t>Q1 第一季度</a:t>
            </a:r>
            <a:endParaRPr lang="en-US" sz="1100"/>
          </a:p>
        </p:txBody>
      </p:sp>
      <p:cxnSp>
        <p:nvCxnSpPr>
          <p:cNvPr name="Connector 7" id="7"/>
          <p:cNvCxnSpPr/>
          <p:nvPr/>
        </p:nvCxnSpPr>
        <p:spPr>
          <a:xfrm rot="-19098" flipH="false" flipV="false">
            <a:off x="698518" y="2279650"/>
            <a:ext cx="2286000" cy="12700"/>
          </a:xfrm>
          <a:prstGeom prst="straightConnector1">
            <a:avLst/>
          </a:prstGeom>
          <a:solidFill>
            <a:srgbClr val="DEE0E3">
              <a:alpha val="100000"/>
            </a:srgbClr>
          </a:solidFill>
          <a:ln w="12700" cmpd="sng" cap="flat">
            <a:solidFill>
              <a:srgbClr val="FFFFFF">
                <a:alpha val="30000"/>
              </a:srgbClr>
            </a:solidFill>
            <a:prstDash val="solid"/>
            <a:round/>
            <a:headEnd type="none" w="med" len="med"/>
            <a:tailEnd type="none" w="med" len="med"/>
          </a:ln>
        </p:spPr>
      </p:cxnSp>
      <p:sp>
        <p:nvSpPr>
          <p:cNvPr name="AutoShape 8" id="8"/>
          <p:cNvSpPr/>
          <p:nvPr/>
        </p:nvSpPr>
        <p:spPr>
          <a:xfrm rot="0" flipH="false" flipV="false">
            <a:off x="635000" y="2413000"/>
            <a:ext cx="2413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600">
                <a:solidFill>
                  <a:srgbClr val="FFFFFF"/>
                </a:solidFill>
                <a:latin typeface="Noto Sans SC"/>
                <a:ea typeface="Noto Sans SC"/>
                <a:cs typeface="Noto Sans SC"/>
                <a:sym typeface="Noto Sans SC"/>
              </a:rPr>
              <a:t>核心目标：夯实基础，布局全年战略基调</a:t>
            </a:r>
            <a:endParaRPr lang="en-US" sz="1100"/>
          </a:p>
        </p:txBody>
      </p:sp>
      <p:sp>
        <p:nvSpPr>
          <p:cNvPr name="AutoShape 9" id="9"/>
          <p:cNvSpPr/>
          <p:nvPr/>
        </p:nvSpPr>
        <p:spPr>
          <a:xfrm rot="0" flipH="false" flipV="false">
            <a:off x="635000" y="3429000"/>
            <a:ext cx="2413000" cy="2476500"/>
          </a:xfrm>
          <a:prstGeom prst="roundRect">
            <a:avLst>
              <a:gd name="adj" fmla="val 0"/>
            </a:avLst>
          </a:prstGeom>
          <a:solidFill>
            <a:srgbClr val="FFFFFF">
              <a:alpha val="1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698500" y="3492500"/>
            <a:ext cx="2286000" cy="234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FFFFFF">
                    <a:alpha val="90196"/>
                  </a:srgbClr>
                </a:solidFill>
                <a:latin typeface="Noto Sans SC"/>
                <a:ea typeface="Noto Sans SC"/>
                <a:cs typeface="Noto Sans SC"/>
                <a:sym typeface="Noto Sans SC"/>
              </a:rPr>
              <a:t>制定年度整体营销策略与预算分配，完成品牌视觉系统升级与基础物料焕新；策划“开门红”开年营销战役，锁定年度核心KOL与媒体渠道合作资源，同步优化CRM系统与数据分析看板，为全年业务提供数据支撑。</a:t>
            </a:r>
            <a:endParaRPr lang="en-US" sz="1100"/>
          </a:p>
        </p:txBody>
      </p:sp>
      <p:sp>
        <p:nvSpPr>
          <p:cNvPr name="AutoShape 11" id="11"/>
          <p:cNvSpPr/>
          <p:nvPr/>
        </p:nvSpPr>
        <p:spPr>
          <a:xfrm rot="0" flipH="false" flipV="false">
            <a:off x="3365500" y="1524000"/>
            <a:ext cx="2667000" cy="4572000"/>
          </a:xfrm>
          <a:prstGeom prst="roundRect">
            <a:avLst>
              <a:gd name="adj" fmla="val 0"/>
            </a:avLst>
          </a:prstGeom>
          <a:solidFill>
            <a:srgbClr val="69B1F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3556000" y="1714500"/>
            <a:ext cx="355600" cy="355600"/>
          </a:xfrm>
          <a:prstGeom prst="rect">
            <a:avLst/>
          </a:prstGeom>
        </p:spPr>
      </p:pic>
      <p:sp>
        <p:nvSpPr>
          <p:cNvPr name="AutoShape 13" id="13"/>
          <p:cNvSpPr/>
          <p:nvPr/>
        </p:nvSpPr>
        <p:spPr>
          <a:xfrm rot="0" flipH="false" flipV="false">
            <a:off x="4000500" y="1676400"/>
            <a:ext cx="1905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FFFFFF"/>
                </a:solidFill>
                <a:latin typeface="Poppins"/>
                <a:ea typeface="Poppins"/>
                <a:cs typeface="Poppins"/>
                <a:sym typeface="Poppins"/>
              </a:rPr>
              <a:t>Q2 第二季度</a:t>
            </a:r>
            <a:endParaRPr lang="en-US" sz="1100"/>
          </a:p>
        </p:txBody>
      </p:sp>
      <p:cxnSp>
        <p:nvCxnSpPr>
          <p:cNvPr name="Connector 14" id="14"/>
          <p:cNvCxnSpPr/>
          <p:nvPr/>
        </p:nvCxnSpPr>
        <p:spPr>
          <a:xfrm rot="-19098" flipH="false" flipV="false">
            <a:off x="3556018" y="2279650"/>
            <a:ext cx="2286000" cy="12700"/>
          </a:xfrm>
          <a:prstGeom prst="straightConnector1">
            <a:avLst/>
          </a:prstGeom>
          <a:solidFill>
            <a:srgbClr val="DEE0E3">
              <a:alpha val="100000"/>
            </a:srgbClr>
          </a:solidFill>
          <a:ln w="12700" cmpd="sng" cap="flat">
            <a:solidFill>
              <a:srgbClr val="FFFFFF">
                <a:alpha val="40000"/>
              </a:srgbClr>
            </a:solidFill>
            <a:prstDash val="solid"/>
            <a:round/>
            <a:headEnd type="none" w="med" len="med"/>
            <a:tailEnd type="none" w="med" len="med"/>
          </a:ln>
        </p:spPr>
      </p:cxnSp>
      <p:sp>
        <p:nvSpPr>
          <p:cNvPr name="AutoShape 15" id="15"/>
          <p:cNvSpPr/>
          <p:nvPr/>
        </p:nvSpPr>
        <p:spPr>
          <a:xfrm rot="0" flipH="false" flipV="false">
            <a:off x="3492500" y="2413000"/>
            <a:ext cx="2413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600">
                <a:solidFill>
                  <a:srgbClr val="FFFFFF"/>
                </a:solidFill>
                <a:latin typeface="Noto Sans SC"/>
                <a:ea typeface="Noto Sans SC"/>
                <a:cs typeface="Noto Sans SC"/>
                <a:sym typeface="Noto Sans SC"/>
              </a:rPr>
              <a:t>核心目标：重点突破，引爆流量与转化增长</a:t>
            </a:r>
            <a:endParaRPr lang="en-US" sz="1100"/>
          </a:p>
        </p:txBody>
      </p:sp>
      <p:sp>
        <p:nvSpPr>
          <p:cNvPr name="AutoShape 16" id="16"/>
          <p:cNvSpPr/>
          <p:nvPr/>
        </p:nvSpPr>
        <p:spPr>
          <a:xfrm rot="0" flipH="false" flipV="false">
            <a:off x="3492500" y="3429000"/>
            <a:ext cx="2413000" cy="2476500"/>
          </a:xfrm>
          <a:prstGeom prst="roundRect">
            <a:avLst>
              <a:gd name="adj" fmla="val 0"/>
            </a:avLst>
          </a:prstGeom>
          <a:solidFill>
            <a:srgbClr val="FFFFFF">
              <a:alpha val="1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3556000" y="3492500"/>
            <a:ext cx="2286000" cy="234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FFFFFF">
                    <a:alpha val="94902"/>
                  </a:srgbClr>
                </a:solidFill>
                <a:latin typeface="Noto Sans SC"/>
                <a:ea typeface="Noto Sans SC"/>
                <a:cs typeface="Noto Sans SC"/>
                <a:sym typeface="Noto Sans SC"/>
              </a:rPr>
              <a:t>承接上半年势能打造1-2个现象级营销事件，全力执行618年中大促战役实现线索激增；上线年度核心内容IP（短视频/行业报告/直播），精耕广告再营销与裂变活动，强化市场与销售的线索对齐机制，优化渠道ROI。</a:t>
            </a:r>
            <a:endParaRPr lang="en-US" sz="1100"/>
          </a:p>
        </p:txBody>
      </p:sp>
      <p:sp>
        <p:nvSpPr>
          <p:cNvPr name="AutoShape 18" id="18"/>
          <p:cNvSpPr/>
          <p:nvPr/>
        </p:nvSpPr>
        <p:spPr>
          <a:xfrm rot="0" flipH="false" flipV="false">
            <a:off x="6159500" y="1524000"/>
            <a:ext cx="2667000" cy="4572000"/>
          </a:xfrm>
          <a:prstGeom prst="roundRect">
            <a:avLst>
              <a:gd name="adj" fmla="val 0"/>
            </a:avLst>
          </a:prstGeom>
          <a:solidFill>
            <a:srgbClr val="165DF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9" id="19"/>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6350000" y="1714500"/>
            <a:ext cx="355600" cy="355600"/>
          </a:xfrm>
          <a:prstGeom prst="rect">
            <a:avLst/>
          </a:prstGeom>
        </p:spPr>
      </p:pic>
      <p:sp>
        <p:nvSpPr>
          <p:cNvPr name="AutoShape 20" id="20"/>
          <p:cNvSpPr/>
          <p:nvPr/>
        </p:nvSpPr>
        <p:spPr>
          <a:xfrm rot="0" flipH="false" flipV="false">
            <a:off x="6794500" y="1676400"/>
            <a:ext cx="1905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FFFFFF"/>
                </a:solidFill>
                <a:latin typeface="Poppins"/>
                <a:ea typeface="Poppins"/>
                <a:cs typeface="Poppins"/>
                <a:sym typeface="Poppins"/>
              </a:rPr>
              <a:t>Q3 第三季度</a:t>
            </a:r>
            <a:endParaRPr lang="en-US" sz="1100"/>
          </a:p>
        </p:txBody>
      </p:sp>
      <p:cxnSp>
        <p:nvCxnSpPr>
          <p:cNvPr name="Connector 21" id="21"/>
          <p:cNvCxnSpPr/>
          <p:nvPr/>
        </p:nvCxnSpPr>
        <p:spPr>
          <a:xfrm rot="-19098" flipH="false" flipV="false">
            <a:off x="6350018" y="2279650"/>
            <a:ext cx="2286000" cy="12700"/>
          </a:xfrm>
          <a:prstGeom prst="straightConnector1">
            <a:avLst/>
          </a:prstGeom>
          <a:solidFill>
            <a:srgbClr val="DEE0E3">
              <a:alpha val="100000"/>
            </a:srgbClr>
          </a:solidFill>
          <a:ln w="12700" cmpd="sng" cap="flat">
            <a:solidFill>
              <a:srgbClr val="FFFFFF">
                <a:alpha val="30000"/>
              </a:srgbClr>
            </a:solidFill>
            <a:prstDash val="solid"/>
            <a:round/>
            <a:headEnd type="none" w="med" len="med"/>
            <a:tailEnd type="none" w="med" len="med"/>
          </a:ln>
        </p:spPr>
      </p:cxnSp>
      <p:sp>
        <p:nvSpPr>
          <p:cNvPr name="AutoShape 22" id="22"/>
          <p:cNvSpPr/>
          <p:nvPr/>
        </p:nvSpPr>
        <p:spPr>
          <a:xfrm rot="0" flipH="false" flipV="false">
            <a:off x="6286500" y="2413000"/>
            <a:ext cx="2413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600">
                <a:solidFill>
                  <a:srgbClr val="FFFFFF"/>
                </a:solidFill>
                <a:latin typeface="Noto Sans SC"/>
                <a:ea typeface="Noto Sans SC"/>
                <a:cs typeface="Noto Sans SC"/>
                <a:sym typeface="Noto Sans SC"/>
              </a:rPr>
              <a:t>核心目标：稳定增长，深挖存量用户价值</a:t>
            </a:r>
            <a:endParaRPr lang="en-US" sz="1100"/>
          </a:p>
        </p:txBody>
      </p:sp>
      <p:sp>
        <p:nvSpPr>
          <p:cNvPr name="AutoShape 23" id="23"/>
          <p:cNvSpPr/>
          <p:nvPr/>
        </p:nvSpPr>
        <p:spPr>
          <a:xfrm rot="0" flipH="false" flipV="false">
            <a:off x="6286500" y="3429000"/>
            <a:ext cx="2413000" cy="2476500"/>
          </a:xfrm>
          <a:prstGeom prst="roundRect">
            <a:avLst>
              <a:gd name="adj" fmla="val 0"/>
            </a:avLst>
          </a:prstGeom>
          <a:solidFill>
            <a:srgbClr val="FFFFFF">
              <a:alpha val="1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4" id="24"/>
          <p:cNvSpPr/>
          <p:nvPr/>
        </p:nvSpPr>
        <p:spPr>
          <a:xfrm rot="0" flipH="false" flipV="false">
            <a:off x="6350000" y="3492500"/>
            <a:ext cx="2286000" cy="234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FFFFFF">
                    <a:alpha val="90196"/>
                  </a:srgbClr>
                </a:solidFill>
                <a:latin typeface="Noto Sans SC"/>
                <a:ea typeface="Noto Sans SC"/>
                <a:cs typeface="Noto Sans SC"/>
                <a:sym typeface="Noto Sans SC"/>
              </a:rPr>
              <a:t>聚焦稳量提效与精细化运营，激活活跃用户社群与私域流量池；持续优化产品体验与口碑管理，推进营销自动化工具应用与AB测试迭代；提前预热中秋、国庆节点营销，完成Q4收官方案的战略研讨与资源锁定。</a:t>
            </a:r>
            <a:endParaRPr lang="en-US" sz="1100"/>
          </a:p>
        </p:txBody>
      </p:sp>
      <p:sp>
        <p:nvSpPr>
          <p:cNvPr name="AutoShape 25" id="25"/>
          <p:cNvSpPr/>
          <p:nvPr/>
        </p:nvSpPr>
        <p:spPr>
          <a:xfrm rot="0" flipH="false" flipV="false">
            <a:off x="8953500" y="1524000"/>
            <a:ext cx="2667000" cy="4572000"/>
          </a:xfrm>
          <a:prstGeom prst="roundRect">
            <a:avLst>
              <a:gd name="adj" fmla="val 0"/>
            </a:avLst>
          </a:prstGeom>
          <a:solidFill>
            <a:srgbClr val="69B1F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6" id="26"/>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9144000" y="1714500"/>
            <a:ext cx="355600" cy="355600"/>
          </a:xfrm>
          <a:prstGeom prst="rect">
            <a:avLst/>
          </a:prstGeom>
        </p:spPr>
      </p:pic>
      <p:sp>
        <p:nvSpPr>
          <p:cNvPr name="AutoShape 27" id="27"/>
          <p:cNvSpPr/>
          <p:nvPr/>
        </p:nvSpPr>
        <p:spPr>
          <a:xfrm rot="0" flipH="false" flipV="false">
            <a:off x="9588500" y="1676400"/>
            <a:ext cx="1905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FFFFFF"/>
                </a:solidFill>
                <a:latin typeface="Poppins"/>
                <a:ea typeface="Poppins"/>
                <a:cs typeface="Poppins"/>
                <a:sym typeface="Poppins"/>
              </a:rPr>
              <a:t>Q4 第四季度</a:t>
            </a:r>
            <a:endParaRPr lang="en-US" sz="1100"/>
          </a:p>
        </p:txBody>
      </p:sp>
      <p:cxnSp>
        <p:nvCxnSpPr>
          <p:cNvPr name="Connector 28" id="28"/>
          <p:cNvCxnSpPr/>
          <p:nvPr/>
        </p:nvCxnSpPr>
        <p:spPr>
          <a:xfrm rot="-19098" flipH="false" flipV="false">
            <a:off x="9144018" y="2279650"/>
            <a:ext cx="2286000" cy="12700"/>
          </a:xfrm>
          <a:prstGeom prst="straightConnector1">
            <a:avLst/>
          </a:prstGeom>
          <a:solidFill>
            <a:srgbClr val="DEE0E3">
              <a:alpha val="100000"/>
            </a:srgbClr>
          </a:solidFill>
          <a:ln w="12700" cmpd="sng" cap="flat">
            <a:solidFill>
              <a:srgbClr val="FFFFFF">
                <a:alpha val="40000"/>
              </a:srgbClr>
            </a:solidFill>
            <a:prstDash val="solid"/>
            <a:round/>
            <a:headEnd type="none" w="med" len="med"/>
            <a:tailEnd type="none" w="med" len="med"/>
          </a:ln>
        </p:spPr>
      </p:cxnSp>
      <p:sp>
        <p:nvSpPr>
          <p:cNvPr name="AutoShape 29" id="29"/>
          <p:cNvSpPr/>
          <p:nvPr/>
        </p:nvSpPr>
        <p:spPr>
          <a:xfrm rot="0" flipH="false" flipV="false">
            <a:off x="9080500" y="2413000"/>
            <a:ext cx="2413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600">
                <a:solidFill>
                  <a:srgbClr val="FFFFFF"/>
                </a:solidFill>
                <a:latin typeface="Noto Sans SC"/>
                <a:ea typeface="Noto Sans SC"/>
                <a:cs typeface="Noto Sans SC"/>
                <a:sym typeface="Noto Sans SC"/>
              </a:rPr>
              <a:t>核心目标：全力冲刺，圆满收官并布局未来</a:t>
            </a:r>
            <a:endParaRPr lang="en-US" sz="1100"/>
          </a:p>
        </p:txBody>
      </p:sp>
      <p:sp>
        <p:nvSpPr>
          <p:cNvPr name="AutoShape 30" id="30"/>
          <p:cNvSpPr/>
          <p:nvPr/>
        </p:nvSpPr>
        <p:spPr>
          <a:xfrm rot="0" flipH="false" flipV="false">
            <a:off x="9080500" y="3429000"/>
            <a:ext cx="2413000" cy="2476500"/>
          </a:xfrm>
          <a:prstGeom prst="roundRect">
            <a:avLst>
              <a:gd name="adj" fmla="val 0"/>
            </a:avLst>
          </a:prstGeom>
          <a:solidFill>
            <a:srgbClr val="FFFFFF">
              <a:alpha val="1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1" id="31"/>
          <p:cNvSpPr/>
          <p:nvPr/>
        </p:nvSpPr>
        <p:spPr>
          <a:xfrm rot="0" flipH="false" flipV="false">
            <a:off x="9144000" y="3492500"/>
            <a:ext cx="2286000" cy="234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FFFFFF">
                    <a:alpha val="94902"/>
                  </a:srgbClr>
                </a:solidFill>
                <a:latin typeface="Noto Sans SC"/>
                <a:ea typeface="Noto Sans SC"/>
                <a:cs typeface="Noto Sans SC"/>
                <a:sym typeface="Noto Sans SC"/>
              </a:rPr>
              <a:t>全力执行双11、双12及黑五跨境大促战役；举办年度品牌发布会与VIP客户答谢会沉淀品牌资产；推动老客户续签与增购提升LTV；完成全年业务数据复盘分析，输出SOP标准流程，制定下一年度整体战略规划。</a:t>
            </a:r>
            <a:endParaRPr lang="en-US" sz="1100"/>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5F5F5">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400">
                <a:solidFill>
                  <a:srgbClr val="333333"/>
                </a:solidFill>
                <a:latin typeface="Noto Sans SC"/>
                <a:ea typeface="Noto Sans SC"/>
                <a:cs typeface="Noto Sans SC"/>
                <a:sym typeface="Noto Sans SC"/>
              </a:rPr>
              <a:t>238.内容营销5A模型</a:t>
            </a:r>
            <a:endParaRPr lang="en-US" sz="1100"/>
          </a:p>
        </p:txBody>
      </p:sp>
      <p:sp>
        <p:nvSpPr>
          <p:cNvPr name="AutoShape 3" id="3"/>
          <p:cNvSpPr/>
          <p:nvPr/>
        </p:nvSpPr>
        <p:spPr>
          <a:xfrm rot="0" flipH="false" flipV="false">
            <a:off x="762000" y="1397000"/>
            <a:ext cx="10668000" cy="571500"/>
          </a:xfrm>
          <a:prstGeom prst="roundRect">
            <a:avLst>
              <a:gd name="adj" fmla="val 0"/>
            </a:avLst>
          </a:prstGeom>
          <a:solidFill>
            <a:srgbClr val="284B63">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889000" y="1473200"/>
            <a:ext cx="19050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FFFFFF"/>
                </a:solidFill>
                <a:latin typeface="Noto Sans SC"/>
                <a:ea typeface="Noto Sans SC"/>
                <a:cs typeface="Noto Sans SC"/>
                <a:sym typeface="Noto Sans SC"/>
              </a:rPr>
              <a:t>营销阶段</a:t>
            </a:r>
            <a:endParaRPr lang="en-US" sz="1100"/>
          </a:p>
        </p:txBody>
      </p:sp>
      <p:sp>
        <p:nvSpPr>
          <p:cNvPr name="AutoShape 5" id="5"/>
          <p:cNvSpPr/>
          <p:nvPr/>
        </p:nvSpPr>
        <p:spPr>
          <a:xfrm rot="0" flipH="false" flipV="false">
            <a:off x="2921000" y="1473200"/>
            <a:ext cx="19050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FFFFFF"/>
                </a:solidFill>
                <a:latin typeface="Noto Sans SC"/>
                <a:ea typeface="Noto Sans SC"/>
                <a:cs typeface="Noto Sans SC"/>
                <a:sym typeface="Noto Sans SC"/>
              </a:rPr>
              <a:t>用户行为</a:t>
            </a:r>
            <a:endParaRPr lang="en-US" sz="1100"/>
          </a:p>
        </p:txBody>
      </p:sp>
      <p:sp>
        <p:nvSpPr>
          <p:cNvPr name="AutoShape 6" id="6"/>
          <p:cNvSpPr/>
          <p:nvPr/>
        </p:nvSpPr>
        <p:spPr>
          <a:xfrm rot="0" flipH="false" flipV="false">
            <a:off x="4953000" y="1473200"/>
            <a:ext cx="19050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FFFFFF"/>
                </a:solidFill>
                <a:latin typeface="Noto Sans SC"/>
                <a:ea typeface="Noto Sans SC"/>
                <a:cs typeface="Noto Sans SC"/>
                <a:sym typeface="Noto Sans SC"/>
              </a:rPr>
              <a:t>核心目标</a:t>
            </a:r>
            <a:endParaRPr lang="en-US" sz="1100"/>
          </a:p>
        </p:txBody>
      </p:sp>
      <p:sp>
        <p:nvSpPr>
          <p:cNvPr name="AutoShape 7" id="7"/>
          <p:cNvSpPr/>
          <p:nvPr/>
        </p:nvSpPr>
        <p:spPr>
          <a:xfrm rot="0" flipH="false" flipV="false">
            <a:off x="6858000" y="1473200"/>
            <a:ext cx="26670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FFFFFF"/>
                </a:solidFill>
                <a:latin typeface="Noto Sans SC"/>
                <a:ea typeface="Noto Sans SC"/>
                <a:cs typeface="Noto Sans SC"/>
                <a:sym typeface="Noto Sans SC"/>
              </a:rPr>
              <a:t>内容策略</a:t>
            </a:r>
            <a:endParaRPr lang="en-US" sz="1100"/>
          </a:p>
        </p:txBody>
      </p:sp>
      <p:sp>
        <p:nvSpPr>
          <p:cNvPr name="AutoShape 8" id="8"/>
          <p:cNvSpPr/>
          <p:nvPr/>
        </p:nvSpPr>
        <p:spPr>
          <a:xfrm rot="0" flipH="false" flipV="false">
            <a:off x="9652000" y="1473200"/>
            <a:ext cx="16510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FFFFFF"/>
                </a:solidFill>
                <a:latin typeface="Noto Sans SC"/>
                <a:ea typeface="Noto Sans SC"/>
                <a:cs typeface="Noto Sans SC"/>
                <a:sym typeface="Noto Sans SC"/>
              </a:rPr>
              <a:t>关键指标</a:t>
            </a:r>
            <a:endParaRPr lang="en-US" sz="1100"/>
          </a:p>
        </p:txBody>
      </p:sp>
      <p:sp>
        <p:nvSpPr>
          <p:cNvPr name="AutoShape 9" id="9"/>
          <p:cNvSpPr/>
          <p:nvPr/>
        </p:nvSpPr>
        <p:spPr>
          <a:xfrm rot="0" flipH="false" flipV="false">
            <a:off x="762000" y="2159000"/>
            <a:ext cx="10668000" cy="787400"/>
          </a:xfrm>
          <a:prstGeom prst="roundRect">
            <a:avLst>
              <a:gd name="adj" fmla="val 0"/>
            </a:avLst>
          </a:prstGeom>
          <a:solidFill>
            <a:srgbClr val="FFFFFF">
              <a:alpha val="100000"/>
            </a:srgbClr>
          </a:solidFill>
          <a:ln w="25400" cmpd="sng" cap="flat">
            <a:noFill/>
            <a:prstDash val="solid"/>
            <a:round/>
          </a:ln>
        </p:spPr>
        <p:txBody>
          <a:bodyPr anchor="ctr" rtlCol="false" vert="horz" wrap="square" lIns="63500" rIns="63500" tIns="63500" bIns="63500"/>
          <a:lstStyle/>
          <a:p>
            <a:pPr algn="ctr">
              <a:defRPr/>
            </a:pPr>
            <a:endParaRPr/>
          </a:p>
        </p:txBody>
      </p:sp>
      <p:cxnSp>
        <p:nvCxnSpPr>
          <p:cNvPr name="Connector 10" id="10"/>
          <p:cNvCxnSpPr/>
          <p:nvPr/>
        </p:nvCxnSpPr>
        <p:spPr>
          <a:xfrm rot="-4092" flipH="false" flipV="false">
            <a:off x="762004" y="2940050"/>
            <a:ext cx="10668000" cy="12700"/>
          </a:xfrm>
          <a:prstGeom prst="straightConnector1">
            <a:avLst/>
          </a:prstGeom>
          <a:solidFill>
            <a:srgbClr val="DEE0E3">
              <a:alpha val="100000"/>
            </a:srgbClr>
          </a:solidFill>
          <a:ln w="12700" cmpd="sng" cap="flat">
            <a:solidFill>
              <a:srgbClr val="284B63">
                <a:alpha val="10000"/>
              </a:srgbClr>
            </a:solidFill>
            <a:prstDash val="solid"/>
            <a:round/>
            <a:headEnd type="none" w="med" len="med"/>
            <a:tailEnd type="none" w="med" len="med"/>
          </a:ln>
        </p:spPr>
      </p:cxnSp>
      <p:sp>
        <p:nvSpPr>
          <p:cNvPr name="AutoShape 11" id="11"/>
          <p:cNvSpPr/>
          <p:nvPr/>
        </p:nvSpPr>
        <p:spPr>
          <a:xfrm rot="0" flipH="false" flipV="false">
            <a:off x="889000" y="2209800"/>
            <a:ext cx="1905000" cy="6858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400">
                <a:solidFill>
                  <a:srgbClr val="284B63"/>
                </a:solidFill>
                <a:latin typeface="Noto Sans SC"/>
                <a:ea typeface="Noto Sans SC"/>
                <a:cs typeface="Noto Sans SC"/>
                <a:sym typeface="Noto Sans SC"/>
              </a:rPr>
              <a:t>Aware 了解期</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200">
                <a:solidFill>
                  <a:srgbClr val="666666"/>
                </a:solidFill>
                <a:latin typeface="Noto Sans SC"/>
                <a:ea typeface="Noto Sans SC"/>
                <a:cs typeface="Noto Sans SC"/>
                <a:sym typeface="Noto Sans SC"/>
              </a:rPr>
              <a:t>内容投放期</a:t>
            </a:r>
            <a:endParaRPr lang="en-US" sz="1100"/>
          </a:p>
        </p:txBody>
      </p:sp>
      <p:sp>
        <p:nvSpPr>
          <p:cNvPr name="AutoShape 12" id="12"/>
          <p:cNvSpPr/>
          <p:nvPr/>
        </p:nvSpPr>
        <p:spPr>
          <a:xfrm rot="0" flipH="false" flipV="false">
            <a:off x="2921000" y="2209800"/>
            <a:ext cx="1905000" cy="6858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333333"/>
                </a:solidFill>
                <a:latin typeface="Noto Sans SC"/>
                <a:ea typeface="Noto Sans SC"/>
                <a:cs typeface="Noto Sans SC"/>
                <a:sym typeface="Noto Sans SC"/>
              </a:rPr>
              <a:t>首次被动接触品牌内容，对品牌形成初步印象，无主动探索行为。</a:t>
            </a:r>
            <a:endParaRPr lang="en-US" sz="1100"/>
          </a:p>
        </p:txBody>
      </p:sp>
      <p:sp>
        <p:nvSpPr>
          <p:cNvPr name="AutoShape 13" id="13"/>
          <p:cNvSpPr/>
          <p:nvPr/>
        </p:nvSpPr>
        <p:spPr>
          <a:xfrm rot="0" flipH="false" flipV="false">
            <a:off x="4953000" y="2209800"/>
            <a:ext cx="1905000" cy="6858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400">
                <a:solidFill>
                  <a:srgbClr val="284B63"/>
                </a:solidFill>
                <a:latin typeface="Noto Sans SC"/>
                <a:ea typeface="Noto Sans SC"/>
                <a:cs typeface="Noto Sans SC"/>
                <a:sym typeface="Noto Sans SC"/>
              </a:rPr>
              <a:t>扩大触达面</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200">
                <a:solidFill>
                  <a:srgbClr val="666666"/>
                </a:solidFill>
                <a:latin typeface="Noto Sans SC"/>
                <a:ea typeface="Noto Sans SC"/>
                <a:cs typeface="Noto Sans SC"/>
                <a:sym typeface="Noto Sans SC"/>
              </a:rPr>
              <a:t>最大化品牌曝光，触达潜在客群。</a:t>
            </a:r>
            <a:endParaRPr lang="en-US" sz="1100"/>
          </a:p>
        </p:txBody>
      </p:sp>
      <p:sp>
        <p:nvSpPr>
          <p:cNvPr name="AutoShape 14" id="14"/>
          <p:cNvSpPr/>
          <p:nvPr/>
        </p:nvSpPr>
        <p:spPr>
          <a:xfrm rot="0" flipH="false" flipV="false">
            <a:off x="6858000" y="2209800"/>
            <a:ext cx="2667000" cy="6858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333333"/>
                </a:solidFill>
                <a:latin typeface="Noto Sans SC"/>
                <a:ea typeface="Noto Sans SC"/>
                <a:cs typeface="Noto Sans SC"/>
                <a:sym typeface="Noto Sans SC"/>
              </a:rPr>
              <a:t>全渠道分发品牌内容，结合KOL/KOC进行泛领域种草，实现低成本、广覆盖的品牌露出。</a:t>
            </a:r>
            <a:endParaRPr lang="en-US" sz="1100"/>
          </a:p>
        </p:txBody>
      </p:sp>
      <p:sp>
        <p:nvSpPr>
          <p:cNvPr name="AutoShape 15" id="15"/>
          <p:cNvSpPr/>
          <p:nvPr/>
        </p:nvSpPr>
        <p:spPr>
          <a:xfrm rot="0" flipH="false" flipV="false">
            <a:off x="9652000" y="2209800"/>
            <a:ext cx="1714500" cy="685800"/>
          </a:xfrm>
          <a:prstGeom prst="roundRect">
            <a:avLst>
              <a:gd name="adj" fmla="val 0"/>
            </a:avLst>
          </a:prstGeom>
          <a:solidFill>
            <a:srgbClr val="284B63">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9715500" y="2286000"/>
            <a:ext cx="1587500" cy="5334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300">
                <a:solidFill>
                  <a:srgbClr val="284B63"/>
                </a:solidFill>
                <a:latin typeface="Noto Sans SC"/>
                <a:ea typeface="Noto Sans SC"/>
                <a:cs typeface="Noto Sans SC"/>
                <a:sym typeface="Noto Sans SC"/>
              </a:rPr>
              <a:t>曝光量、点击率</a:t>
            </a:r>
            <a:endParaRPr lang="en-US" sz="1100"/>
          </a:p>
        </p:txBody>
      </p:sp>
      <p:sp>
        <p:nvSpPr>
          <p:cNvPr name="AutoShape 17" id="17"/>
          <p:cNvSpPr/>
          <p:nvPr/>
        </p:nvSpPr>
        <p:spPr>
          <a:xfrm rot="0" flipH="false" flipV="false">
            <a:off x="762000" y="3048000"/>
            <a:ext cx="10668000" cy="787400"/>
          </a:xfrm>
          <a:prstGeom prst="roundRect">
            <a:avLst>
              <a:gd name="adj" fmla="val 0"/>
            </a:avLst>
          </a:prstGeom>
          <a:solidFill>
            <a:srgbClr val="284B63">
              <a:alpha val="4000"/>
            </a:srgbClr>
          </a:solidFill>
          <a:ln w="25400" cmpd="sng" cap="flat">
            <a:noFill/>
            <a:prstDash val="solid"/>
            <a:round/>
          </a:ln>
        </p:spPr>
        <p:txBody>
          <a:bodyPr anchor="ctr" rtlCol="false" vert="horz" wrap="square" lIns="63500" rIns="63500" tIns="63500" bIns="63500"/>
          <a:lstStyle/>
          <a:p>
            <a:pPr algn="ctr">
              <a:defRPr/>
            </a:pPr>
            <a:endParaRPr/>
          </a:p>
        </p:txBody>
      </p:sp>
      <p:cxnSp>
        <p:nvCxnSpPr>
          <p:cNvPr name="Connector 18" id="18"/>
          <p:cNvCxnSpPr/>
          <p:nvPr/>
        </p:nvCxnSpPr>
        <p:spPr>
          <a:xfrm rot="-4092" flipH="false" flipV="false">
            <a:off x="762004" y="3829050"/>
            <a:ext cx="10668000" cy="12700"/>
          </a:xfrm>
          <a:prstGeom prst="straightConnector1">
            <a:avLst/>
          </a:prstGeom>
          <a:solidFill>
            <a:srgbClr val="DEE0E3">
              <a:alpha val="100000"/>
            </a:srgbClr>
          </a:solidFill>
          <a:ln w="12700" cmpd="sng" cap="flat">
            <a:solidFill>
              <a:srgbClr val="284B63">
                <a:alpha val="10000"/>
              </a:srgbClr>
            </a:solidFill>
            <a:prstDash val="solid"/>
            <a:round/>
            <a:headEnd type="none" w="med" len="med"/>
            <a:tailEnd type="none" w="med" len="med"/>
          </a:ln>
        </p:spPr>
      </p:cxnSp>
      <p:sp>
        <p:nvSpPr>
          <p:cNvPr name="AutoShape 19" id="19"/>
          <p:cNvSpPr/>
          <p:nvPr/>
        </p:nvSpPr>
        <p:spPr>
          <a:xfrm rot="0" flipH="false" flipV="false">
            <a:off x="889000" y="3098800"/>
            <a:ext cx="1905000" cy="6858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400">
                <a:solidFill>
                  <a:srgbClr val="284B63"/>
                </a:solidFill>
                <a:latin typeface="Noto Sans SC"/>
                <a:ea typeface="Noto Sans SC"/>
                <a:cs typeface="Noto Sans SC"/>
                <a:sym typeface="Noto Sans SC"/>
              </a:rPr>
              <a:t>Appeal 吸引期</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200">
                <a:solidFill>
                  <a:srgbClr val="666666"/>
                </a:solidFill>
                <a:latin typeface="Noto Sans SC"/>
                <a:ea typeface="Noto Sans SC"/>
                <a:cs typeface="Noto Sans SC"/>
                <a:sym typeface="Noto Sans SC"/>
              </a:rPr>
              <a:t>内容种草期</a:t>
            </a:r>
            <a:endParaRPr lang="en-US" sz="1100"/>
          </a:p>
        </p:txBody>
      </p:sp>
      <p:sp>
        <p:nvSpPr>
          <p:cNvPr name="AutoShape 20" id="20"/>
          <p:cNvSpPr/>
          <p:nvPr/>
        </p:nvSpPr>
        <p:spPr>
          <a:xfrm rot="0" flipH="false" flipV="false">
            <a:off x="2921000" y="3098800"/>
            <a:ext cx="1905000" cy="6858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333333"/>
                </a:solidFill>
                <a:latin typeface="Noto Sans SC"/>
                <a:ea typeface="Noto Sans SC"/>
                <a:cs typeface="Noto Sans SC"/>
                <a:sym typeface="Noto Sans SC"/>
              </a:rPr>
              <a:t>对内容产生兴趣，主动进行点赞、评论、收藏或关注，建立情感联结。</a:t>
            </a:r>
            <a:endParaRPr lang="en-US" sz="1100"/>
          </a:p>
        </p:txBody>
      </p:sp>
      <p:sp>
        <p:nvSpPr>
          <p:cNvPr name="AutoShape 21" id="21"/>
          <p:cNvSpPr/>
          <p:nvPr/>
        </p:nvSpPr>
        <p:spPr>
          <a:xfrm rot="0" flipH="false" flipV="false">
            <a:off x="4953000" y="3098800"/>
            <a:ext cx="1905000" cy="6858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400">
                <a:solidFill>
                  <a:srgbClr val="284B63"/>
                </a:solidFill>
                <a:latin typeface="Noto Sans SC"/>
                <a:ea typeface="Noto Sans SC"/>
                <a:cs typeface="Noto Sans SC"/>
                <a:sym typeface="Noto Sans SC"/>
              </a:rPr>
              <a:t>提升内容吸引力</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200">
                <a:solidFill>
                  <a:srgbClr val="666666"/>
                </a:solidFill>
                <a:latin typeface="Noto Sans SC"/>
                <a:ea typeface="Noto Sans SC"/>
                <a:cs typeface="Noto Sans SC"/>
                <a:sym typeface="Noto Sans SC"/>
              </a:rPr>
              <a:t>激发共鸣，引导用户持续关注。</a:t>
            </a:r>
            <a:endParaRPr lang="en-US" sz="1100"/>
          </a:p>
        </p:txBody>
      </p:sp>
      <p:sp>
        <p:nvSpPr>
          <p:cNvPr name="AutoShape 22" id="22"/>
          <p:cNvSpPr/>
          <p:nvPr/>
        </p:nvSpPr>
        <p:spPr>
          <a:xfrm rot="0" flipH="false" flipV="false">
            <a:off x="6858000" y="3098800"/>
            <a:ext cx="2667000" cy="6858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333333"/>
                </a:solidFill>
                <a:latin typeface="Noto Sans SC"/>
                <a:ea typeface="Noto Sans SC"/>
                <a:cs typeface="Noto Sans SC"/>
                <a:sym typeface="Noto Sans SC"/>
              </a:rPr>
              <a:t>输出深度评测与场景化故事，用真实用户案例传递价值，强化内容的可读性与感染力。</a:t>
            </a:r>
            <a:endParaRPr lang="en-US" sz="1100"/>
          </a:p>
        </p:txBody>
      </p:sp>
      <p:sp>
        <p:nvSpPr>
          <p:cNvPr name="AutoShape 23" id="23"/>
          <p:cNvSpPr/>
          <p:nvPr/>
        </p:nvSpPr>
        <p:spPr>
          <a:xfrm rot="0" flipH="false" flipV="false">
            <a:off x="9652000" y="3098800"/>
            <a:ext cx="1714500" cy="685800"/>
          </a:xfrm>
          <a:prstGeom prst="roundRect">
            <a:avLst>
              <a:gd name="adj" fmla="val 0"/>
            </a:avLst>
          </a:prstGeom>
          <a:solidFill>
            <a:srgbClr val="477EA5">
              <a:alpha val="12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4" id="24"/>
          <p:cNvSpPr/>
          <p:nvPr/>
        </p:nvSpPr>
        <p:spPr>
          <a:xfrm rot="0" flipH="false" flipV="false">
            <a:off x="9715500" y="3175000"/>
            <a:ext cx="1587500" cy="5334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300">
                <a:solidFill>
                  <a:srgbClr val="477EA5"/>
                </a:solidFill>
                <a:latin typeface="Noto Sans SC"/>
                <a:ea typeface="Noto Sans SC"/>
                <a:cs typeface="Noto Sans SC"/>
                <a:sym typeface="Noto Sans SC"/>
              </a:rPr>
              <a:t>互动率、完播率</a:t>
            </a:r>
            <a:endParaRPr lang="en-US" sz="1100"/>
          </a:p>
        </p:txBody>
      </p:sp>
      <p:sp>
        <p:nvSpPr>
          <p:cNvPr name="AutoShape 25" id="25"/>
          <p:cNvSpPr/>
          <p:nvPr/>
        </p:nvSpPr>
        <p:spPr>
          <a:xfrm rot="0" flipH="false" flipV="false">
            <a:off x="762000" y="3937000"/>
            <a:ext cx="10668000" cy="787400"/>
          </a:xfrm>
          <a:prstGeom prst="roundRect">
            <a:avLst>
              <a:gd name="adj" fmla="val 0"/>
            </a:avLst>
          </a:prstGeom>
          <a:solidFill>
            <a:srgbClr val="FFFFFF">
              <a:alpha val="100000"/>
            </a:srgbClr>
          </a:solidFill>
          <a:ln w="25400" cmpd="sng" cap="flat">
            <a:noFill/>
            <a:prstDash val="solid"/>
            <a:round/>
          </a:ln>
        </p:spPr>
        <p:txBody>
          <a:bodyPr anchor="ctr" rtlCol="false" vert="horz" wrap="square" lIns="63500" rIns="63500" tIns="63500" bIns="63500"/>
          <a:lstStyle/>
          <a:p>
            <a:pPr algn="ctr">
              <a:defRPr/>
            </a:pPr>
            <a:endParaRPr/>
          </a:p>
        </p:txBody>
      </p:sp>
      <p:cxnSp>
        <p:nvCxnSpPr>
          <p:cNvPr name="Connector 26" id="26"/>
          <p:cNvCxnSpPr/>
          <p:nvPr/>
        </p:nvCxnSpPr>
        <p:spPr>
          <a:xfrm rot="-4092" flipH="false" flipV="false">
            <a:off x="762004" y="4718050"/>
            <a:ext cx="10668000" cy="12700"/>
          </a:xfrm>
          <a:prstGeom prst="straightConnector1">
            <a:avLst/>
          </a:prstGeom>
          <a:solidFill>
            <a:srgbClr val="DEE0E3">
              <a:alpha val="100000"/>
            </a:srgbClr>
          </a:solidFill>
          <a:ln w="12700" cmpd="sng" cap="flat">
            <a:solidFill>
              <a:srgbClr val="284B63">
                <a:alpha val="10000"/>
              </a:srgbClr>
            </a:solidFill>
            <a:prstDash val="solid"/>
            <a:round/>
            <a:headEnd type="none" w="med" len="med"/>
            <a:tailEnd type="none" w="med" len="med"/>
          </a:ln>
        </p:spPr>
      </p:cxnSp>
      <p:sp>
        <p:nvSpPr>
          <p:cNvPr name="AutoShape 27" id="27"/>
          <p:cNvSpPr/>
          <p:nvPr/>
        </p:nvSpPr>
        <p:spPr>
          <a:xfrm rot="0" flipH="false" flipV="false">
            <a:off x="889000" y="3987800"/>
            <a:ext cx="1905000" cy="6858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400">
                <a:solidFill>
                  <a:srgbClr val="284B63"/>
                </a:solidFill>
                <a:latin typeface="Noto Sans SC"/>
                <a:ea typeface="Noto Sans SC"/>
                <a:cs typeface="Noto Sans SC"/>
                <a:sym typeface="Noto Sans SC"/>
              </a:rPr>
              <a:t>Ask 问询期</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200">
                <a:solidFill>
                  <a:srgbClr val="666666"/>
                </a:solidFill>
                <a:latin typeface="Noto Sans SC"/>
                <a:ea typeface="Noto Sans SC"/>
                <a:cs typeface="Noto Sans SC"/>
                <a:sym typeface="Noto Sans SC"/>
              </a:rPr>
              <a:t>深度决策期</a:t>
            </a:r>
            <a:endParaRPr lang="en-US" sz="1100"/>
          </a:p>
        </p:txBody>
      </p:sp>
      <p:sp>
        <p:nvSpPr>
          <p:cNvPr name="AutoShape 28" id="28"/>
          <p:cNvSpPr/>
          <p:nvPr/>
        </p:nvSpPr>
        <p:spPr>
          <a:xfrm rot="0" flipH="false" flipV="false">
            <a:off x="2921000" y="3987800"/>
            <a:ext cx="1905000" cy="6858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333333"/>
                </a:solidFill>
                <a:latin typeface="Noto Sans SC"/>
                <a:ea typeface="Noto Sans SC"/>
                <a:cs typeface="Noto Sans SC"/>
                <a:sym typeface="Noto Sans SC"/>
              </a:rPr>
              <a:t>主动搜索产品信息、对比竞品、咨询客服或KOL，验证品牌可信度。</a:t>
            </a:r>
            <a:endParaRPr lang="en-US" sz="1100"/>
          </a:p>
        </p:txBody>
      </p:sp>
      <p:sp>
        <p:nvSpPr>
          <p:cNvPr name="AutoShape 29" id="29"/>
          <p:cNvSpPr/>
          <p:nvPr/>
        </p:nvSpPr>
        <p:spPr>
          <a:xfrm rot="0" flipH="false" flipV="false">
            <a:off x="4953000" y="3987800"/>
            <a:ext cx="1905000" cy="6858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400">
                <a:solidFill>
                  <a:srgbClr val="284B63"/>
                </a:solidFill>
                <a:latin typeface="Noto Sans SC"/>
                <a:ea typeface="Noto Sans SC"/>
                <a:cs typeface="Noto Sans SC"/>
                <a:sym typeface="Noto Sans SC"/>
              </a:rPr>
              <a:t>建立信任与解答</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200">
                <a:solidFill>
                  <a:srgbClr val="666666"/>
                </a:solidFill>
                <a:latin typeface="Noto Sans SC"/>
                <a:ea typeface="Noto Sans SC"/>
                <a:cs typeface="Noto Sans SC"/>
                <a:sym typeface="Noto Sans SC"/>
              </a:rPr>
              <a:t>消除疑虑，降低决策门槛。</a:t>
            </a:r>
            <a:endParaRPr lang="en-US" sz="1100"/>
          </a:p>
        </p:txBody>
      </p:sp>
      <p:sp>
        <p:nvSpPr>
          <p:cNvPr name="AutoShape 30" id="30"/>
          <p:cNvSpPr/>
          <p:nvPr/>
        </p:nvSpPr>
        <p:spPr>
          <a:xfrm rot="0" flipH="false" flipV="false">
            <a:off x="6858000" y="3987800"/>
            <a:ext cx="2667000" cy="6858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333333"/>
                </a:solidFill>
                <a:latin typeface="Noto Sans SC"/>
                <a:ea typeface="Noto Sans SC"/>
                <a:cs typeface="Noto Sans SC"/>
                <a:sym typeface="Noto Sans SC"/>
              </a:rPr>
              <a:t>发布白皮书、专家背书内容，完善FAQ库，提供试用/体验机会，用专业内容回应质疑。</a:t>
            </a:r>
            <a:endParaRPr lang="en-US" sz="1100"/>
          </a:p>
        </p:txBody>
      </p:sp>
      <p:sp>
        <p:nvSpPr>
          <p:cNvPr name="AutoShape 31" id="31"/>
          <p:cNvSpPr/>
          <p:nvPr/>
        </p:nvSpPr>
        <p:spPr>
          <a:xfrm rot="0" flipH="false" flipV="false">
            <a:off x="9652000" y="3987800"/>
            <a:ext cx="1714500" cy="685800"/>
          </a:xfrm>
          <a:prstGeom prst="roundRect">
            <a:avLst>
              <a:gd name="adj" fmla="val 0"/>
            </a:avLst>
          </a:prstGeom>
          <a:solidFill>
            <a:srgbClr val="477EA5">
              <a:alpha val="12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2" id="32"/>
          <p:cNvSpPr/>
          <p:nvPr/>
        </p:nvSpPr>
        <p:spPr>
          <a:xfrm rot="0" flipH="false" flipV="false">
            <a:off x="9715500" y="4064000"/>
            <a:ext cx="1587500" cy="5334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300">
                <a:solidFill>
                  <a:srgbClr val="477EA5"/>
                </a:solidFill>
                <a:latin typeface="Noto Sans SC"/>
                <a:ea typeface="Noto Sans SC"/>
                <a:cs typeface="Noto Sans SC"/>
                <a:sym typeface="Noto Sans SC"/>
              </a:rPr>
              <a:t>搜索量、咨询量</a:t>
            </a:r>
            <a:endParaRPr lang="en-US" sz="1100"/>
          </a:p>
        </p:txBody>
      </p:sp>
      <p:sp>
        <p:nvSpPr>
          <p:cNvPr name="AutoShape 33" id="33"/>
          <p:cNvSpPr/>
          <p:nvPr/>
        </p:nvSpPr>
        <p:spPr>
          <a:xfrm rot="0" flipH="false" flipV="false">
            <a:off x="762000" y="4762500"/>
            <a:ext cx="10668000" cy="787400"/>
          </a:xfrm>
          <a:prstGeom prst="roundRect">
            <a:avLst>
              <a:gd name="adj" fmla="val 0"/>
            </a:avLst>
          </a:prstGeom>
          <a:solidFill>
            <a:srgbClr val="284B63">
              <a:alpha val="4000"/>
            </a:srgbClr>
          </a:solidFill>
          <a:ln w="25400" cmpd="sng" cap="flat">
            <a:noFill/>
            <a:prstDash val="solid"/>
            <a:round/>
          </a:ln>
        </p:spPr>
        <p:txBody>
          <a:bodyPr anchor="ctr" rtlCol="false" vert="horz" wrap="square" lIns="63500" rIns="63500" tIns="63500" bIns="63500"/>
          <a:lstStyle/>
          <a:p>
            <a:pPr algn="ctr">
              <a:defRPr/>
            </a:pPr>
            <a:endParaRPr/>
          </a:p>
        </p:txBody>
      </p:sp>
      <p:cxnSp>
        <p:nvCxnSpPr>
          <p:cNvPr name="Connector 34" id="34"/>
          <p:cNvCxnSpPr/>
          <p:nvPr/>
        </p:nvCxnSpPr>
        <p:spPr>
          <a:xfrm rot="-4092" flipH="false" flipV="false">
            <a:off x="762004" y="5543550"/>
            <a:ext cx="10668000" cy="12700"/>
          </a:xfrm>
          <a:prstGeom prst="straightConnector1">
            <a:avLst/>
          </a:prstGeom>
          <a:solidFill>
            <a:srgbClr val="DEE0E3">
              <a:alpha val="100000"/>
            </a:srgbClr>
          </a:solidFill>
          <a:ln w="12700" cmpd="sng" cap="flat">
            <a:solidFill>
              <a:srgbClr val="284B63">
                <a:alpha val="10000"/>
              </a:srgbClr>
            </a:solidFill>
            <a:prstDash val="solid"/>
            <a:round/>
            <a:headEnd type="none" w="med" len="med"/>
            <a:tailEnd type="none" w="med" len="med"/>
          </a:ln>
        </p:spPr>
      </p:cxnSp>
      <p:sp>
        <p:nvSpPr>
          <p:cNvPr name="AutoShape 35" id="35"/>
          <p:cNvSpPr/>
          <p:nvPr/>
        </p:nvSpPr>
        <p:spPr>
          <a:xfrm rot="0" flipH="false" flipV="false">
            <a:off x="889000" y="4813300"/>
            <a:ext cx="1905000" cy="6858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400">
                <a:solidFill>
                  <a:srgbClr val="284B63"/>
                </a:solidFill>
                <a:latin typeface="Noto Sans SC"/>
                <a:ea typeface="Noto Sans SC"/>
                <a:cs typeface="Noto Sans SC"/>
                <a:sym typeface="Noto Sans SC"/>
              </a:rPr>
              <a:t>Act 行动期</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200">
                <a:solidFill>
                  <a:srgbClr val="666666"/>
                </a:solidFill>
                <a:latin typeface="Noto Sans SC"/>
                <a:ea typeface="Noto Sans SC"/>
                <a:cs typeface="Noto Sans SC"/>
                <a:sym typeface="Noto Sans SC"/>
              </a:rPr>
              <a:t>转化实现期</a:t>
            </a:r>
            <a:endParaRPr lang="en-US" sz="1100"/>
          </a:p>
        </p:txBody>
      </p:sp>
      <p:sp>
        <p:nvSpPr>
          <p:cNvPr name="AutoShape 36" id="36"/>
          <p:cNvSpPr/>
          <p:nvPr/>
        </p:nvSpPr>
        <p:spPr>
          <a:xfrm rot="0" flipH="false" flipV="false">
            <a:off x="2921000" y="4813300"/>
            <a:ext cx="1905000" cy="6858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333333"/>
                </a:solidFill>
                <a:latin typeface="Noto Sans SC"/>
                <a:ea typeface="Noto Sans SC"/>
                <a:cs typeface="Noto Sans SC"/>
                <a:sym typeface="Noto Sans SC"/>
              </a:rPr>
              <a:t>完成购买、注册、留资等关键行为，是营销闭环的核心转化节点。</a:t>
            </a:r>
            <a:endParaRPr lang="en-US" sz="1100"/>
          </a:p>
        </p:txBody>
      </p:sp>
      <p:sp>
        <p:nvSpPr>
          <p:cNvPr name="AutoShape 37" id="37"/>
          <p:cNvSpPr/>
          <p:nvPr/>
        </p:nvSpPr>
        <p:spPr>
          <a:xfrm rot="0" flipH="false" flipV="false">
            <a:off x="4953000" y="4813300"/>
            <a:ext cx="1905000" cy="6858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400">
                <a:solidFill>
                  <a:srgbClr val="284B63"/>
                </a:solidFill>
                <a:latin typeface="Noto Sans SC"/>
                <a:ea typeface="Noto Sans SC"/>
                <a:cs typeface="Noto Sans SC"/>
                <a:sym typeface="Noto Sans SC"/>
              </a:rPr>
              <a:t>促成即时转化</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200">
                <a:solidFill>
                  <a:srgbClr val="666666"/>
                </a:solidFill>
                <a:latin typeface="Noto Sans SC"/>
                <a:ea typeface="Noto Sans SC"/>
                <a:cs typeface="Noto Sans SC"/>
                <a:sym typeface="Noto Sans SC"/>
              </a:rPr>
              <a:t>缩短路径，提升成交效率。</a:t>
            </a:r>
            <a:endParaRPr lang="en-US" sz="1100"/>
          </a:p>
        </p:txBody>
      </p:sp>
      <p:sp>
        <p:nvSpPr>
          <p:cNvPr name="AutoShape 38" id="38"/>
          <p:cNvSpPr/>
          <p:nvPr/>
        </p:nvSpPr>
        <p:spPr>
          <a:xfrm rot="0" flipH="false" flipV="false">
            <a:off x="6858000" y="4813300"/>
            <a:ext cx="2667000" cy="6858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333333"/>
                </a:solidFill>
                <a:latin typeface="Noto Sans SC"/>
                <a:ea typeface="Noto Sans SC"/>
                <a:cs typeface="Noto Sans SC"/>
                <a:sym typeface="Noto Sans SC"/>
              </a:rPr>
              <a:t>通过限时优惠、直播秒杀刺激消费，在内容中嵌入无缝购买链接，用销量榜单与好评强化决策。</a:t>
            </a:r>
            <a:endParaRPr lang="en-US" sz="1100"/>
          </a:p>
        </p:txBody>
      </p:sp>
      <p:sp>
        <p:nvSpPr>
          <p:cNvPr name="AutoShape 39" id="39"/>
          <p:cNvSpPr/>
          <p:nvPr/>
        </p:nvSpPr>
        <p:spPr>
          <a:xfrm rot="0" flipH="false" flipV="false">
            <a:off x="9652000" y="4813300"/>
            <a:ext cx="1714500" cy="685800"/>
          </a:xfrm>
          <a:prstGeom prst="roundRect">
            <a:avLst>
              <a:gd name="adj" fmla="val 0"/>
            </a:avLst>
          </a:prstGeom>
          <a:solidFill>
            <a:srgbClr val="284B63">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0" id="40"/>
          <p:cNvSpPr/>
          <p:nvPr/>
        </p:nvSpPr>
        <p:spPr>
          <a:xfrm rot="0" flipH="false" flipV="false">
            <a:off x="9715500" y="4889500"/>
            <a:ext cx="1587500" cy="5334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300">
                <a:solidFill>
                  <a:srgbClr val="284B63"/>
                </a:solidFill>
                <a:latin typeface="Noto Sans SC"/>
                <a:ea typeface="Noto Sans SC"/>
                <a:cs typeface="Noto Sans SC"/>
                <a:sym typeface="Noto Sans SC"/>
              </a:rPr>
              <a:t>转化率、客单价</a:t>
            </a:r>
            <a:endParaRPr lang="en-US" sz="1100"/>
          </a:p>
        </p:txBody>
      </p:sp>
      <p:sp>
        <p:nvSpPr>
          <p:cNvPr name="AutoShape 41" id="41"/>
          <p:cNvSpPr/>
          <p:nvPr/>
        </p:nvSpPr>
        <p:spPr>
          <a:xfrm rot="0" flipH="false" flipV="false">
            <a:off x="762000" y="5651500"/>
            <a:ext cx="10668000" cy="825500"/>
          </a:xfrm>
          <a:prstGeom prst="roundRect">
            <a:avLst>
              <a:gd name="adj" fmla="val 0"/>
            </a:avLst>
          </a:prstGeom>
          <a:solidFill>
            <a:srgbClr val="FFFFF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2" id="42"/>
          <p:cNvSpPr/>
          <p:nvPr/>
        </p:nvSpPr>
        <p:spPr>
          <a:xfrm rot="0" flipH="false" flipV="false">
            <a:off x="889000" y="5702300"/>
            <a:ext cx="1905000" cy="7112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400">
                <a:solidFill>
                  <a:srgbClr val="284B63"/>
                </a:solidFill>
                <a:latin typeface="Noto Sans SC"/>
                <a:ea typeface="Noto Sans SC"/>
                <a:cs typeface="Noto Sans SC"/>
                <a:sym typeface="Noto Sans SC"/>
              </a:rPr>
              <a:t>Advocate 拥护期</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200">
                <a:solidFill>
                  <a:srgbClr val="666666"/>
                </a:solidFill>
                <a:latin typeface="Noto Sans SC"/>
                <a:ea typeface="Noto Sans SC"/>
                <a:cs typeface="Noto Sans SC"/>
                <a:sym typeface="Noto Sans SC"/>
              </a:rPr>
              <a:t>口碑沉淀期</a:t>
            </a:r>
            <a:endParaRPr lang="en-US" sz="1100"/>
          </a:p>
        </p:txBody>
      </p:sp>
      <p:sp>
        <p:nvSpPr>
          <p:cNvPr name="AutoShape 43" id="43"/>
          <p:cNvSpPr/>
          <p:nvPr/>
        </p:nvSpPr>
        <p:spPr>
          <a:xfrm rot="0" flipH="false" flipV="false">
            <a:off x="2921000" y="5702300"/>
            <a:ext cx="1905000" cy="7112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333333"/>
                </a:solidFill>
                <a:latin typeface="Noto Sans SC"/>
                <a:ea typeface="Noto Sans SC"/>
                <a:cs typeface="Noto Sans SC"/>
                <a:sym typeface="Noto Sans SC"/>
              </a:rPr>
              <a:t>成为忠实用户，自发向他人推荐品牌，参与社群互动并贡献内容。</a:t>
            </a:r>
            <a:endParaRPr lang="en-US" sz="1100"/>
          </a:p>
        </p:txBody>
      </p:sp>
      <p:sp>
        <p:nvSpPr>
          <p:cNvPr name="AutoShape 44" id="44"/>
          <p:cNvSpPr/>
          <p:nvPr/>
        </p:nvSpPr>
        <p:spPr>
          <a:xfrm rot="0" flipH="false" flipV="false">
            <a:off x="4953000" y="5702300"/>
            <a:ext cx="1905000" cy="7112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400">
                <a:solidFill>
                  <a:srgbClr val="284B63"/>
                </a:solidFill>
                <a:latin typeface="Noto Sans SC"/>
                <a:ea typeface="Noto Sans SC"/>
                <a:cs typeface="Noto Sans SC"/>
                <a:sym typeface="Noto Sans SC"/>
              </a:rPr>
              <a:t>赢得忠诚与复购</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200">
                <a:solidFill>
                  <a:srgbClr val="666666"/>
                </a:solidFill>
                <a:latin typeface="Noto Sans SC"/>
                <a:ea typeface="Noto Sans SC"/>
                <a:cs typeface="Noto Sans SC"/>
                <a:sym typeface="Noto Sans SC"/>
              </a:rPr>
              <a:t>裂变传播，提升生命周期价值。</a:t>
            </a:r>
            <a:endParaRPr lang="en-US" sz="1100"/>
          </a:p>
        </p:txBody>
      </p:sp>
      <p:sp>
        <p:nvSpPr>
          <p:cNvPr name="AutoShape 45" id="45"/>
          <p:cNvSpPr/>
          <p:nvPr/>
        </p:nvSpPr>
        <p:spPr>
          <a:xfrm rot="0" flipH="false" flipV="false">
            <a:off x="6858000" y="5702300"/>
            <a:ext cx="2667000" cy="7112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333333"/>
                </a:solidFill>
                <a:latin typeface="Noto Sans SC"/>
                <a:ea typeface="Noto Sans SC"/>
                <a:cs typeface="Noto Sans SC"/>
                <a:sym typeface="Noto Sans SC"/>
              </a:rPr>
              <a:t>搭建会员积分体系激励分享，鼓励UGC内容创作，通过个性化推荐持续激活用户价值。</a:t>
            </a:r>
            <a:endParaRPr lang="en-US" sz="1100"/>
          </a:p>
        </p:txBody>
      </p:sp>
      <p:sp>
        <p:nvSpPr>
          <p:cNvPr name="AutoShape 46" id="46"/>
          <p:cNvSpPr/>
          <p:nvPr/>
        </p:nvSpPr>
        <p:spPr>
          <a:xfrm rot="0" flipH="false" flipV="false">
            <a:off x="9652000" y="5702300"/>
            <a:ext cx="1714500" cy="711200"/>
          </a:xfrm>
          <a:prstGeom prst="roundRect">
            <a:avLst>
              <a:gd name="adj" fmla="val 0"/>
            </a:avLst>
          </a:prstGeom>
          <a:solidFill>
            <a:srgbClr val="284B63">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7" id="47"/>
          <p:cNvSpPr/>
          <p:nvPr/>
        </p:nvSpPr>
        <p:spPr>
          <a:xfrm rot="0" flipH="false" flipV="false">
            <a:off x="9715500" y="5778500"/>
            <a:ext cx="1587500" cy="5588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300">
                <a:solidFill>
                  <a:srgbClr val="284B63"/>
                </a:solidFill>
                <a:latin typeface="Noto Sans SC"/>
                <a:ea typeface="Noto Sans SC"/>
                <a:cs typeface="Noto Sans SC"/>
                <a:sym typeface="Noto Sans SC"/>
              </a:rPr>
              <a:t>净推荐值、复购率</a:t>
            </a:r>
            <a:endParaRPr lang="en-US" sz="1100"/>
          </a:p>
        </p:txBody>
      </p:sp>
      <p:sp>
        <p:nvSpPr>
          <p:cNvPr name="AutoShape 48" id="48"/>
          <p:cNvSpPr/>
          <p:nvPr/>
        </p:nvSpPr>
        <p:spPr>
          <a:xfrm rot="0" flipH="false" flipV="false">
            <a:off x="10414000" y="6540500"/>
            <a:ext cx="1524000" cy="254000"/>
          </a:xfrm>
          <a:prstGeom prst="rect">
            <a:avLst/>
          </a:prstGeom>
          <a:noFill/>
          <a:ln w="12700" cmpd="sng" cap="flat">
            <a:noFill/>
            <a:prstDash val="solid"/>
            <a:round/>
          </a:ln>
        </p:spPr>
        <p:txBody>
          <a:bodyPr anchor="ctr" rtlCol="false" anchorCtr="false" vert="horz" wrap="square" lIns="0" rIns="0" tIns="0" bIns="0"/>
          <a:lstStyle/>
          <a:p>
            <a:pPr algn="r" marL="0" indent="0">
              <a:lnSpc>
                <a:spcPct val="125000"/>
              </a:lnSpc>
              <a:defRPr/>
            </a:pPr>
            <a:r>
              <a:rPr lang="en-US" b="false" i="false" strike="noStrike" u="none" sz="1100">
                <a:solidFill>
                  <a:srgbClr val="969696"/>
                </a:solidFill>
                <a:latin typeface="Noto Sans SC"/>
                <a:ea typeface="Noto Sans SC"/>
                <a:cs typeface="Noto Sans SC"/>
                <a:sym typeface="Noto Sans SC"/>
              </a:rPr>
              <a:t>医者PPT | 专业模板</a:t>
            </a:r>
            <a:endParaRPr lang="en-US" sz="1100"/>
          </a:p>
        </p:txBody>
      </p:sp>
      <p:pic>
        <p:nvPicPr>
          <p:cNvPr name="Picture 49" id="49"/>
          <p:cNvPicPr>
            <a:picLocks noChangeAspect="true"/>
          </p:cNvPicPr>
          <p:nvPr/>
        </p:nvPicPr>
        <p:blipFill>
          <a:blip r:embed="rId3"/>
          <a:stretch>
            <a:fillRect/>
          </a:stretch>
        </p:blipFill>
        <p:spPr>
          <a:xfrm>
            <a:off x="10668000" y="6190112"/>
            <a:ext cx="1524000" cy="667888"/>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{"Label":"1","ContentProducer":"001191110102MACQD9K64010000","ProduceID":"7656115094644575210","ReservedCode1":"","ContentPropagator":"","PropagateID":"","ReservedCode2":""}</vt:lpwstr>
  </property>
</Properties>
</file>