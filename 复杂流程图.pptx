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大家好，这张图展示了一个复杂的业务或数据处理流程。我们可以将其分为上下两个主要部分。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在上半部分，我们看到流程的输入端。左侧是原始内容输入区，中间是主题选择区，右侧是更具体的主题输入区。这些输入经过初步处理后，汇集到右侧的队列中。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然后，通过一个红色箭头，流程进入下半部分。这里展示了具体的处理和输出环节。左侧是核心的处理流程，中间的双向箭头表示可能存在的反馈或交互环节，右侧则可能涉及到人的参与。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最终，流程的结果体现在底部的五个输出模块中，每个模块都展示了一个具体的成果及其可视化图表。整个流程图清晰地描绘了从输入、处理到最终产出的完整路径。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notesSlides/notesSlide1.xml" Type="http://schemas.openxmlformats.org/officeDocument/2006/relationships/notesSlide"/><Relationship Id="rId29" Target="../media/image2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38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381000"/>
            <a:ext cx="3556000" cy="4572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572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多源内容输入池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016000"/>
            <a:ext cx="1587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117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1079500"/>
            <a:ext cx="107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原始文本/文档导入，结构化数据清洗预处理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1016000"/>
            <a:ext cx="15875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349500" y="1117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730500" y="1079500"/>
            <a:ext cx="107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外部接口数据接入，非结构化媒体素材归档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1905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1968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输入规范：统一格式转换 / 关键信息提取 / 冗余数据过滤，确保数据源一致性。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38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91000" y="381000"/>
            <a:ext cx="3556000" cy="4572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4572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核心主题聚类与拆解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18000" y="1016000"/>
            <a:ext cx="10922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46600" y="1143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343400" y="1778000"/>
            <a:ext cx="1041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业务洞察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461000" y="1016000"/>
            <a:ext cx="10922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689600" y="1143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486400" y="1778000"/>
            <a:ext cx="1041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趋势分析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78600" y="1016000"/>
            <a:ext cx="10922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807200" y="1143000"/>
            <a:ext cx="508000" cy="508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604000" y="1778000"/>
            <a:ext cx="1041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风险预警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381000"/>
            <a:ext cx="368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01000" y="381000"/>
            <a:ext cx="3683000" cy="4572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4572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智能任务分发与排队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28000" y="1016000"/>
            <a:ext cx="1714500" cy="82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91500" y="1079500"/>
            <a:ext cx="1587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 A 优先级：高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资源调度中，预计耗时 15min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906000" y="1016000"/>
            <a:ext cx="1714500" cy="82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969500" y="1079500"/>
            <a:ext cx="1587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主题 B 优先级：中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等待依赖项加载完成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28000" y="2032000"/>
            <a:ext cx="3492500" cy="63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255000" y="21590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636000" y="2095500"/>
            <a:ext cx="285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待处理队列：主题 C / 主题 D / 主题 E ... 系统自动分配算力资源进行并行处理。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2406483" flipH="false" flipV="false">
            <a:off x="5758538" y="3263939"/>
            <a:ext cx="67501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DC262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381000" y="3810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381000" y="3810000"/>
            <a:ext cx="3556000" cy="355600"/>
          </a:xfrm>
          <a:prstGeom prst="roundRect">
            <a:avLst>
              <a:gd name="adj" fmla="val 0"/>
            </a:avLst>
          </a:prstGeom>
          <a:solidFill>
            <a:srgbClr val="4B556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08000" y="38608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自动化处理流水线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08000" y="4445000"/>
            <a:ext cx="1016000" cy="571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33400" y="4508500"/>
            <a:ext cx="965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去噪/补全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rot="-228844" flipH="false" flipV="false">
            <a:off x="1587711" y="4718050"/>
            <a:ext cx="19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1841500" y="4445000"/>
            <a:ext cx="1016000" cy="571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866900" y="4508500"/>
            <a:ext cx="965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算法运算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建模/分析</a:t>
            </a:r>
            <a:endParaRPr lang="en-US" sz="1100"/>
          </a:p>
        </p:txBody>
      </p:sp>
      <p:cxnSp>
        <p:nvCxnSpPr>
          <p:cNvPr name="Connector 44" id="44"/>
          <p:cNvCxnSpPr/>
          <p:nvPr/>
        </p:nvCxnSpPr>
        <p:spPr>
          <a:xfrm rot="-228844" flipH="false" flipV="false">
            <a:off x="2921211" y="4718050"/>
            <a:ext cx="19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name="AutoShape 45" id="45"/>
          <p:cNvSpPr/>
          <p:nvPr/>
        </p:nvSpPr>
        <p:spPr>
          <a:xfrm rot="0" flipH="false" flipV="false">
            <a:off x="3175000" y="4445000"/>
            <a:ext cx="762000" cy="5715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3200400" y="4572000"/>
            <a:ext cx="7112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4191000" y="3810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4191000" y="3810000"/>
            <a:ext cx="3556000" cy="355600"/>
          </a:xfrm>
          <a:prstGeom prst="roundRect">
            <a:avLst>
              <a:gd name="adj" fmla="val 0"/>
            </a:avLst>
          </a:prstGeom>
          <a:solidFill>
            <a:srgbClr val="DC262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4318000" y="38608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05 人工干预与闭环反馈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4381500" y="4445000"/>
            <a:ext cx="1397000" cy="635000"/>
          </a:xfrm>
          <a:prstGeom prst="roundRect">
            <a:avLst>
              <a:gd name="adj" fmla="val 0"/>
            </a:avLst>
          </a:prstGeom>
          <a:solidFill>
            <a:srgbClr val="FEE2E2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4445000" y="45085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策略调整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人工审核关键阈值与参数配置</a:t>
            </a:r>
            <a:endParaRPr lang="en-US" sz="1100"/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5842000" y="4508500"/>
            <a:ext cx="406400" cy="406400"/>
          </a:xfrm>
          <a:prstGeom prst="rect">
            <a:avLst/>
          </a:prstGeom>
        </p:spPr>
      </p:pic>
      <p:sp>
        <p:nvSpPr>
          <p:cNvPr name="AutoShape 53" id="53"/>
          <p:cNvSpPr/>
          <p:nvPr/>
        </p:nvSpPr>
        <p:spPr>
          <a:xfrm rot="0" flipH="false" flipV="false">
            <a:off x="6350000" y="4445000"/>
            <a:ext cx="1270000" cy="635000"/>
          </a:xfrm>
          <a:prstGeom prst="roundRect">
            <a:avLst>
              <a:gd name="adj" fmla="val 0"/>
            </a:avLst>
          </a:prstGeom>
          <a:solidFill>
            <a:srgbClr val="FEE2E2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413500" y="4508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结果校验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数据回传优化模型精度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8001000" y="3810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8001000" y="3810000"/>
            <a:ext cx="3683000" cy="3556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8128000" y="3860800"/>
            <a:ext cx="342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06 专家介入与决策执行</a:t>
            </a:r>
            <a:endParaRPr lang="en-US" sz="1100"/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91500" y="4445000"/>
            <a:ext cx="508000" cy="508000"/>
          </a:xfrm>
          <a:prstGeom prst="rect">
            <a:avLst/>
          </a:prstGeom>
        </p:spPr>
      </p:pic>
      <p:sp>
        <p:nvSpPr>
          <p:cNvPr name="AutoShape 59" id="59"/>
          <p:cNvSpPr/>
          <p:nvPr/>
        </p:nvSpPr>
        <p:spPr>
          <a:xfrm rot="0" flipH="false" flipV="false">
            <a:off x="8890000" y="4381500"/>
            <a:ext cx="26670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8953500" y="4445000"/>
            <a:ext cx="254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角色：产品/运营/决策者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基于数据洞察制定行动方案，推动业务落地执行。</a:t>
            </a:r>
            <a:endParaRPr lang="en-US" sz="1100"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381000" y="5461000"/>
            <a:ext cx="22098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381000" y="5461000"/>
            <a:ext cx="22098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508000" y="5588000"/>
            <a:ext cx="406400" cy="406400"/>
          </a:xfrm>
          <a:prstGeom prst="rect">
            <a:avLst/>
          </a:prstGeom>
        </p:spPr>
      </p:pic>
      <p:sp>
        <p:nvSpPr>
          <p:cNvPr name="AutoShape 64" id="64"/>
          <p:cNvSpPr/>
          <p:nvPr/>
        </p:nvSpPr>
        <p:spPr>
          <a:xfrm rot="0" flipH="false" flipV="false">
            <a:off x="1016000" y="5588000"/>
            <a:ext cx="146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可视化看板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实时监控关键指标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 rot="0" flipH="false" flipV="false">
            <a:off x="381000" y="6223000"/>
            <a:ext cx="22098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6" id="66"/>
          <p:cNvSpPr/>
          <p:nvPr/>
        </p:nvSpPr>
        <p:spPr>
          <a:xfrm rot="0" flipH="false" flipV="false">
            <a:off x="444500" y="6299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成果1：全域数据驾驶舱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 rot="0" flipH="false" flipV="false">
            <a:off x="2768600" y="5461000"/>
            <a:ext cx="22098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8" id="68"/>
          <p:cNvSpPr/>
          <p:nvPr/>
        </p:nvSpPr>
        <p:spPr>
          <a:xfrm rot="0" flipH="false" flipV="false">
            <a:off x="2768600" y="5461000"/>
            <a:ext cx="22098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9" id="6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2895600" y="5588000"/>
            <a:ext cx="406400" cy="406400"/>
          </a:xfrm>
          <a:prstGeom prst="rect">
            <a:avLst/>
          </a:prstGeom>
        </p:spPr>
      </p:pic>
      <p:sp>
        <p:nvSpPr>
          <p:cNvPr name="AutoShape 70" id="70"/>
          <p:cNvSpPr/>
          <p:nvPr/>
        </p:nvSpPr>
        <p:spPr>
          <a:xfrm rot="0" flipH="false" flipV="false">
            <a:off x="3403600" y="5588000"/>
            <a:ext cx="146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分析报告集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多维度深度洞察文档</a:t>
            </a:r>
            <a:endParaRPr lang="en-US" sz="1100"/>
          </a:p>
        </p:txBody>
      </p:sp>
      <p:sp>
        <p:nvSpPr>
          <p:cNvPr name="AutoShape 71" id="71"/>
          <p:cNvSpPr/>
          <p:nvPr/>
        </p:nvSpPr>
        <p:spPr>
          <a:xfrm rot="0" flipH="false" flipV="false">
            <a:off x="2768600" y="6223000"/>
            <a:ext cx="22098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2" id="72"/>
          <p:cNvSpPr/>
          <p:nvPr/>
        </p:nvSpPr>
        <p:spPr>
          <a:xfrm rot="0" flipH="false" flipV="false">
            <a:off x="2832100" y="6299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成果2：业务策略白皮书</a:t>
            </a:r>
            <a:endParaRPr lang="en-US" sz="1100"/>
          </a:p>
        </p:txBody>
      </p:sp>
      <p:sp>
        <p:nvSpPr>
          <p:cNvPr name="AutoShape 73" id="73"/>
          <p:cNvSpPr/>
          <p:nvPr/>
        </p:nvSpPr>
        <p:spPr>
          <a:xfrm rot="0" flipH="false" flipV="false">
            <a:off x="5156200" y="5461000"/>
            <a:ext cx="22098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4" id="74"/>
          <p:cNvSpPr/>
          <p:nvPr/>
        </p:nvSpPr>
        <p:spPr>
          <a:xfrm rot="0" flipH="false" flipV="false">
            <a:off x="5156200" y="5461000"/>
            <a:ext cx="22098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5" id="7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5283200" y="5588000"/>
            <a:ext cx="406400" cy="406400"/>
          </a:xfrm>
          <a:prstGeom prst="rect">
            <a:avLst/>
          </a:prstGeom>
        </p:spPr>
      </p:pic>
      <p:sp>
        <p:nvSpPr>
          <p:cNvPr name="AutoShape 76" id="76"/>
          <p:cNvSpPr/>
          <p:nvPr/>
        </p:nvSpPr>
        <p:spPr>
          <a:xfrm rot="0" flipH="false" flipV="false">
            <a:off x="5791200" y="5588000"/>
            <a:ext cx="146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智能模型库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沉淀可复用算法资产</a:t>
            </a:r>
            <a:endParaRPr lang="en-US" sz="1100"/>
          </a:p>
        </p:txBody>
      </p:sp>
      <p:sp>
        <p:nvSpPr>
          <p:cNvPr name="AutoShape 77" id="77"/>
          <p:cNvSpPr/>
          <p:nvPr/>
        </p:nvSpPr>
        <p:spPr>
          <a:xfrm rot="0" flipH="false" flipV="false">
            <a:off x="5156200" y="6223000"/>
            <a:ext cx="22098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8" id="78"/>
          <p:cNvSpPr/>
          <p:nvPr/>
        </p:nvSpPr>
        <p:spPr>
          <a:xfrm rot="0" flipH="false" flipV="false">
            <a:off x="5219700" y="6299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成果3：自动化算法工具箱</a:t>
            </a:r>
            <a:endParaRPr lang="en-US" sz="1100"/>
          </a:p>
        </p:txBody>
      </p:sp>
      <p:sp>
        <p:nvSpPr>
          <p:cNvPr name="AutoShape 79" id="79"/>
          <p:cNvSpPr/>
          <p:nvPr/>
        </p:nvSpPr>
        <p:spPr>
          <a:xfrm rot="0" flipH="false" flipV="false">
            <a:off x="7467600" y="5461000"/>
            <a:ext cx="22098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0" id="80"/>
          <p:cNvSpPr/>
          <p:nvPr/>
        </p:nvSpPr>
        <p:spPr>
          <a:xfrm rot="0" flipH="false" flipV="false">
            <a:off x="7467600" y="5461000"/>
            <a:ext cx="22098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1" id="81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 flipH="false" flipV="false">
            <a:off x="7594600" y="5588000"/>
            <a:ext cx="406400" cy="406400"/>
          </a:xfrm>
          <a:prstGeom prst="rect">
            <a:avLst/>
          </a:prstGeom>
        </p:spPr>
      </p:pic>
      <p:sp>
        <p:nvSpPr>
          <p:cNvPr name="AutoShape 82" id="82"/>
          <p:cNvSpPr/>
          <p:nvPr/>
        </p:nvSpPr>
        <p:spPr>
          <a:xfrm rot="0" flipH="false" flipV="false">
            <a:off x="8102600" y="5588000"/>
            <a:ext cx="146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增长归因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量化业务转化与ROI</a:t>
            </a:r>
            <a:endParaRPr lang="en-US" sz="1100"/>
          </a:p>
        </p:txBody>
      </p:sp>
      <p:sp>
        <p:nvSpPr>
          <p:cNvPr name="AutoShape 83" id="83"/>
          <p:cNvSpPr/>
          <p:nvPr/>
        </p:nvSpPr>
        <p:spPr>
          <a:xfrm rot="0" flipH="false" flipV="false">
            <a:off x="7467600" y="6223000"/>
            <a:ext cx="22098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4" id="84"/>
          <p:cNvSpPr/>
          <p:nvPr/>
        </p:nvSpPr>
        <p:spPr>
          <a:xfrm rot="0" flipH="false" flipV="false">
            <a:off x="7531100" y="6299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成果4：投入产出效益分析</a:t>
            </a:r>
            <a:endParaRPr lang="en-US" sz="1100"/>
          </a:p>
        </p:txBody>
      </p:sp>
      <p:sp>
        <p:nvSpPr>
          <p:cNvPr name="AutoShape 85" id="85"/>
          <p:cNvSpPr/>
          <p:nvPr/>
        </p:nvSpPr>
        <p:spPr>
          <a:xfrm rot="0" flipH="false" flipV="false">
            <a:off x="9728200" y="5461000"/>
            <a:ext cx="22098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6" id="86"/>
          <p:cNvSpPr/>
          <p:nvPr/>
        </p:nvSpPr>
        <p:spPr>
          <a:xfrm rot="0" flipH="false" flipV="false">
            <a:off x="9728200" y="5461000"/>
            <a:ext cx="22098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7" id="8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 flipH="false" flipV="false">
            <a:off x="9855200" y="5588000"/>
            <a:ext cx="406400" cy="406400"/>
          </a:xfrm>
          <a:prstGeom prst="rect">
            <a:avLst/>
          </a:prstGeom>
        </p:spPr>
      </p:pic>
      <p:sp>
        <p:nvSpPr>
          <p:cNvPr name="AutoShape 88" id="88"/>
          <p:cNvSpPr/>
          <p:nvPr/>
        </p:nvSpPr>
        <p:spPr>
          <a:xfrm rot="0" flipH="false" flipV="false">
            <a:off x="10363200" y="5588000"/>
            <a:ext cx="146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建立全链路风控体系</a:t>
            </a:r>
            <a:endParaRPr lang="en-US" sz="1100"/>
          </a:p>
        </p:txBody>
      </p:sp>
      <p:sp>
        <p:nvSpPr>
          <p:cNvPr name="AutoShape 89" id="89"/>
          <p:cNvSpPr/>
          <p:nvPr/>
        </p:nvSpPr>
        <p:spPr>
          <a:xfrm rot="0" flipH="false" flipV="false">
            <a:off x="9728200" y="6223000"/>
            <a:ext cx="22098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0" id="90"/>
          <p:cNvSpPr/>
          <p:nvPr/>
        </p:nvSpPr>
        <p:spPr>
          <a:xfrm rot="0" flipH="false" flipV="false">
            <a:off x="9791700" y="6299200"/>
            <a:ext cx="208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成果5：风险预警与响应机制</a:t>
            </a:r>
            <a:endParaRPr lang="en-US" sz="1100"/>
          </a:p>
        </p:txBody>
      </p:sp>
      <p:pic>
        <p:nvPicPr>
          <p:cNvPr name="Picture 91" id="9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{"Label":"1","ContentProducer":"001191110102MACQD9K64010000","ProduceID":"7656112839417433071","ReservedCode1":"","ContentPropagator":"","PropagateID":"","ReservedCode2":""}</vt:lpwstr>
  </property>
</Properties>
</file>